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00" b="0" i="0">
                <a:solidFill>
                  <a:srgbClr val="21212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400" b="0" i="0">
                <a:solidFill>
                  <a:srgbClr val="21212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400" b="0" i="0">
                <a:solidFill>
                  <a:srgbClr val="21212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7886700"/>
            <a:ext cx="17462500" cy="482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00" y="7708900"/>
            <a:ext cx="17462500" cy="152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00" y="4394200"/>
            <a:ext cx="17462500" cy="22225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00" y="1574800"/>
            <a:ext cx="17462500" cy="7747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2700" y="7454900"/>
            <a:ext cx="17462500" cy="114300"/>
          </a:xfrm>
          <a:custGeom>
            <a:avLst/>
            <a:gdLst/>
            <a:ahLst/>
            <a:cxnLst/>
            <a:rect l="l" t="t" r="r" b="b"/>
            <a:pathLst>
              <a:path w="17462500" h="114300">
                <a:moveTo>
                  <a:pt x="0" y="0"/>
                </a:moveTo>
                <a:lnTo>
                  <a:pt x="17462500" y="0"/>
                </a:lnTo>
                <a:lnTo>
                  <a:pt x="174625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1F1F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2700" y="2806700"/>
            <a:ext cx="17449800" cy="381000"/>
          </a:xfrm>
          <a:custGeom>
            <a:avLst/>
            <a:gdLst/>
            <a:ahLst/>
            <a:cxnLst/>
            <a:rect l="l" t="t" r="r" b="b"/>
            <a:pathLst>
              <a:path w="17449800" h="381000">
                <a:moveTo>
                  <a:pt x="17449800" y="381000"/>
                </a:moveTo>
                <a:lnTo>
                  <a:pt x="0" y="3810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8100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400" b="0" i="0">
                <a:solidFill>
                  <a:srgbClr val="21212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93680" y="770819"/>
            <a:ext cx="12887838" cy="1158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00" b="0" i="0">
                <a:solidFill>
                  <a:srgbClr val="21212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8882" y="2400300"/>
            <a:ext cx="7623175" cy="481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8981" y="2636308"/>
            <a:ext cx="11167745" cy="5651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 spc="-385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dirty="0" sz="35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50" spc="-17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35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50" spc="-420">
                <a:solidFill>
                  <a:srgbClr val="FFFFFF"/>
                </a:solidFill>
                <a:latin typeface="Arial MT"/>
                <a:cs typeface="Arial MT"/>
              </a:rPr>
              <a:t>Law</a:t>
            </a:r>
            <a:r>
              <a:rPr dirty="0" sz="355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50" spc="-27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35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50" spc="-315">
                <a:solidFill>
                  <a:srgbClr val="FFFFFF"/>
                </a:solidFill>
                <a:latin typeface="Arial MT"/>
                <a:cs typeface="Arial MT"/>
              </a:rPr>
              <a:t>Large</a:t>
            </a:r>
            <a:r>
              <a:rPr dirty="0" sz="355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50" spc="-330">
                <a:solidFill>
                  <a:srgbClr val="FFFFFF"/>
                </a:solidFill>
                <a:latin typeface="Arial MT"/>
                <a:cs typeface="Arial MT"/>
              </a:rPr>
              <a:t>Numbers</a:t>
            </a:r>
            <a:r>
              <a:rPr dirty="0" sz="3550" spc="2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50" spc="-195">
                <a:solidFill>
                  <a:srgbClr val="FFFFFF"/>
                </a:solidFill>
                <a:latin typeface="Arial MT"/>
                <a:cs typeface="Arial MT"/>
              </a:rPr>
              <a:t>brings</a:t>
            </a:r>
            <a:r>
              <a:rPr dirty="0" sz="355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50" spc="-220">
                <a:solidFill>
                  <a:srgbClr val="FFFFFF"/>
                </a:solidFill>
                <a:latin typeface="Arial MT"/>
                <a:cs typeface="Arial MT"/>
              </a:rPr>
              <a:t>oroer</a:t>
            </a:r>
            <a:r>
              <a:rPr dirty="0" sz="35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50" spc="-95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355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50" spc="-515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35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50" spc="-305">
                <a:solidFill>
                  <a:srgbClr val="FFFFFF"/>
                </a:solidFill>
                <a:latin typeface="Arial MT"/>
                <a:cs typeface="Arial MT"/>
              </a:rPr>
              <a:t>random</a:t>
            </a:r>
            <a:r>
              <a:rPr dirty="0" sz="3550" spc="2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50" spc="-90">
                <a:solidFill>
                  <a:srgbClr val="FFFFFF"/>
                </a:solidFill>
                <a:latin typeface="Arial MT"/>
                <a:cs typeface="Arial MT"/>
              </a:rPr>
              <a:t>world</a:t>
            </a:r>
            <a:endParaRPr sz="3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700" y="6896100"/>
            <a:ext cx="17462500" cy="165100"/>
            <a:chOff x="12700" y="6896100"/>
            <a:chExt cx="17462500" cy="1651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0" y="6896100"/>
              <a:ext cx="17462500" cy="1651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00" y="6896100"/>
              <a:ext cx="17462500" cy="165100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12700" y="7188200"/>
            <a:ext cx="17462500" cy="88900"/>
            <a:chOff x="12700" y="7188200"/>
            <a:chExt cx="17462500" cy="8890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00" y="7188200"/>
              <a:ext cx="17462500" cy="889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00" y="7188200"/>
              <a:ext cx="17462500" cy="88900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12700" y="9486900"/>
            <a:ext cx="17449800" cy="139700"/>
          </a:xfrm>
          <a:custGeom>
            <a:avLst/>
            <a:gdLst/>
            <a:ahLst/>
            <a:cxnLst/>
            <a:rect l="l" t="t" r="r" b="b"/>
            <a:pathLst>
              <a:path w="17449800" h="139700">
                <a:moveTo>
                  <a:pt x="17449800" y="139700"/>
                </a:moveTo>
                <a:lnTo>
                  <a:pt x="0" y="1397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13970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6120554" y="9442450"/>
            <a:ext cx="123825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0190" algn="l"/>
              </a:tabLst>
            </a:pPr>
            <a:r>
              <a:rPr dirty="0" sz="1250" spc="-5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	No</a:t>
            </a:r>
            <a:r>
              <a:rPr dirty="0" sz="1250">
                <a:solidFill>
                  <a:srgbClr val="E8E8E8"/>
                </a:solidFill>
                <a:latin typeface="Arial MT"/>
                <a:cs typeface="Arial MT"/>
              </a:rPr>
              <a:t>I</a:t>
            </a:r>
            <a:r>
              <a:rPr dirty="0" sz="1250" spc="-18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1250" spc="35">
                <a:solidFill>
                  <a:srgbClr val="FFFFFF"/>
                </a:solidFill>
                <a:latin typeface="Arial MT"/>
                <a:cs typeface="Arial MT"/>
              </a:rPr>
              <a:t>ebookLM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0" y="2870200"/>
            <a:ext cx="1371600" cy="215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28500" y="2832100"/>
            <a:ext cx="304800" cy="304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2796" y="694972"/>
            <a:ext cx="4318000" cy="102044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0">
                <a:solidFill>
                  <a:srgbClr val="232323"/>
                </a:solidFill>
                <a:latin typeface="Times New Roman"/>
                <a:cs typeface="Times New Roman"/>
              </a:rPr>
              <a:t>The</a:t>
            </a:r>
            <a:r>
              <a:rPr dirty="0" sz="6500" spc="-24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6500" spc="-10">
                <a:solidFill>
                  <a:srgbClr val="232323"/>
                </a:solidFill>
                <a:latin typeface="Times New Roman"/>
                <a:cs typeface="Times New Roman"/>
              </a:rPr>
              <a:t>Anarchy</a:t>
            </a:r>
            <a:endParaRPr sz="65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84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63266" y="1538111"/>
            <a:ext cx="5087620" cy="45186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350">
                <a:solidFill>
                  <a:srgbClr val="262626"/>
                </a:solidFill>
                <a:latin typeface="Times New Roman"/>
                <a:cs typeface="Times New Roman"/>
              </a:rPr>
              <a:t>of</a:t>
            </a:r>
            <a:r>
              <a:rPr dirty="0" sz="6350" spc="-22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6350" spc="70">
                <a:solidFill>
                  <a:srgbClr val="1F1F1F"/>
                </a:solidFill>
                <a:latin typeface="Times New Roman"/>
                <a:cs typeface="Times New Roman"/>
              </a:rPr>
              <a:t>One</a:t>
            </a:r>
            <a:endParaRPr sz="6350">
              <a:latin typeface="Times New Roman"/>
              <a:cs typeface="Times New Roman"/>
            </a:endParaRPr>
          </a:p>
          <a:p>
            <a:pPr marL="13970" marR="5080" indent="13335">
              <a:lnSpc>
                <a:spcPct val="100499"/>
              </a:lnSpc>
              <a:spcBef>
                <a:spcPts val="5065"/>
              </a:spcBef>
            </a:pPr>
            <a:r>
              <a:rPr dirty="0" sz="3200" spc="-409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dirty="0" sz="3200" spc="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200" spc="-155">
                <a:latin typeface="Arial MT"/>
                <a:cs typeface="Arial MT"/>
              </a:rPr>
              <a:t>single</a:t>
            </a:r>
            <a:r>
              <a:rPr dirty="0" sz="3200" spc="-70">
                <a:latin typeface="Arial MT"/>
                <a:cs typeface="Arial MT"/>
              </a:rPr>
              <a:t> </a:t>
            </a:r>
            <a:r>
              <a:rPr dirty="0" sz="3200" spc="-105">
                <a:latin typeface="Arial MT"/>
                <a:cs typeface="Arial MT"/>
              </a:rPr>
              <a:t>coin</a:t>
            </a:r>
            <a:r>
              <a:rPr dirty="0" sz="3200" spc="-65">
                <a:latin typeface="Arial MT"/>
                <a:cs typeface="Arial MT"/>
              </a:rPr>
              <a:t> flip</a:t>
            </a:r>
            <a:r>
              <a:rPr dirty="0" sz="3200" spc="-155">
                <a:latin typeface="Arial MT"/>
                <a:cs typeface="Arial MT"/>
              </a:rPr>
              <a:t> </a:t>
            </a:r>
            <a:r>
              <a:rPr dirty="0" sz="3200" spc="-85">
                <a:latin typeface="Arial MT"/>
                <a:cs typeface="Arial MT"/>
              </a:rPr>
              <a:t>is</a:t>
            </a:r>
            <a:r>
              <a:rPr dirty="0" sz="3200" spc="-160">
                <a:latin typeface="Arial MT"/>
                <a:cs typeface="Arial MT"/>
              </a:rPr>
              <a:t> </a:t>
            </a:r>
            <a:r>
              <a:rPr dirty="0" sz="3200" spc="-20">
                <a:latin typeface="Arial MT"/>
                <a:cs typeface="Arial MT"/>
              </a:rPr>
              <a:t>pure </a:t>
            </a:r>
            <a:r>
              <a:rPr dirty="0" sz="3050" spc="-55">
                <a:latin typeface="Arial MT"/>
                <a:cs typeface="Arial MT"/>
              </a:rPr>
              <a:t>chance.</a:t>
            </a:r>
            <a:r>
              <a:rPr dirty="0" sz="3050" spc="-16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Its</a:t>
            </a:r>
            <a:r>
              <a:rPr dirty="0" sz="3050" spc="-155">
                <a:latin typeface="Arial MT"/>
                <a:cs typeface="Arial MT"/>
              </a:rPr>
              <a:t> </a:t>
            </a:r>
            <a:r>
              <a:rPr dirty="0" sz="3050" spc="-20">
                <a:latin typeface="Arial MT"/>
                <a:cs typeface="Arial MT"/>
              </a:rPr>
              <a:t>outcome</a:t>
            </a:r>
            <a:r>
              <a:rPr dirty="0" sz="3050" spc="-4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is</a:t>
            </a:r>
            <a:r>
              <a:rPr dirty="0" sz="3050" spc="-210">
                <a:latin typeface="Arial MT"/>
                <a:cs typeface="Arial MT"/>
              </a:rPr>
              <a:t> </a:t>
            </a:r>
            <a:r>
              <a:rPr dirty="0" sz="3050" spc="-30">
                <a:latin typeface="Arial MT"/>
                <a:cs typeface="Arial MT"/>
              </a:rPr>
              <a:t>entirely </a:t>
            </a:r>
            <a:r>
              <a:rPr dirty="0" sz="3200" spc="-95">
                <a:latin typeface="Arial MT"/>
                <a:cs typeface="Arial MT"/>
              </a:rPr>
              <a:t>unpredictable.</a:t>
            </a:r>
            <a:r>
              <a:rPr dirty="0" sz="3200" spc="-175">
                <a:latin typeface="Arial MT"/>
                <a:cs typeface="Arial MT"/>
              </a:rPr>
              <a:t> </a:t>
            </a:r>
            <a:r>
              <a:rPr dirty="0" sz="3200" spc="-170">
                <a:latin typeface="Arial MT"/>
                <a:cs typeface="Arial MT"/>
              </a:rPr>
              <a:t>Heads</a:t>
            </a:r>
            <a:r>
              <a:rPr dirty="0" sz="3200" spc="35">
                <a:latin typeface="Arial MT"/>
                <a:cs typeface="Arial MT"/>
              </a:rPr>
              <a:t> </a:t>
            </a:r>
            <a:r>
              <a:rPr dirty="0" sz="3200" spc="-165">
                <a:latin typeface="Arial MT"/>
                <a:cs typeface="Arial MT"/>
              </a:rPr>
              <a:t>or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tails? </a:t>
            </a:r>
            <a:r>
              <a:rPr dirty="0" sz="3050" spc="-215">
                <a:latin typeface="Arial MT"/>
                <a:cs typeface="Arial MT"/>
              </a:rPr>
              <a:t>We</a:t>
            </a:r>
            <a:r>
              <a:rPr dirty="0" sz="3050" spc="-85">
                <a:latin typeface="Arial MT"/>
                <a:cs typeface="Arial MT"/>
              </a:rPr>
              <a:t> </a:t>
            </a:r>
            <a:r>
              <a:rPr dirty="0" sz="3050" spc="-60">
                <a:latin typeface="Arial MT"/>
                <a:cs typeface="Arial MT"/>
              </a:rPr>
              <a:t>have</a:t>
            </a:r>
            <a:r>
              <a:rPr dirty="0" sz="3050" spc="-15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no</a:t>
            </a:r>
            <a:r>
              <a:rPr dirty="0" sz="3050" spc="-21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way</a:t>
            </a:r>
            <a:r>
              <a:rPr dirty="0" sz="3050" spc="-12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of</a:t>
            </a:r>
            <a:r>
              <a:rPr dirty="0" sz="3050" spc="-150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knowing.</a:t>
            </a:r>
            <a:endParaRPr sz="3050">
              <a:latin typeface="Arial MT"/>
              <a:cs typeface="Arial MT"/>
            </a:endParaRPr>
          </a:p>
          <a:p>
            <a:pPr marL="17780">
              <a:lnSpc>
                <a:spcPts val="3654"/>
              </a:lnSpc>
              <a:spcBef>
                <a:spcPts val="90"/>
              </a:spcBef>
            </a:pPr>
            <a:r>
              <a:rPr dirty="0" sz="3050" spc="-55">
                <a:latin typeface="Arial MT"/>
                <a:cs typeface="Arial MT"/>
              </a:rPr>
              <a:t>This</a:t>
            </a:r>
            <a:r>
              <a:rPr dirty="0" sz="3050" spc="-15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is</a:t>
            </a:r>
            <a:r>
              <a:rPr dirty="0" sz="3050" spc="-13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the</a:t>
            </a:r>
            <a:r>
              <a:rPr dirty="0" sz="3050" spc="-8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world</a:t>
            </a:r>
            <a:r>
              <a:rPr dirty="0" sz="3050" spc="-8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of</a:t>
            </a:r>
            <a:r>
              <a:rPr dirty="0" sz="3050" spc="-85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individual,</a:t>
            </a:r>
            <a:endParaRPr sz="3050">
              <a:latin typeface="Arial MT"/>
              <a:cs typeface="Arial MT"/>
            </a:endParaRPr>
          </a:p>
          <a:p>
            <a:pPr marL="13335">
              <a:lnSpc>
                <a:spcPts val="3835"/>
              </a:lnSpc>
            </a:pPr>
            <a:r>
              <a:rPr dirty="0" sz="3200" spc="-125">
                <a:latin typeface="Arial MT"/>
                <a:cs typeface="Arial MT"/>
              </a:rPr>
              <a:t>random</a:t>
            </a:r>
            <a:r>
              <a:rPr dirty="0" sz="3200" spc="-8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events.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712008" y="2763308"/>
            <a:ext cx="118491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254">
                <a:latin typeface="Arial MT"/>
                <a:cs typeface="Arial MT"/>
              </a:rPr>
              <a:t>1</a:t>
            </a:r>
            <a:r>
              <a:rPr dirty="0" sz="2300" spc="35">
                <a:latin typeface="Arial MT"/>
                <a:cs typeface="Arial MT"/>
              </a:rPr>
              <a:t> </a:t>
            </a:r>
            <a:r>
              <a:rPr dirty="0" sz="2300" spc="-105">
                <a:latin typeface="Arial MT"/>
                <a:cs typeface="Arial MT"/>
              </a:rPr>
              <a:t>(Heads)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22120" y="8427508"/>
            <a:ext cx="985519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>
                <a:latin typeface="Arial MT"/>
                <a:cs typeface="Arial MT"/>
              </a:rPr>
              <a:t>0</a:t>
            </a:r>
            <a:r>
              <a:rPr dirty="0" sz="2300" spc="30">
                <a:latin typeface="Arial MT"/>
                <a:cs typeface="Arial MT"/>
              </a:rPr>
              <a:t> </a:t>
            </a:r>
            <a:r>
              <a:rPr dirty="0" sz="2300" spc="-110">
                <a:latin typeface="Arial MT"/>
                <a:cs typeface="Arial MT"/>
              </a:rPr>
              <a:t>(Tails)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058875" y="2762250"/>
            <a:ext cx="90678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solidFill>
                  <a:srgbClr val="748090"/>
                </a:solidFill>
                <a:latin typeface="Arial MT"/>
                <a:cs typeface="Arial MT"/>
              </a:rPr>
              <a:t>Heads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200" y="1066800"/>
            <a:ext cx="7620000" cy="3657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5537200" y="4377266"/>
            <a:ext cx="360045" cy="42545"/>
            <a:chOff x="5537200" y="4377266"/>
            <a:chExt cx="360045" cy="42545"/>
          </a:xfrm>
        </p:grpSpPr>
        <p:sp>
          <p:nvSpPr>
            <p:cNvPr id="4" name="object 4" descr=""/>
            <p:cNvSpPr/>
            <p:nvPr/>
          </p:nvSpPr>
          <p:spPr>
            <a:xfrm>
              <a:off x="5549900" y="4404783"/>
              <a:ext cx="347345" cy="0"/>
            </a:xfrm>
            <a:custGeom>
              <a:avLst/>
              <a:gdLst/>
              <a:ahLst/>
              <a:cxnLst/>
              <a:rect l="l" t="t" r="r" b="b"/>
              <a:pathLst>
                <a:path w="347345" h="0">
                  <a:moveTo>
                    <a:pt x="0" y="0"/>
                  </a:moveTo>
                  <a:lnTo>
                    <a:pt x="347133" y="0"/>
                  </a:lnTo>
                </a:path>
              </a:pathLst>
            </a:custGeom>
            <a:ln w="29633">
              <a:solidFill>
                <a:srgbClr val="3F3F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537200" y="4392083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 h="0">
                  <a:moveTo>
                    <a:pt x="0" y="0"/>
                  </a:moveTo>
                  <a:lnTo>
                    <a:pt x="359833" y="0"/>
                  </a:lnTo>
                </a:path>
              </a:pathLst>
            </a:custGeom>
            <a:ln w="29633">
              <a:solidFill>
                <a:srgbClr val="3F3F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1176" y="694972"/>
            <a:ext cx="5830570" cy="1852295"/>
          </a:xfrm>
          <a:prstGeom prst="rect"/>
        </p:spPr>
        <p:txBody>
          <a:bodyPr wrap="square" lIns="0" tIns="175895" rIns="0" bIns="0" rtlCol="0" vert="horz">
            <a:spAutoFit/>
          </a:bodyPr>
          <a:lstStyle/>
          <a:p>
            <a:pPr marL="19685" marR="5080" indent="-7620">
              <a:lnSpc>
                <a:spcPts val="6550"/>
              </a:lnSpc>
              <a:spcBef>
                <a:spcPts val="1385"/>
              </a:spcBef>
            </a:pPr>
            <a:r>
              <a:rPr dirty="0" sz="6500" spc="-150">
                <a:solidFill>
                  <a:srgbClr val="1F1F1F"/>
                </a:solidFill>
              </a:rPr>
              <a:t>The</a:t>
            </a:r>
            <a:r>
              <a:rPr dirty="0" sz="6500" spc="-225">
                <a:solidFill>
                  <a:srgbClr val="1F1F1F"/>
                </a:solidFill>
              </a:rPr>
              <a:t> </a:t>
            </a:r>
            <a:r>
              <a:rPr dirty="0" sz="6500" spc="-75">
                <a:solidFill>
                  <a:srgbClr val="1A1A1A"/>
                </a:solidFill>
              </a:rPr>
              <a:t>Deception</a:t>
            </a:r>
            <a:r>
              <a:rPr dirty="0" sz="6500" spc="-254">
                <a:solidFill>
                  <a:srgbClr val="1A1A1A"/>
                </a:solidFill>
              </a:rPr>
              <a:t> </a:t>
            </a:r>
            <a:r>
              <a:rPr dirty="0" sz="6500" spc="-25">
                <a:solidFill>
                  <a:srgbClr val="232323"/>
                </a:solidFill>
              </a:rPr>
              <a:t>of </a:t>
            </a:r>
            <a:r>
              <a:rPr dirty="0" sz="6500" spc="95">
                <a:solidFill>
                  <a:srgbClr val="313131"/>
                </a:solidFill>
              </a:rPr>
              <a:t>a</a:t>
            </a:r>
            <a:r>
              <a:rPr dirty="0" sz="6500" spc="-420">
                <a:solidFill>
                  <a:srgbClr val="313131"/>
                </a:solidFill>
              </a:rPr>
              <a:t> </a:t>
            </a:r>
            <a:r>
              <a:rPr dirty="0" sz="6500" spc="-55">
                <a:solidFill>
                  <a:srgbClr val="1F1F1F"/>
                </a:solidFill>
              </a:rPr>
              <a:t>Small</a:t>
            </a:r>
            <a:r>
              <a:rPr dirty="0" sz="6500" spc="-265">
                <a:solidFill>
                  <a:srgbClr val="1F1F1F"/>
                </a:solidFill>
              </a:rPr>
              <a:t> </a:t>
            </a:r>
            <a:r>
              <a:rPr dirty="0" sz="6500" spc="-10">
                <a:solidFill>
                  <a:srgbClr val="1F1F1F"/>
                </a:solidFill>
              </a:rPr>
              <a:t>Sample</a:t>
            </a:r>
            <a:endParaRPr sz="6500"/>
          </a:p>
        </p:txBody>
      </p:sp>
      <p:sp>
        <p:nvSpPr>
          <p:cNvPr id="23" name="object 23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84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2052" y="3156655"/>
            <a:ext cx="5322570" cy="995044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0795">
              <a:lnSpc>
                <a:spcPts val="3800"/>
              </a:lnSpc>
              <a:spcBef>
                <a:spcPts val="229"/>
              </a:spcBef>
            </a:pPr>
            <a:r>
              <a:rPr dirty="0" sz="3200" spc="-125">
                <a:latin typeface="Arial MT"/>
                <a:cs typeface="Arial MT"/>
              </a:rPr>
              <a:t>With</a:t>
            </a:r>
            <a:r>
              <a:rPr dirty="0" sz="3200" spc="-100">
                <a:latin typeface="Arial MT"/>
                <a:cs typeface="Arial MT"/>
              </a:rPr>
              <a:t> </a:t>
            </a:r>
            <a:r>
              <a:rPr dirty="0" sz="3200" spc="-110">
                <a:latin typeface="Arial MT"/>
                <a:cs typeface="Arial MT"/>
              </a:rPr>
              <a:t>just</a:t>
            </a:r>
            <a:r>
              <a:rPr dirty="0" sz="3200" spc="-55">
                <a:latin typeface="Arial MT"/>
                <a:cs typeface="Arial MT"/>
              </a:rPr>
              <a:t> </a:t>
            </a:r>
            <a:r>
              <a:rPr dirty="0" sz="3200" spc="-50">
                <a:latin typeface="Arial MT"/>
                <a:cs typeface="Arial MT"/>
              </a:rPr>
              <a:t>ten</a:t>
            </a:r>
            <a:r>
              <a:rPr dirty="0" sz="3200" spc="-130">
                <a:latin typeface="Arial MT"/>
                <a:cs typeface="Arial MT"/>
              </a:rPr>
              <a:t> </a:t>
            </a:r>
            <a:r>
              <a:rPr dirty="0" sz="3200" spc="-95">
                <a:latin typeface="Arial MT"/>
                <a:cs typeface="Arial MT"/>
              </a:rPr>
              <a:t>flips,</a:t>
            </a:r>
            <a:r>
              <a:rPr dirty="0" sz="3200" spc="-125">
                <a:latin typeface="Arial MT"/>
                <a:cs typeface="Arial MT"/>
              </a:rPr>
              <a:t> </a:t>
            </a:r>
            <a:r>
              <a:rPr dirty="0" sz="3200" spc="-90">
                <a:latin typeface="Arial MT"/>
                <a:cs typeface="Arial MT"/>
              </a:rPr>
              <a:t>the</a:t>
            </a:r>
            <a:r>
              <a:rPr dirty="0" sz="3200" spc="-13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results </a:t>
            </a:r>
            <a:r>
              <a:rPr dirty="0" sz="3200" spc="-150">
                <a:solidFill>
                  <a:srgbClr val="0A0A0A"/>
                </a:solidFill>
                <a:latin typeface="Arial MT"/>
                <a:cs typeface="Arial MT"/>
              </a:rPr>
              <a:t>can</a:t>
            </a:r>
            <a:r>
              <a:rPr dirty="0" sz="3200" spc="-114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3200" spc="-100">
                <a:latin typeface="Arial MT"/>
                <a:cs typeface="Arial MT"/>
              </a:rPr>
              <a:t>be</a:t>
            </a:r>
            <a:r>
              <a:rPr dirty="0" sz="3200" spc="-165">
                <a:latin typeface="Arial MT"/>
                <a:cs typeface="Arial MT"/>
              </a:rPr>
              <a:t> </a:t>
            </a:r>
            <a:r>
              <a:rPr dirty="0" sz="3200" spc="-110">
                <a:latin typeface="Arial MT"/>
                <a:cs typeface="Arial MT"/>
              </a:rPr>
              <a:t>deceptive.</a:t>
            </a:r>
            <a:r>
              <a:rPr dirty="0" sz="3200" spc="-114">
                <a:latin typeface="Arial MT"/>
                <a:cs typeface="Arial MT"/>
              </a:rPr>
              <a:t> </a:t>
            </a:r>
            <a:r>
              <a:rPr dirty="0" sz="3200" spc="-390">
                <a:latin typeface="Arial MT"/>
                <a:cs typeface="Arial MT"/>
              </a:rPr>
              <a:t>We</a:t>
            </a:r>
            <a:r>
              <a:rPr dirty="0" sz="3200" spc="-135">
                <a:latin typeface="Arial MT"/>
                <a:cs typeface="Arial MT"/>
              </a:rPr>
              <a:t> </a:t>
            </a:r>
            <a:r>
              <a:rPr dirty="0" sz="3200" spc="-65">
                <a:latin typeface="Arial MT"/>
                <a:cs typeface="Arial MT"/>
              </a:rPr>
              <a:t>might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 spc="-130">
                <a:latin typeface="Arial MT"/>
                <a:cs typeface="Arial MT"/>
              </a:rPr>
              <a:t>see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92228" y="3639255"/>
            <a:ext cx="40322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520">
                <a:latin typeface="Arial MT"/>
                <a:cs typeface="Arial MT"/>
              </a:rPr>
              <a:t>o.6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77847" y="4100336"/>
            <a:ext cx="509841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912360" algn="l"/>
              </a:tabLst>
            </a:pPr>
            <a:r>
              <a:rPr dirty="0" sz="3250" spc="-250">
                <a:latin typeface="Arial MT"/>
                <a:cs typeface="Arial MT"/>
              </a:rPr>
              <a:t>seven</a:t>
            </a:r>
            <a:r>
              <a:rPr dirty="0" sz="3250" spc="-10">
                <a:latin typeface="Arial MT"/>
                <a:cs typeface="Arial MT"/>
              </a:rPr>
              <a:t> </a:t>
            </a:r>
            <a:r>
              <a:rPr dirty="0" sz="3250" spc="-195">
                <a:latin typeface="Arial MT"/>
                <a:cs typeface="Arial MT"/>
              </a:rPr>
              <a:t>heads</a:t>
            </a:r>
            <a:r>
              <a:rPr dirty="0" sz="3250" spc="15">
                <a:latin typeface="Arial MT"/>
                <a:cs typeface="Arial MT"/>
              </a:rPr>
              <a:t> </a:t>
            </a:r>
            <a:r>
              <a:rPr dirty="0" sz="3250" spc="-229">
                <a:latin typeface="Arial MT"/>
                <a:cs typeface="Arial MT"/>
              </a:rPr>
              <a:t>and</a:t>
            </a:r>
            <a:r>
              <a:rPr dirty="0" sz="3250" spc="-35">
                <a:latin typeface="Arial MT"/>
                <a:cs typeface="Arial MT"/>
              </a:rPr>
              <a:t> </a:t>
            </a:r>
            <a:r>
              <a:rPr dirty="0" sz="3250" spc="-135">
                <a:latin typeface="Arial MT"/>
                <a:cs typeface="Arial MT"/>
              </a:rPr>
              <a:t>three</a:t>
            </a:r>
            <a:r>
              <a:rPr dirty="0" sz="3250" spc="-90">
                <a:latin typeface="Arial MT"/>
                <a:cs typeface="Arial MT"/>
              </a:rPr>
              <a:t> </a:t>
            </a:r>
            <a:r>
              <a:rPr dirty="0" sz="3250" spc="-10">
                <a:latin typeface="Arial MT"/>
                <a:cs typeface="Arial MT"/>
              </a:rPr>
              <a:t>tails</a:t>
            </a:r>
            <a:r>
              <a:rPr dirty="0" sz="3250">
                <a:latin typeface="Arial MT"/>
                <a:cs typeface="Arial MT"/>
              </a:rPr>
              <a:t>	</a:t>
            </a:r>
            <a:r>
              <a:rPr dirty="0" sz="3250" spc="-505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8268" y="4582936"/>
            <a:ext cx="5201285" cy="194818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9050" marR="5080" indent="-6985">
              <a:lnSpc>
                <a:spcPct val="97400"/>
              </a:lnSpc>
              <a:spcBef>
                <a:spcPts val="215"/>
              </a:spcBef>
            </a:pPr>
            <a:r>
              <a:rPr dirty="0" sz="3250" spc="-355">
                <a:latin typeface="Arial MT"/>
                <a:cs typeface="Arial MT"/>
              </a:rPr>
              <a:t>70%</a:t>
            </a:r>
            <a:r>
              <a:rPr dirty="0" sz="3250" spc="-50">
                <a:latin typeface="Arial MT"/>
                <a:cs typeface="Arial MT"/>
              </a:rPr>
              <a:t> </a:t>
            </a:r>
            <a:r>
              <a:rPr dirty="0" sz="3250" spc="-114">
                <a:latin typeface="Arial MT"/>
                <a:cs typeface="Arial MT"/>
              </a:rPr>
              <a:t>proportion.</a:t>
            </a:r>
            <a:r>
              <a:rPr dirty="0" sz="3250" spc="-35">
                <a:latin typeface="Arial MT"/>
                <a:cs typeface="Arial MT"/>
              </a:rPr>
              <a:t> </a:t>
            </a:r>
            <a:r>
              <a:rPr dirty="0" sz="3250" spc="-220">
                <a:latin typeface="Arial MT"/>
                <a:cs typeface="Arial MT"/>
              </a:rPr>
              <a:t>Is</a:t>
            </a:r>
            <a:r>
              <a:rPr dirty="0" sz="3250" spc="-65">
                <a:latin typeface="Arial MT"/>
                <a:cs typeface="Arial MT"/>
              </a:rPr>
              <a:t> </a:t>
            </a:r>
            <a:r>
              <a:rPr dirty="0" sz="3250" spc="-105">
                <a:latin typeface="Arial MT"/>
                <a:cs typeface="Arial MT"/>
              </a:rPr>
              <a:t>the </a:t>
            </a:r>
            <a:r>
              <a:rPr dirty="0" sz="3250" spc="-20">
                <a:latin typeface="Arial MT"/>
                <a:cs typeface="Arial MT"/>
              </a:rPr>
              <a:t>coin </a:t>
            </a:r>
            <a:r>
              <a:rPr dirty="0" sz="3300" spc="-254">
                <a:latin typeface="Arial MT"/>
                <a:cs typeface="Arial MT"/>
              </a:rPr>
              <a:t>biased?</a:t>
            </a:r>
            <a:r>
              <a:rPr dirty="0" sz="3300" spc="25">
                <a:latin typeface="Arial MT"/>
                <a:cs typeface="Arial MT"/>
              </a:rPr>
              <a:t> </a:t>
            </a:r>
            <a:r>
              <a:rPr dirty="0" sz="3300" spc="-215">
                <a:latin typeface="Arial MT"/>
                <a:cs typeface="Arial MT"/>
              </a:rPr>
              <a:t>With</a:t>
            </a:r>
            <a:r>
              <a:rPr dirty="0" sz="3300" spc="-15">
                <a:latin typeface="Arial MT"/>
                <a:cs typeface="Arial MT"/>
              </a:rPr>
              <a:t> </a:t>
            </a:r>
            <a:r>
              <a:rPr dirty="0" sz="3300" spc="-240">
                <a:latin typeface="Arial MT"/>
                <a:cs typeface="Arial MT"/>
              </a:rPr>
              <a:t>such</a:t>
            </a:r>
            <a:r>
              <a:rPr dirty="0" sz="3300" spc="-55">
                <a:latin typeface="Arial MT"/>
                <a:cs typeface="Arial MT"/>
              </a:rPr>
              <a:t> </a:t>
            </a:r>
            <a:r>
              <a:rPr dirty="0" sz="3300" spc="-145">
                <a:latin typeface="Arial MT"/>
                <a:cs typeface="Arial MT"/>
              </a:rPr>
              <a:t>limited</a:t>
            </a:r>
            <a:r>
              <a:rPr dirty="0" sz="3300" spc="30">
                <a:latin typeface="Arial MT"/>
                <a:cs typeface="Arial MT"/>
              </a:rPr>
              <a:t> </a:t>
            </a:r>
            <a:r>
              <a:rPr dirty="0" sz="3300" spc="-85">
                <a:latin typeface="Arial MT"/>
                <a:cs typeface="Arial MT"/>
              </a:rPr>
              <a:t>data, </a:t>
            </a:r>
            <a:r>
              <a:rPr dirty="0" sz="3200" spc="-35">
                <a:latin typeface="Arial MT"/>
                <a:cs typeface="Arial MT"/>
              </a:rPr>
              <a:t>the</a:t>
            </a:r>
            <a:r>
              <a:rPr dirty="0" sz="3200" spc="-190">
                <a:latin typeface="Arial MT"/>
                <a:cs typeface="Arial MT"/>
              </a:rPr>
              <a:t> </a:t>
            </a:r>
            <a:r>
              <a:rPr dirty="0" sz="3200" spc="-100">
                <a:latin typeface="Arial MT"/>
                <a:cs typeface="Arial MT"/>
              </a:rPr>
              <a:t>story</a:t>
            </a:r>
            <a:r>
              <a:rPr dirty="0" sz="3200" spc="-120">
                <a:latin typeface="Arial MT"/>
                <a:cs typeface="Arial MT"/>
              </a:rPr>
              <a:t> </a:t>
            </a:r>
            <a:r>
              <a:rPr dirty="0" sz="3200" spc="-85">
                <a:latin typeface="Arial MT"/>
                <a:cs typeface="Arial MT"/>
              </a:rPr>
              <a:t>is</a:t>
            </a:r>
            <a:r>
              <a:rPr dirty="0" sz="3200" spc="-160">
                <a:latin typeface="Arial MT"/>
                <a:cs typeface="Arial MT"/>
              </a:rPr>
              <a:t> </a:t>
            </a:r>
            <a:r>
              <a:rPr dirty="0" sz="3200" spc="-114">
                <a:latin typeface="Arial MT"/>
                <a:cs typeface="Arial MT"/>
              </a:rPr>
              <a:t>incomplete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and </a:t>
            </a:r>
            <a:r>
              <a:rPr dirty="0" sz="3100">
                <a:latin typeface="Arial MT"/>
                <a:cs typeface="Arial MT"/>
              </a:rPr>
              <a:t>often</a:t>
            </a:r>
            <a:r>
              <a:rPr dirty="0" sz="3100" spc="-140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wrong.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453555" y="5165372"/>
            <a:ext cx="46355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545">
                <a:latin typeface="Courier New"/>
                <a:cs typeface="Courier New"/>
              </a:rPr>
              <a:t>0.4</a:t>
            </a:r>
            <a:endParaRPr sz="275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492057" y="6661150"/>
            <a:ext cx="40767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415">
                <a:latin typeface="Consolas"/>
                <a:cs typeface="Consolas"/>
              </a:rPr>
              <a:t>0.2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468227" y="8091310"/>
            <a:ext cx="435609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530">
                <a:latin typeface="Courier New"/>
                <a:cs typeface="Courier New"/>
              </a:rPr>
              <a:t>0.0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385526" y="8401050"/>
            <a:ext cx="18288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05">
                <a:latin typeface="Arial MT"/>
                <a:cs typeface="Arial MT"/>
              </a:rPr>
              <a:t>1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248894" y="8401050"/>
            <a:ext cx="1708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00">
                <a:latin typeface="Arial MT"/>
                <a:cs typeface="Arial MT"/>
              </a:rPr>
              <a:t>2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070465" y="8401050"/>
            <a:ext cx="18796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65">
                <a:latin typeface="Arial MT"/>
                <a:cs typeface="Arial MT"/>
              </a:rPr>
              <a:t>3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917966" y="8401050"/>
            <a:ext cx="2076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latin typeface="Arial MT"/>
                <a:cs typeface="Arial MT"/>
              </a:rPr>
              <a:t>4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254087" y="8248287"/>
            <a:ext cx="2026285" cy="107823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530860">
              <a:lnSpc>
                <a:spcPct val="100000"/>
              </a:lnSpc>
              <a:spcBef>
                <a:spcPts val="1300"/>
              </a:spcBef>
              <a:tabLst>
                <a:tab pos="1357630" algn="l"/>
              </a:tabLst>
            </a:pPr>
            <a:r>
              <a:rPr dirty="0" sz="2500" spc="-50">
                <a:latin typeface="Arial MT"/>
                <a:cs typeface="Arial MT"/>
              </a:rPr>
              <a:t>5</a:t>
            </a:r>
            <a:r>
              <a:rPr dirty="0" sz="2500">
                <a:latin typeface="Arial MT"/>
                <a:cs typeface="Arial MT"/>
              </a:rPr>
              <a:t>	</a:t>
            </a:r>
            <a:r>
              <a:rPr dirty="0" sz="2500" spc="-50">
                <a:latin typeface="Arial MT"/>
                <a:cs typeface="Arial MT"/>
              </a:rPr>
              <a:t>6</a:t>
            </a: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400" spc="-85">
                <a:latin typeface="Arial MT"/>
                <a:cs typeface="Arial MT"/>
              </a:rPr>
              <a:t>Number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385">
                <a:latin typeface="Arial MT"/>
                <a:cs typeface="Arial MT"/>
              </a:rPr>
              <a:t>Of</a:t>
            </a:r>
            <a:r>
              <a:rPr dirty="0" sz="2400" spc="80">
                <a:latin typeface="Arial MT"/>
                <a:cs typeface="Arial MT"/>
              </a:rPr>
              <a:t> </a:t>
            </a:r>
            <a:r>
              <a:rPr dirty="0" sz="2400" spc="-95">
                <a:latin typeface="Arial MT"/>
                <a:cs typeface="Arial MT"/>
              </a:rPr>
              <a:t>Flips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446963" y="8401050"/>
            <a:ext cx="1739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75">
                <a:latin typeface="Arial MT"/>
                <a:cs typeface="Arial MT"/>
              </a:rPr>
              <a:t>7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4287335" y="8401050"/>
            <a:ext cx="1866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75">
                <a:latin typeface="Arial MT"/>
                <a:cs typeface="Arial MT"/>
              </a:rPr>
              <a:t>8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5125230" y="8401050"/>
            <a:ext cx="10966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5810" algn="l"/>
              </a:tabLst>
            </a:pPr>
            <a:r>
              <a:rPr dirty="0" sz="2500" spc="-50">
                <a:latin typeface="Arial MT"/>
                <a:cs typeface="Arial MT"/>
              </a:rPr>
              <a:t>9</a:t>
            </a:r>
            <a:r>
              <a:rPr dirty="0" sz="2500">
                <a:latin typeface="Arial MT"/>
                <a:cs typeface="Arial MT"/>
              </a:rPr>
              <a:t>	</a:t>
            </a:r>
            <a:r>
              <a:rPr dirty="0" sz="2500" spc="-110">
                <a:latin typeface="Arial MT"/>
                <a:cs typeface="Arial MT"/>
              </a:rPr>
              <a:t>10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6170338" y="2983794"/>
            <a:ext cx="677545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25">
                <a:solidFill>
                  <a:srgbClr val="1A1A1A"/>
                </a:solidFill>
                <a:latin typeface="Consolas"/>
                <a:cs typeface="Consolas"/>
              </a:rPr>
              <a:t>70%</a:t>
            </a:r>
            <a:endParaRPr sz="3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5300" y="1511300"/>
            <a:ext cx="8394700" cy="4330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1461" y="703791"/>
            <a:ext cx="6140450" cy="10096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450" spc="-90">
                <a:solidFill>
                  <a:srgbClr val="1A1A1A"/>
                </a:solidFill>
              </a:rPr>
              <a:t>The</a:t>
            </a:r>
            <a:r>
              <a:rPr dirty="0" sz="6450" spc="-260">
                <a:solidFill>
                  <a:srgbClr val="1A1A1A"/>
                </a:solidFill>
              </a:rPr>
              <a:t> </a:t>
            </a:r>
            <a:r>
              <a:rPr dirty="0" sz="6450" spc="-150"/>
              <a:t>First</a:t>
            </a:r>
            <a:r>
              <a:rPr dirty="0" sz="6450" spc="-175"/>
              <a:t> </a:t>
            </a:r>
            <a:r>
              <a:rPr dirty="0" sz="6450" spc="-95"/>
              <a:t>Glimmer</a:t>
            </a:r>
            <a:endParaRPr sz="6450"/>
          </a:p>
        </p:txBody>
      </p:sp>
      <p:sp>
        <p:nvSpPr>
          <p:cNvPr id="14" name="object 14" descr=""/>
          <p:cNvSpPr txBox="1"/>
          <p:nvPr/>
        </p:nvSpPr>
        <p:spPr>
          <a:xfrm>
            <a:off x="15707030" y="9448326"/>
            <a:ext cx="120650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5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348023" y="9448326"/>
            <a:ext cx="996950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1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50812" y="1573388"/>
            <a:ext cx="5609590" cy="545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100" spc="120">
                <a:solidFill>
                  <a:srgbClr val="1F1F1F"/>
                </a:solidFill>
                <a:latin typeface="Cambria"/>
                <a:cs typeface="Cambria"/>
              </a:rPr>
              <a:t>of</a:t>
            </a:r>
            <a:r>
              <a:rPr dirty="0" sz="6100" spc="-1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6100" spc="204">
                <a:solidFill>
                  <a:srgbClr val="262626"/>
                </a:solidFill>
                <a:latin typeface="Cambria"/>
                <a:cs typeface="Cambria"/>
              </a:rPr>
              <a:t>a</a:t>
            </a:r>
            <a:r>
              <a:rPr dirty="0" sz="6100" spc="-455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dirty="0" sz="6100" spc="-10">
                <a:solidFill>
                  <a:srgbClr val="1C1C1C"/>
                </a:solidFill>
                <a:latin typeface="Cambria"/>
                <a:cs typeface="Cambria"/>
              </a:rPr>
              <a:t>Pattern</a:t>
            </a:r>
            <a:endParaRPr sz="6100">
              <a:latin typeface="Cambria"/>
              <a:cs typeface="Cambria"/>
            </a:endParaRPr>
          </a:p>
          <a:p>
            <a:pPr marL="23495" marR="5080" indent="3175">
              <a:lnSpc>
                <a:spcPct val="97600"/>
              </a:lnSpc>
              <a:spcBef>
                <a:spcPts val="5175"/>
              </a:spcBef>
            </a:pPr>
            <a:r>
              <a:rPr dirty="0" sz="3250" spc="-190">
                <a:latin typeface="Arial MT"/>
                <a:cs typeface="Arial MT"/>
              </a:rPr>
              <a:t>As</a:t>
            </a:r>
            <a:r>
              <a:rPr dirty="0" sz="3250" spc="-95">
                <a:latin typeface="Arial MT"/>
                <a:cs typeface="Arial MT"/>
              </a:rPr>
              <a:t> </a:t>
            </a:r>
            <a:r>
              <a:rPr dirty="0" sz="3250" spc="-45">
                <a:latin typeface="Arial MT"/>
                <a:cs typeface="Arial MT"/>
              </a:rPr>
              <a:t>the</a:t>
            </a:r>
            <a:r>
              <a:rPr dirty="0" sz="3250" spc="-180">
                <a:latin typeface="Arial MT"/>
                <a:cs typeface="Arial MT"/>
              </a:rPr>
              <a:t> </a:t>
            </a:r>
            <a:r>
              <a:rPr dirty="0" sz="3250" spc="-110">
                <a:latin typeface="Arial MT"/>
                <a:cs typeface="Arial MT"/>
              </a:rPr>
              <a:t>number</a:t>
            </a:r>
            <a:r>
              <a:rPr dirty="0" sz="3250" spc="-114">
                <a:latin typeface="Arial MT"/>
                <a:cs typeface="Arial MT"/>
              </a:rPr>
              <a:t> </a:t>
            </a:r>
            <a:r>
              <a:rPr dirty="0" sz="3250">
                <a:latin typeface="Arial MT"/>
                <a:cs typeface="Arial MT"/>
              </a:rPr>
              <a:t>of</a:t>
            </a:r>
            <a:r>
              <a:rPr dirty="0" sz="3250" spc="-125">
                <a:latin typeface="Arial MT"/>
                <a:cs typeface="Arial MT"/>
              </a:rPr>
              <a:t> </a:t>
            </a:r>
            <a:r>
              <a:rPr dirty="0" sz="3250" spc="-75">
                <a:latin typeface="Arial MT"/>
                <a:cs typeface="Arial MT"/>
              </a:rPr>
              <a:t>trials</a:t>
            </a:r>
            <a:r>
              <a:rPr dirty="0" sz="3250" spc="-145">
                <a:latin typeface="Arial MT"/>
                <a:cs typeface="Arial MT"/>
              </a:rPr>
              <a:t> </a:t>
            </a:r>
            <a:r>
              <a:rPr dirty="0" sz="3250" spc="-150">
                <a:latin typeface="Arial MT"/>
                <a:cs typeface="Arial MT"/>
              </a:rPr>
              <a:t>increases </a:t>
            </a:r>
            <a:r>
              <a:rPr dirty="0" sz="3200">
                <a:latin typeface="Arial MT"/>
                <a:cs typeface="Arial MT"/>
              </a:rPr>
              <a:t>to</a:t>
            </a:r>
            <a:r>
              <a:rPr dirty="0" sz="3200" spc="-185">
                <a:latin typeface="Arial MT"/>
                <a:cs typeface="Arial MT"/>
              </a:rPr>
              <a:t> </a:t>
            </a:r>
            <a:r>
              <a:rPr dirty="0" sz="3200" spc="-110">
                <a:latin typeface="Arial MT"/>
                <a:cs typeface="Arial MT"/>
              </a:rPr>
              <a:t>one</a:t>
            </a:r>
            <a:r>
              <a:rPr dirty="0" sz="3200" spc="-105">
                <a:latin typeface="Arial MT"/>
                <a:cs typeface="Arial MT"/>
              </a:rPr>
              <a:t> </a:t>
            </a:r>
            <a:r>
              <a:rPr dirty="0" sz="3200" spc="-65">
                <a:latin typeface="Arial MT"/>
                <a:cs typeface="Arial MT"/>
              </a:rPr>
              <a:t>hundred,</a:t>
            </a:r>
            <a:r>
              <a:rPr dirty="0" sz="3200" spc="-10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220">
                <a:latin typeface="Arial MT"/>
                <a:cs typeface="Arial MT"/>
              </a:rPr>
              <a:t> </a:t>
            </a:r>
            <a:r>
              <a:rPr dirty="0" sz="3200" spc="-45">
                <a:latin typeface="Arial MT"/>
                <a:cs typeface="Arial MT"/>
              </a:rPr>
              <a:t>initial</a:t>
            </a:r>
            <a:r>
              <a:rPr dirty="0" sz="3200" spc="-114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chaos </a:t>
            </a:r>
            <a:r>
              <a:rPr dirty="0" sz="3200" spc="-55">
                <a:latin typeface="Arial MT"/>
                <a:cs typeface="Arial MT"/>
              </a:rPr>
              <a:t>begins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to</a:t>
            </a:r>
            <a:r>
              <a:rPr dirty="0" sz="3200" spc="-190">
                <a:latin typeface="Arial MT"/>
                <a:cs typeface="Arial MT"/>
              </a:rPr>
              <a:t> </a:t>
            </a:r>
            <a:r>
              <a:rPr dirty="0" sz="3200" spc="-105">
                <a:latin typeface="Arial MT"/>
                <a:cs typeface="Arial MT"/>
              </a:rPr>
              <a:t>subside.</a:t>
            </a:r>
            <a:r>
              <a:rPr dirty="0" sz="3200" spc="-60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The </a:t>
            </a:r>
            <a:r>
              <a:rPr dirty="0" sz="3250" spc="-60">
                <a:latin typeface="Arial MT"/>
                <a:cs typeface="Arial MT"/>
              </a:rPr>
              <a:t>proportion</a:t>
            </a:r>
            <a:r>
              <a:rPr dirty="0" sz="3250" spc="-165">
                <a:latin typeface="Arial MT"/>
                <a:cs typeface="Arial MT"/>
              </a:rPr>
              <a:t> </a:t>
            </a:r>
            <a:r>
              <a:rPr dirty="0" sz="3250">
                <a:latin typeface="Arial MT"/>
                <a:cs typeface="Arial MT"/>
              </a:rPr>
              <a:t>of</a:t>
            </a:r>
            <a:r>
              <a:rPr dirty="0" sz="3250" spc="-80">
                <a:latin typeface="Arial MT"/>
                <a:cs typeface="Arial MT"/>
              </a:rPr>
              <a:t> </a:t>
            </a:r>
            <a:r>
              <a:rPr dirty="0" sz="3250" spc="-170">
                <a:latin typeface="Arial MT"/>
                <a:cs typeface="Arial MT"/>
              </a:rPr>
              <a:t>heads</a:t>
            </a:r>
            <a:r>
              <a:rPr dirty="0" sz="3250" spc="-55">
                <a:latin typeface="Arial MT"/>
                <a:cs typeface="Arial MT"/>
              </a:rPr>
              <a:t> </a:t>
            </a:r>
            <a:r>
              <a:rPr dirty="0" sz="3250" spc="-45">
                <a:latin typeface="Arial MT"/>
                <a:cs typeface="Arial MT"/>
              </a:rPr>
              <a:t>is</a:t>
            </a:r>
            <a:r>
              <a:rPr dirty="0" sz="3250" spc="-190">
                <a:latin typeface="Arial MT"/>
                <a:cs typeface="Arial MT"/>
              </a:rPr>
              <a:t> </a:t>
            </a:r>
            <a:r>
              <a:rPr dirty="0" sz="3250" spc="-25">
                <a:latin typeface="Arial MT"/>
                <a:cs typeface="Arial MT"/>
              </a:rPr>
              <a:t>now </a:t>
            </a:r>
            <a:r>
              <a:rPr dirty="0" sz="3200" spc="-70">
                <a:latin typeface="Arial MT"/>
                <a:cs typeface="Arial MT"/>
              </a:rPr>
              <a:t>closer </a:t>
            </a:r>
            <a:r>
              <a:rPr dirty="0" sz="3200">
                <a:latin typeface="Arial MT"/>
                <a:cs typeface="Arial MT"/>
              </a:rPr>
              <a:t>to</a:t>
            </a:r>
            <a:r>
              <a:rPr dirty="0" sz="3200" spc="-19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110">
                <a:latin typeface="Arial MT"/>
                <a:cs typeface="Arial MT"/>
              </a:rPr>
              <a:t> </a:t>
            </a:r>
            <a:r>
              <a:rPr dirty="0" sz="3200" spc="-45">
                <a:latin typeface="Arial MT"/>
                <a:cs typeface="Arial MT"/>
              </a:rPr>
              <a:t>expected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210">
                <a:latin typeface="Arial MT"/>
                <a:cs typeface="Arial MT"/>
              </a:rPr>
              <a:t>50%,</a:t>
            </a:r>
            <a:r>
              <a:rPr dirty="0" sz="3200" spc="-114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but </a:t>
            </a:r>
            <a:r>
              <a:rPr dirty="0" sz="3200" spc="-70">
                <a:latin typeface="Arial MT"/>
                <a:cs typeface="Arial MT"/>
              </a:rPr>
              <a:t>stilt</a:t>
            </a:r>
            <a:r>
              <a:rPr dirty="0" sz="3200" spc="-155">
                <a:latin typeface="Arial MT"/>
                <a:cs typeface="Arial MT"/>
              </a:rPr>
              <a:t> </a:t>
            </a:r>
            <a:r>
              <a:rPr dirty="0" sz="3200" spc="-45">
                <a:latin typeface="Arial MT"/>
                <a:cs typeface="Arial MT"/>
              </a:rPr>
              <a:t>fluctuates.</a:t>
            </a:r>
            <a:r>
              <a:rPr dirty="0" sz="3200" spc="-110">
                <a:latin typeface="Arial MT"/>
                <a:cs typeface="Arial MT"/>
              </a:rPr>
              <a:t> </a:t>
            </a:r>
            <a:r>
              <a:rPr dirty="0" sz="3200" spc="-409">
                <a:latin typeface="Arial MT"/>
                <a:cs typeface="Arial MT"/>
              </a:rPr>
              <a:t>A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true</a:t>
            </a:r>
            <a:r>
              <a:rPr dirty="0" sz="3200" spc="-145">
                <a:latin typeface="Arial MT"/>
                <a:cs typeface="Arial MT"/>
              </a:rPr>
              <a:t> </a:t>
            </a:r>
            <a:r>
              <a:rPr dirty="0" sz="3200" spc="-110">
                <a:latin typeface="Arial MT"/>
                <a:cs typeface="Arial MT"/>
              </a:rPr>
              <a:t>signal</a:t>
            </a:r>
            <a:r>
              <a:rPr dirty="0" sz="3200" spc="-114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is </a:t>
            </a:r>
            <a:r>
              <a:rPr dirty="0" sz="3250" spc="-55">
                <a:latin typeface="Arial MT"/>
                <a:cs typeface="Arial MT"/>
              </a:rPr>
              <a:t>starting</a:t>
            </a:r>
            <a:r>
              <a:rPr dirty="0" sz="3250" spc="-70">
                <a:latin typeface="Arial MT"/>
                <a:cs typeface="Arial MT"/>
              </a:rPr>
              <a:t> </a:t>
            </a:r>
            <a:r>
              <a:rPr dirty="0" sz="3250">
                <a:latin typeface="Arial MT"/>
                <a:cs typeface="Arial MT"/>
              </a:rPr>
              <a:t>to</a:t>
            </a:r>
            <a:r>
              <a:rPr dirty="0" sz="3250" spc="-185">
                <a:latin typeface="Arial MT"/>
                <a:cs typeface="Arial MT"/>
              </a:rPr>
              <a:t> </a:t>
            </a:r>
            <a:r>
              <a:rPr dirty="0" sz="3250" spc="-160">
                <a:latin typeface="Arial MT"/>
                <a:cs typeface="Arial MT"/>
              </a:rPr>
              <a:t>emerge</a:t>
            </a:r>
            <a:r>
              <a:rPr dirty="0" sz="3250" spc="-65">
                <a:latin typeface="Arial MT"/>
                <a:cs typeface="Arial MT"/>
              </a:rPr>
              <a:t> </a:t>
            </a:r>
            <a:r>
              <a:rPr dirty="0" sz="3250" spc="-50">
                <a:latin typeface="Arial MT"/>
                <a:cs typeface="Arial MT"/>
              </a:rPr>
              <a:t>from</a:t>
            </a:r>
            <a:r>
              <a:rPr dirty="0" sz="3250" spc="-140">
                <a:latin typeface="Arial MT"/>
                <a:cs typeface="Arial MT"/>
              </a:rPr>
              <a:t> </a:t>
            </a:r>
            <a:r>
              <a:rPr dirty="0" sz="3250" spc="-25">
                <a:latin typeface="Arial MT"/>
                <a:cs typeface="Arial MT"/>
              </a:rPr>
              <a:t>the </a:t>
            </a:r>
            <a:r>
              <a:rPr dirty="0" sz="3250" spc="-10">
                <a:latin typeface="Cambria"/>
                <a:cs typeface="Cambria"/>
              </a:rPr>
              <a:t>noise.</a:t>
            </a:r>
            <a:endParaRPr sz="32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718046" y="2309988"/>
            <a:ext cx="19685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50">
                <a:latin typeface="Cambria"/>
                <a:cs typeface="Cambria"/>
              </a:rPr>
              <a:t>8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88863" y="3639255"/>
            <a:ext cx="40894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505">
                <a:latin typeface="Arial MT"/>
                <a:cs typeface="Arial MT"/>
              </a:rPr>
              <a:t>0.6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476163" y="5080705"/>
            <a:ext cx="42037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475">
                <a:latin typeface="Arial MT"/>
                <a:cs typeface="Arial MT"/>
              </a:rPr>
              <a:t>0.4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92057" y="6661150"/>
            <a:ext cx="40767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415">
                <a:latin typeface="Consolas"/>
                <a:cs typeface="Consolas"/>
              </a:rPr>
              <a:t>0.2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468227" y="8091310"/>
            <a:ext cx="695325" cy="7162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2760"/>
              </a:lnSpc>
              <a:spcBef>
                <a:spcPts val="135"/>
              </a:spcBef>
            </a:pPr>
            <a:r>
              <a:rPr dirty="0" sz="2600" spc="-530">
                <a:latin typeface="Courier New"/>
                <a:cs typeface="Courier New"/>
              </a:rPr>
              <a:t>0.0</a:t>
            </a:r>
            <a:endParaRPr sz="2600">
              <a:latin typeface="Courier New"/>
              <a:cs typeface="Courier New"/>
            </a:endParaRPr>
          </a:p>
          <a:p>
            <a:pPr algn="r" marR="5080">
              <a:lnSpc>
                <a:spcPts val="2640"/>
              </a:lnSpc>
            </a:pPr>
            <a:r>
              <a:rPr dirty="0" sz="2500" spc="-50">
                <a:latin typeface="Arial MT"/>
                <a:cs typeface="Arial MT"/>
              </a:rPr>
              <a:t>0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79094" y="8401050"/>
            <a:ext cx="3467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05">
                <a:latin typeface="Arial MT"/>
                <a:cs typeface="Arial MT"/>
              </a:rPr>
              <a:t>20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253627" y="8257822"/>
            <a:ext cx="2058670" cy="1066800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  <a:tabLst>
                <a:tab pos="1693545" algn="l"/>
              </a:tabLst>
            </a:pPr>
            <a:r>
              <a:rPr dirty="0" sz="2350" spc="60">
                <a:latin typeface="Cambria"/>
                <a:cs typeface="Cambria"/>
              </a:rPr>
              <a:t>40</a:t>
            </a:r>
            <a:r>
              <a:rPr dirty="0" sz="2350">
                <a:latin typeface="Cambria"/>
                <a:cs typeface="Cambria"/>
              </a:rPr>
              <a:t>	</a:t>
            </a:r>
            <a:r>
              <a:rPr dirty="0" sz="2350" spc="45">
                <a:latin typeface="Cambria"/>
                <a:cs typeface="Cambria"/>
              </a:rPr>
              <a:t>60</a:t>
            </a:r>
            <a:endParaRPr sz="2350">
              <a:latin typeface="Cambria"/>
              <a:cs typeface="Cambria"/>
            </a:endParaRPr>
          </a:p>
          <a:p>
            <a:pPr marL="19050">
              <a:lnSpc>
                <a:spcPct val="100000"/>
              </a:lnSpc>
              <a:spcBef>
                <a:spcPts val="1280"/>
              </a:spcBef>
            </a:pPr>
            <a:r>
              <a:rPr dirty="0" sz="2350" spc="-40">
                <a:latin typeface="Cambria"/>
                <a:cs typeface="Cambria"/>
              </a:rPr>
              <a:t>Number</a:t>
            </a:r>
            <a:r>
              <a:rPr dirty="0" sz="2350" spc="20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of</a:t>
            </a:r>
            <a:r>
              <a:rPr dirty="0" sz="2350" spc="85">
                <a:latin typeface="Cambria"/>
                <a:cs typeface="Cambria"/>
              </a:rPr>
              <a:t> </a:t>
            </a:r>
            <a:r>
              <a:rPr dirty="0" sz="2350" spc="-10">
                <a:latin typeface="Cambria"/>
                <a:cs typeface="Cambria"/>
              </a:rPr>
              <a:t>Flips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639543" y="8418689"/>
            <a:ext cx="37401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35">
                <a:latin typeface="Cambria"/>
                <a:cs typeface="Cambria"/>
              </a:rPr>
              <a:t>80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255339" y="8418689"/>
            <a:ext cx="50355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35">
                <a:latin typeface="Cambria"/>
                <a:cs typeface="Cambria"/>
              </a:rPr>
              <a:t>100</a:t>
            </a:r>
            <a:endParaRPr sz="2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800" y="2209800"/>
            <a:ext cx="14414500" cy="46863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0833100" y="869950"/>
            <a:ext cx="1892300" cy="0"/>
          </a:xfrm>
          <a:custGeom>
            <a:avLst/>
            <a:gdLst/>
            <a:ahLst/>
            <a:cxnLst/>
            <a:rect l="l" t="t" r="r" b="b"/>
            <a:pathLst>
              <a:path w="1892300" h="0">
                <a:moveTo>
                  <a:pt x="0" y="0"/>
                </a:moveTo>
                <a:lnTo>
                  <a:pt x="1892300" y="0"/>
                </a:lnTo>
              </a:path>
            </a:pathLst>
          </a:custGeom>
          <a:ln w="12700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170171" y="1953330"/>
            <a:ext cx="360680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690">
                <a:latin typeface="Courier New"/>
                <a:cs typeface="Courier New"/>
              </a:rPr>
              <a:t>1.0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707030" y="9448326"/>
            <a:ext cx="120650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5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348023" y="9448326"/>
            <a:ext cx="996950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1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42436" y="4320469"/>
            <a:ext cx="39687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390">
                <a:latin typeface="Consolas"/>
                <a:cs typeface="Consolas"/>
              </a:rPr>
              <a:t>0.5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19213" y="6652330"/>
            <a:ext cx="616585" cy="6731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2780"/>
              </a:lnSpc>
              <a:spcBef>
                <a:spcPts val="120"/>
              </a:spcBef>
            </a:pPr>
            <a:r>
              <a:rPr dirty="0" sz="2550" spc="-535">
                <a:latin typeface="Courier New"/>
                <a:cs typeface="Courier New"/>
              </a:rPr>
              <a:t>0.0</a:t>
            </a:r>
            <a:endParaRPr sz="2550">
              <a:latin typeface="Courier New"/>
              <a:cs typeface="Courier New"/>
            </a:endParaRPr>
          </a:p>
          <a:p>
            <a:pPr algn="r" marR="5080">
              <a:lnSpc>
                <a:spcPts val="2300"/>
              </a:lnSpc>
            </a:pPr>
            <a:r>
              <a:rPr dirty="0" sz="2150" spc="-445">
                <a:latin typeface="Cambria"/>
                <a:cs typeface="Cambria"/>
              </a:rPr>
              <a:t>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32114" y="634999"/>
            <a:ext cx="8583295" cy="9779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50" spc="60">
                <a:solidFill>
                  <a:srgbClr val="242424"/>
                </a:solidFill>
              </a:rPr>
              <a:t>The</a:t>
            </a:r>
            <a:r>
              <a:rPr dirty="0" sz="6250" spc="-310">
                <a:solidFill>
                  <a:srgbClr val="242424"/>
                </a:solidFill>
              </a:rPr>
              <a:t> </a:t>
            </a:r>
            <a:r>
              <a:rPr dirty="0" sz="6250" spc="-40">
                <a:solidFill>
                  <a:srgbClr val="232323"/>
                </a:solidFill>
              </a:rPr>
              <a:t>Inevitability</a:t>
            </a:r>
            <a:r>
              <a:rPr dirty="0" sz="6250" spc="270">
                <a:solidFill>
                  <a:srgbClr val="232323"/>
                </a:solidFill>
              </a:rPr>
              <a:t> </a:t>
            </a:r>
            <a:r>
              <a:rPr dirty="0" sz="6250" spc="204">
                <a:solidFill>
                  <a:srgbClr val="232323"/>
                </a:solidFill>
              </a:rPr>
              <a:t>of</a:t>
            </a:r>
            <a:r>
              <a:rPr dirty="0" sz="6250" spc="-340">
                <a:solidFill>
                  <a:srgbClr val="232323"/>
                </a:solidFill>
              </a:rPr>
              <a:t> </a:t>
            </a:r>
            <a:r>
              <a:rPr dirty="0" sz="6250" spc="-10">
                <a:solidFill>
                  <a:srgbClr val="262626"/>
                </a:solidFill>
              </a:rPr>
              <a:t>Truth</a:t>
            </a:r>
            <a:endParaRPr sz="6250"/>
          </a:p>
        </p:txBody>
      </p:sp>
      <p:sp>
        <p:nvSpPr>
          <p:cNvPr id="8" name="object 8" descr=""/>
          <p:cNvSpPr txBox="1"/>
          <p:nvPr/>
        </p:nvSpPr>
        <p:spPr>
          <a:xfrm>
            <a:off x="4248868" y="6954308"/>
            <a:ext cx="65659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20">
                <a:latin typeface="Cambria"/>
                <a:cs typeface="Cambria"/>
              </a:rPr>
              <a:t>2000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139490" y="6963127"/>
            <a:ext cx="66230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20">
                <a:latin typeface="Cambria"/>
                <a:cs typeface="Cambria"/>
              </a:rPr>
              <a:t>4000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591097" y="7373408"/>
            <a:ext cx="12278995" cy="1807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68300">
              <a:lnSpc>
                <a:spcPct val="100000"/>
              </a:lnSpc>
              <a:spcBef>
                <a:spcPts val="90"/>
              </a:spcBef>
            </a:pPr>
            <a:r>
              <a:rPr dirty="0" sz="2300" spc="-90">
                <a:latin typeface="Cambria"/>
                <a:cs typeface="Cambria"/>
              </a:rPr>
              <a:t>Number</a:t>
            </a:r>
            <a:r>
              <a:rPr dirty="0" sz="2300">
                <a:latin typeface="Cambria"/>
                <a:cs typeface="Cambria"/>
              </a:rPr>
              <a:t> of</a:t>
            </a:r>
            <a:r>
              <a:rPr dirty="0" sz="2300" spc="25">
                <a:latin typeface="Cambria"/>
                <a:cs typeface="Cambria"/>
              </a:rPr>
              <a:t> </a:t>
            </a:r>
            <a:r>
              <a:rPr dirty="0" sz="2300" spc="-10">
                <a:latin typeface="Cambria"/>
                <a:cs typeface="Cambria"/>
              </a:rPr>
              <a:t>Flips</a:t>
            </a:r>
            <a:endParaRPr sz="2300">
              <a:latin typeface="Cambria"/>
              <a:cs typeface="Cambria"/>
            </a:endParaRPr>
          </a:p>
          <a:p>
            <a:pPr algn="ctr" marL="12700" marR="5080" indent="10160">
              <a:lnSpc>
                <a:spcPct val="94600"/>
              </a:lnSpc>
              <a:spcBef>
                <a:spcPts val="2315"/>
              </a:spcBef>
            </a:pPr>
            <a:r>
              <a:rPr dirty="0" sz="2700" spc="-85">
                <a:latin typeface="Arial MT"/>
                <a:cs typeface="Arial MT"/>
              </a:rPr>
              <a:t>After</a:t>
            </a:r>
            <a:r>
              <a:rPr dirty="0" sz="2700" spc="-105">
                <a:latin typeface="Arial MT"/>
                <a:cs typeface="Arial MT"/>
              </a:rPr>
              <a:t> </a:t>
            </a:r>
            <a:r>
              <a:rPr dirty="0" sz="2700" spc="-70">
                <a:latin typeface="Arial MT"/>
                <a:cs typeface="Arial MT"/>
              </a:rPr>
              <a:t>ten</a:t>
            </a:r>
            <a:r>
              <a:rPr dirty="0" sz="2700" spc="-114">
                <a:latin typeface="Arial MT"/>
                <a:cs typeface="Arial MT"/>
              </a:rPr>
              <a:t> </a:t>
            </a:r>
            <a:r>
              <a:rPr dirty="0" sz="2700" spc="-135">
                <a:latin typeface="Arial MT"/>
                <a:cs typeface="Arial MT"/>
              </a:rPr>
              <a:t>thousand</a:t>
            </a:r>
            <a:r>
              <a:rPr dirty="0" sz="2700" spc="-55">
                <a:latin typeface="Arial MT"/>
                <a:cs typeface="Arial MT"/>
              </a:rPr>
              <a:t> flips,</a:t>
            </a:r>
            <a:r>
              <a:rPr dirty="0" sz="2700" spc="-130">
                <a:latin typeface="Arial MT"/>
                <a:cs typeface="Arial MT"/>
              </a:rPr>
              <a:t> </a:t>
            </a:r>
            <a:r>
              <a:rPr dirty="0" sz="2700" spc="-60">
                <a:latin typeface="Arial MT"/>
                <a:cs typeface="Arial MT"/>
              </a:rPr>
              <a:t>the</a:t>
            </a:r>
            <a:r>
              <a:rPr dirty="0" sz="2700" spc="-110">
                <a:latin typeface="Arial MT"/>
                <a:cs typeface="Arial MT"/>
              </a:rPr>
              <a:t> </a:t>
            </a:r>
            <a:r>
              <a:rPr dirty="0" sz="2700" spc="-85">
                <a:latin typeface="Arial MT"/>
                <a:cs typeface="Arial MT"/>
              </a:rPr>
              <a:t>fluctuations</a:t>
            </a:r>
            <a:r>
              <a:rPr dirty="0" sz="2700" spc="-105">
                <a:latin typeface="Arial MT"/>
                <a:cs typeface="Arial MT"/>
              </a:rPr>
              <a:t> </a:t>
            </a:r>
            <a:r>
              <a:rPr dirty="0" sz="2700" spc="-150">
                <a:latin typeface="Arial MT"/>
                <a:cs typeface="Arial MT"/>
              </a:rPr>
              <a:t>become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 spc="-114">
                <a:latin typeface="Arial MT"/>
                <a:cs typeface="Arial MT"/>
              </a:rPr>
              <a:t>negligible.</a:t>
            </a:r>
            <a:r>
              <a:rPr dirty="0" sz="2700" spc="10">
                <a:latin typeface="Arial MT"/>
                <a:cs typeface="Arial MT"/>
              </a:rPr>
              <a:t> </a:t>
            </a:r>
            <a:r>
              <a:rPr dirty="0" sz="2700" spc="-210">
                <a:latin typeface="Arial MT"/>
                <a:cs typeface="Arial MT"/>
              </a:rPr>
              <a:t>The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 spc="-70">
                <a:latin typeface="Arial MT"/>
                <a:cs typeface="Arial MT"/>
              </a:rPr>
              <a:t>proportion</a:t>
            </a:r>
            <a:r>
              <a:rPr dirty="0" sz="2700" spc="-10">
                <a:latin typeface="Arial MT"/>
                <a:cs typeface="Arial MT"/>
              </a:rPr>
              <a:t> </a:t>
            </a:r>
            <a:r>
              <a:rPr dirty="0" sz="2700" spc="-114">
                <a:latin typeface="Arial MT"/>
                <a:cs typeface="Arial MT"/>
              </a:rPr>
              <a:t>of</a:t>
            </a:r>
            <a:r>
              <a:rPr dirty="0" sz="2700" spc="-75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heads </a:t>
            </a:r>
            <a:r>
              <a:rPr dirty="0" sz="2500" spc="-25">
                <a:latin typeface="Arial MT"/>
                <a:cs typeface="Arial MT"/>
              </a:rPr>
              <a:t>converges</a:t>
            </a:r>
            <a:r>
              <a:rPr dirty="0" sz="2500" spc="114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near-</a:t>
            </a:r>
            <a:r>
              <a:rPr dirty="0" sz="2500">
                <a:latin typeface="Arial MT"/>
                <a:cs typeface="Arial MT"/>
              </a:rPr>
              <a:t>perfect</a:t>
            </a:r>
            <a:r>
              <a:rPr dirty="0" sz="2500" spc="14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precision</a:t>
            </a:r>
            <a:r>
              <a:rPr dirty="0" sz="2500" spc="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</a:t>
            </a:r>
            <a:r>
              <a:rPr dirty="0" sz="2500" spc="-1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true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probability</a:t>
            </a:r>
            <a:r>
              <a:rPr dirty="0" sz="2500" spc="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30">
                <a:latin typeface="Arial MT"/>
                <a:cs typeface="Arial MT"/>
              </a:rPr>
              <a:t> </a:t>
            </a:r>
            <a:r>
              <a:rPr dirty="0" sz="2500" spc="-114">
                <a:latin typeface="Arial MT"/>
                <a:cs typeface="Arial MT"/>
              </a:rPr>
              <a:t>50%.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unpredictability </a:t>
            </a:r>
            <a:r>
              <a:rPr dirty="0" sz="2700">
                <a:latin typeface="Arial MT"/>
                <a:cs typeface="Arial MT"/>
              </a:rPr>
              <a:t>of</a:t>
            </a:r>
            <a:r>
              <a:rPr dirty="0" sz="2700" spc="-190">
                <a:latin typeface="Arial MT"/>
                <a:cs typeface="Arial MT"/>
              </a:rPr>
              <a:t> </a:t>
            </a:r>
            <a:r>
              <a:rPr dirty="0" sz="2700" spc="-45">
                <a:latin typeface="Arial MT"/>
                <a:cs typeface="Arial MT"/>
              </a:rPr>
              <a:t>the</a:t>
            </a:r>
            <a:r>
              <a:rPr dirty="0" sz="2700" spc="-140">
                <a:latin typeface="Arial MT"/>
                <a:cs typeface="Arial MT"/>
              </a:rPr>
              <a:t> </a:t>
            </a:r>
            <a:r>
              <a:rPr dirty="0" sz="2700" spc="-125">
                <a:latin typeface="Arial MT"/>
                <a:cs typeface="Arial MT"/>
              </a:rPr>
              <a:t>single</a:t>
            </a:r>
            <a:r>
              <a:rPr dirty="0" sz="2700" spc="-65">
                <a:latin typeface="Arial MT"/>
                <a:cs typeface="Arial MT"/>
              </a:rPr>
              <a:t> flip</a:t>
            </a:r>
            <a:r>
              <a:rPr dirty="0" sz="2700" spc="-160">
                <a:latin typeface="Arial MT"/>
                <a:cs typeface="Arial MT"/>
              </a:rPr>
              <a:t> </a:t>
            </a:r>
            <a:r>
              <a:rPr dirty="0" sz="2700" spc="-30">
                <a:latin typeface="Arial MT"/>
                <a:cs typeface="Arial MT"/>
              </a:rPr>
              <a:t>is</a:t>
            </a:r>
            <a:r>
              <a:rPr dirty="0" sz="2700" spc="-155">
                <a:latin typeface="Arial MT"/>
                <a:cs typeface="Arial MT"/>
              </a:rPr>
              <a:t> </a:t>
            </a:r>
            <a:r>
              <a:rPr dirty="0" sz="2700" spc="-160">
                <a:latin typeface="Arial MT"/>
                <a:cs typeface="Arial MT"/>
              </a:rPr>
              <a:t>overcome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 spc="-95">
                <a:latin typeface="Arial MT"/>
                <a:cs typeface="Arial MT"/>
              </a:rPr>
              <a:t>by</a:t>
            </a:r>
            <a:r>
              <a:rPr dirty="0" sz="2700" spc="-90">
                <a:latin typeface="Arial MT"/>
                <a:cs typeface="Arial MT"/>
              </a:rPr>
              <a:t> </a:t>
            </a:r>
            <a:r>
              <a:rPr dirty="0" sz="2700" spc="-105">
                <a:latin typeface="Arial MT"/>
                <a:cs typeface="Arial MT"/>
              </a:rPr>
              <a:t>the</a:t>
            </a:r>
            <a:r>
              <a:rPr dirty="0" sz="2700" spc="-85">
                <a:latin typeface="Arial MT"/>
                <a:cs typeface="Arial MT"/>
              </a:rPr>
              <a:t> </a:t>
            </a:r>
            <a:r>
              <a:rPr dirty="0" sz="2700" spc="-50">
                <a:latin typeface="Arial MT"/>
                <a:cs typeface="Arial MT"/>
              </a:rPr>
              <a:t>certainty</a:t>
            </a:r>
            <a:r>
              <a:rPr dirty="0" sz="2700" spc="-5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of</a:t>
            </a:r>
            <a:r>
              <a:rPr dirty="0" sz="2700" spc="-70">
                <a:latin typeface="Arial MT"/>
                <a:cs typeface="Arial MT"/>
              </a:rPr>
              <a:t> </a:t>
            </a:r>
            <a:r>
              <a:rPr dirty="0" sz="2700" spc="-90">
                <a:latin typeface="Arial MT"/>
                <a:cs typeface="Arial MT"/>
              </a:rPr>
              <a:t>the</a:t>
            </a:r>
            <a:r>
              <a:rPr dirty="0" sz="2700" spc="-10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multitude.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015642" y="6971947"/>
            <a:ext cx="67310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55">
                <a:latin typeface="Cambria"/>
                <a:cs typeface="Cambria"/>
              </a:rPr>
              <a:t>6000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900126" y="6954308"/>
            <a:ext cx="66929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20">
                <a:latin typeface="Cambria"/>
                <a:cs typeface="Cambria"/>
              </a:rPr>
              <a:t>8000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571283" y="4049888"/>
            <a:ext cx="254317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45">
                <a:latin typeface="Cambria"/>
                <a:cs typeface="Cambria"/>
              </a:rPr>
              <a:t>Expected</a:t>
            </a:r>
            <a:r>
              <a:rPr dirty="0" sz="2350" spc="45">
                <a:latin typeface="Cambria"/>
                <a:cs typeface="Cambria"/>
              </a:rPr>
              <a:t> </a:t>
            </a:r>
            <a:r>
              <a:rPr dirty="0" sz="2350" spc="-75">
                <a:latin typeface="Cambria"/>
                <a:cs typeface="Cambria"/>
              </a:rPr>
              <a:t>Value:</a:t>
            </a:r>
            <a:r>
              <a:rPr dirty="0" sz="2350" spc="-25">
                <a:latin typeface="Cambria"/>
                <a:cs typeface="Cambria"/>
              </a:rPr>
              <a:t> </a:t>
            </a:r>
            <a:r>
              <a:rPr dirty="0" sz="2350" spc="-280">
                <a:latin typeface="Cambria"/>
                <a:cs typeface="Cambria"/>
              </a:rPr>
              <a:t>50%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5704565" y="6963127"/>
            <a:ext cx="78676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25">
                <a:latin typeface="Arial MT"/>
                <a:cs typeface="Arial MT"/>
              </a:rPr>
              <a:t>10000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89100" y="2209800"/>
            <a:ext cx="14427200" cy="4775200"/>
            <a:chOff x="1689100" y="2209800"/>
            <a:chExt cx="14427200" cy="4775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9100" y="2209800"/>
              <a:ext cx="14427200" cy="47752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20200" y="4569883"/>
              <a:ext cx="550545" cy="0"/>
            </a:xfrm>
            <a:custGeom>
              <a:avLst/>
              <a:gdLst/>
              <a:ahLst/>
              <a:cxnLst/>
              <a:rect l="l" t="t" r="r" b="b"/>
              <a:pathLst>
                <a:path w="550545" h="0">
                  <a:moveTo>
                    <a:pt x="0" y="0"/>
                  </a:moveTo>
                  <a:lnTo>
                    <a:pt x="550333" y="0"/>
                  </a:lnTo>
                </a:path>
              </a:pathLst>
            </a:custGeom>
            <a:ln w="29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242300" y="4569883"/>
              <a:ext cx="690245" cy="0"/>
            </a:xfrm>
            <a:custGeom>
              <a:avLst/>
              <a:gdLst/>
              <a:ahLst/>
              <a:cxnLst/>
              <a:rect l="l" t="t" r="r" b="b"/>
              <a:pathLst>
                <a:path w="690245" h="0">
                  <a:moveTo>
                    <a:pt x="0" y="0"/>
                  </a:moveTo>
                  <a:lnTo>
                    <a:pt x="690033" y="0"/>
                  </a:lnTo>
                </a:path>
              </a:pathLst>
            </a:custGeom>
            <a:ln w="29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658100" y="4506383"/>
              <a:ext cx="296545" cy="0"/>
            </a:xfrm>
            <a:custGeom>
              <a:avLst/>
              <a:gdLst/>
              <a:ahLst/>
              <a:cxnLst/>
              <a:rect l="l" t="t" r="r" b="b"/>
              <a:pathLst>
                <a:path w="296545" h="0">
                  <a:moveTo>
                    <a:pt x="0" y="0"/>
                  </a:moveTo>
                  <a:lnTo>
                    <a:pt x="296333" y="0"/>
                  </a:lnTo>
                </a:path>
              </a:pathLst>
            </a:custGeom>
            <a:ln w="42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96445" y="2693810"/>
            <a:ext cx="11405235" cy="9994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350" spc="80">
                <a:solidFill>
                  <a:srgbClr val="232323"/>
                </a:solidFill>
              </a:rPr>
              <a:t>This</a:t>
            </a:r>
            <a:r>
              <a:rPr dirty="0" sz="6350" spc="-275">
                <a:solidFill>
                  <a:srgbClr val="232323"/>
                </a:solidFill>
              </a:rPr>
              <a:t> </a:t>
            </a:r>
            <a:r>
              <a:rPr dirty="0" sz="6350" spc="105">
                <a:solidFill>
                  <a:srgbClr val="1F1F1F"/>
                </a:solidFill>
              </a:rPr>
              <a:t>is</a:t>
            </a:r>
            <a:r>
              <a:rPr dirty="0" sz="6350" spc="-400">
                <a:solidFill>
                  <a:srgbClr val="1F1F1F"/>
                </a:solidFill>
              </a:rPr>
              <a:t> </a:t>
            </a:r>
            <a:r>
              <a:rPr dirty="0" sz="6350" spc="50"/>
              <a:t>the</a:t>
            </a:r>
            <a:r>
              <a:rPr dirty="0" sz="6350" spc="-350"/>
              <a:t> </a:t>
            </a:r>
            <a:r>
              <a:rPr dirty="0" sz="6350"/>
              <a:t>Law</a:t>
            </a:r>
            <a:r>
              <a:rPr dirty="0" sz="6350" spc="-150"/>
              <a:t> </a:t>
            </a:r>
            <a:r>
              <a:rPr dirty="0" sz="6350" spc="100">
                <a:solidFill>
                  <a:srgbClr val="232323"/>
                </a:solidFill>
              </a:rPr>
              <a:t>of</a:t>
            </a:r>
            <a:r>
              <a:rPr dirty="0" sz="6350" spc="-210">
                <a:solidFill>
                  <a:srgbClr val="232323"/>
                </a:solidFill>
              </a:rPr>
              <a:t> </a:t>
            </a:r>
            <a:r>
              <a:rPr dirty="0" sz="6350" spc="-25">
                <a:solidFill>
                  <a:srgbClr val="161616"/>
                </a:solidFill>
              </a:rPr>
              <a:t>Large</a:t>
            </a:r>
            <a:r>
              <a:rPr dirty="0" sz="6350" spc="-295">
                <a:solidFill>
                  <a:srgbClr val="161616"/>
                </a:solidFill>
              </a:rPr>
              <a:t> </a:t>
            </a:r>
            <a:r>
              <a:rPr dirty="0" sz="6350" spc="-10">
                <a:solidFill>
                  <a:srgbClr val="1A1A1A"/>
                </a:solidFill>
              </a:rPr>
              <a:t>Numbers</a:t>
            </a:r>
            <a:endParaRPr sz="6350"/>
          </a:p>
        </p:txBody>
      </p:sp>
      <p:sp>
        <p:nvSpPr>
          <p:cNvPr id="9" name="object 9" descr=""/>
          <p:cNvSpPr txBox="1"/>
          <p:nvPr/>
        </p:nvSpPr>
        <p:spPr>
          <a:xfrm>
            <a:off x="15707030" y="9448326"/>
            <a:ext cx="120650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5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348023" y="9448326"/>
            <a:ext cx="996950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1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52437" y="4054475"/>
            <a:ext cx="10837545" cy="2926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780">
              <a:lnSpc>
                <a:spcPts val="3710"/>
              </a:lnSpc>
              <a:spcBef>
                <a:spcPts val="125"/>
              </a:spcBef>
            </a:pPr>
            <a:r>
              <a:rPr dirty="0" sz="3100" spc="-210">
                <a:latin typeface="Arial MT"/>
                <a:cs typeface="Arial MT"/>
              </a:rPr>
              <a:t>This</a:t>
            </a:r>
            <a:r>
              <a:rPr dirty="0" sz="3100" spc="-75">
                <a:latin typeface="Arial MT"/>
                <a:cs typeface="Arial MT"/>
              </a:rPr>
              <a:t> </a:t>
            </a:r>
            <a:r>
              <a:rPr dirty="0" sz="3100" spc="-145">
                <a:latin typeface="Arial MT"/>
                <a:cs typeface="Arial MT"/>
              </a:rPr>
              <a:t>powerful</a:t>
            </a:r>
            <a:r>
              <a:rPr dirty="0" sz="3100" spc="-75">
                <a:latin typeface="Arial MT"/>
                <a:cs typeface="Arial MT"/>
              </a:rPr>
              <a:t> </a:t>
            </a:r>
            <a:r>
              <a:rPr dirty="0" sz="3100" spc="-229">
                <a:latin typeface="Arial MT"/>
                <a:cs typeface="Arial MT"/>
              </a:rPr>
              <a:t>phenomenon</a:t>
            </a:r>
            <a:r>
              <a:rPr dirty="0" sz="3100" spc="15">
                <a:latin typeface="Arial MT"/>
                <a:cs typeface="Arial MT"/>
              </a:rPr>
              <a:t> </a:t>
            </a:r>
            <a:r>
              <a:rPr dirty="0" sz="3100" spc="-105">
                <a:latin typeface="Arial MT"/>
                <a:cs typeface="Arial MT"/>
              </a:rPr>
              <a:t>is</a:t>
            </a:r>
            <a:r>
              <a:rPr dirty="0" sz="3100" spc="-125">
                <a:latin typeface="Arial MT"/>
                <a:cs typeface="Arial MT"/>
              </a:rPr>
              <a:t> </a:t>
            </a:r>
            <a:r>
              <a:rPr dirty="0" sz="3100" spc="-380">
                <a:latin typeface="Arial MT"/>
                <a:cs typeface="Arial MT"/>
              </a:rPr>
              <a:t>a</a:t>
            </a:r>
            <a:r>
              <a:rPr dirty="0" sz="3100" spc="-35">
                <a:latin typeface="Arial MT"/>
                <a:cs typeface="Arial MT"/>
              </a:rPr>
              <a:t> </a:t>
            </a:r>
            <a:r>
              <a:rPr dirty="0" sz="3100" spc="-180">
                <a:latin typeface="Arial MT"/>
                <a:cs typeface="Arial MT"/>
              </a:rPr>
              <a:t>fundamental</a:t>
            </a:r>
            <a:r>
              <a:rPr dirty="0" sz="3100" spc="-25">
                <a:latin typeface="Arial MT"/>
                <a:cs typeface="Arial MT"/>
              </a:rPr>
              <a:t> </a:t>
            </a:r>
            <a:r>
              <a:rPr dirty="0" sz="3100" spc="-130">
                <a:latin typeface="Arial MT"/>
                <a:cs typeface="Arial MT"/>
              </a:rPr>
              <a:t>principle</a:t>
            </a:r>
            <a:r>
              <a:rPr dirty="0" sz="3100" spc="15">
                <a:latin typeface="Arial MT"/>
                <a:cs typeface="Arial MT"/>
              </a:rPr>
              <a:t> </a:t>
            </a:r>
            <a:r>
              <a:rPr dirty="0" sz="3100" spc="-60">
                <a:latin typeface="Arial MT"/>
                <a:cs typeface="Arial MT"/>
              </a:rPr>
              <a:t>of</a:t>
            </a:r>
            <a:r>
              <a:rPr dirty="0" sz="3100" spc="-75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probability</a:t>
            </a:r>
            <a:endParaRPr sz="3100">
              <a:latin typeface="Arial MT"/>
              <a:cs typeface="Arial MT"/>
            </a:endParaRPr>
          </a:p>
          <a:p>
            <a:pPr marL="12700">
              <a:lnSpc>
                <a:spcPts val="3829"/>
              </a:lnSpc>
            </a:pPr>
            <a:r>
              <a:rPr dirty="0" sz="3200" spc="-290">
                <a:latin typeface="Arial MT"/>
                <a:cs typeface="Arial MT"/>
              </a:rPr>
              <a:t>and</a:t>
            </a:r>
            <a:r>
              <a:rPr dirty="0" sz="3200" spc="50">
                <a:latin typeface="Arial MT"/>
                <a:cs typeface="Arial MT"/>
              </a:rPr>
              <a:t> </a:t>
            </a:r>
            <a:r>
              <a:rPr dirty="0" sz="3200" spc="-160">
                <a:latin typeface="Arial MT"/>
                <a:cs typeface="Arial MT"/>
              </a:rPr>
              <a:t>statistics.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 spc="-50">
                <a:latin typeface="Arial MT"/>
                <a:cs typeface="Arial MT"/>
              </a:rPr>
              <a:t>It</a:t>
            </a:r>
            <a:r>
              <a:rPr dirty="0" sz="3200" spc="-135">
                <a:latin typeface="Arial MT"/>
                <a:cs typeface="Arial MT"/>
              </a:rPr>
              <a:t> </a:t>
            </a:r>
            <a:r>
              <a:rPr dirty="0" sz="3200" spc="-190">
                <a:latin typeface="Arial MT"/>
                <a:cs typeface="Arial MT"/>
              </a:rPr>
              <a:t>states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that:</a:t>
            </a:r>
            <a:endParaRPr sz="3200">
              <a:latin typeface="Arial MT"/>
              <a:cs typeface="Arial MT"/>
            </a:endParaRPr>
          </a:p>
          <a:p>
            <a:pPr marL="627380" indent="-303530">
              <a:lnSpc>
                <a:spcPts val="3629"/>
              </a:lnSpc>
              <a:spcBef>
                <a:spcPts val="409"/>
              </a:spcBef>
              <a:buChar char="•"/>
              <a:tabLst>
                <a:tab pos="627380" algn="l"/>
              </a:tabLst>
            </a:pPr>
            <a:r>
              <a:rPr dirty="0" sz="3050" spc="-204">
                <a:latin typeface="Arial MT"/>
                <a:cs typeface="Arial MT"/>
              </a:rPr>
              <a:t>The</a:t>
            </a:r>
            <a:r>
              <a:rPr dirty="0" sz="3050" spc="-75">
                <a:latin typeface="Arial MT"/>
                <a:cs typeface="Arial MT"/>
              </a:rPr>
              <a:t> </a:t>
            </a:r>
            <a:r>
              <a:rPr dirty="0" sz="3050" spc="-170">
                <a:latin typeface="Arial MT"/>
                <a:cs typeface="Arial MT"/>
              </a:rPr>
              <a:t>average</a:t>
            </a:r>
            <a:r>
              <a:rPr dirty="0" sz="3050" spc="-45">
                <a:latin typeface="Arial MT"/>
                <a:cs typeface="Arial MT"/>
              </a:rPr>
              <a:t> </a:t>
            </a:r>
            <a:r>
              <a:rPr dirty="0" sz="3050" spc="-20">
                <a:latin typeface="Arial MT"/>
                <a:cs typeface="Arial MT"/>
              </a:rPr>
              <a:t>of</a:t>
            </a:r>
            <a:r>
              <a:rPr dirty="0" sz="3050" spc="-190">
                <a:latin typeface="Arial MT"/>
                <a:cs typeface="Arial MT"/>
              </a:rPr>
              <a:t> </a:t>
            </a:r>
            <a:r>
              <a:rPr dirty="0" sz="3050" spc="-100">
                <a:latin typeface="Arial MT"/>
                <a:cs typeface="Arial MT"/>
              </a:rPr>
              <a:t>results</a:t>
            </a:r>
            <a:r>
              <a:rPr dirty="0" sz="3050" spc="-114">
                <a:latin typeface="Arial MT"/>
                <a:cs typeface="Arial MT"/>
              </a:rPr>
              <a:t> </a:t>
            </a:r>
            <a:r>
              <a:rPr dirty="0" sz="3050" spc="-80">
                <a:latin typeface="Arial MT"/>
                <a:cs typeface="Arial MT"/>
              </a:rPr>
              <a:t>from</a:t>
            </a:r>
            <a:r>
              <a:rPr dirty="0" sz="3050" spc="-130">
                <a:latin typeface="Arial MT"/>
                <a:cs typeface="Arial MT"/>
              </a:rPr>
              <a:t> </a:t>
            </a:r>
            <a:r>
              <a:rPr dirty="0" sz="3050" spc="-360">
                <a:latin typeface="Arial MT"/>
                <a:cs typeface="Arial MT"/>
              </a:rPr>
              <a:t>a</a:t>
            </a:r>
            <a:r>
              <a:rPr dirty="0" sz="3050" spc="-95">
                <a:latin typeface="Arial MT"/>
                <a:cs typeface="Arial MT"/>
              </a:rPr>
              <a:t> </a:t>
            </a:r>
            <a:r>
              <a:rPr dirty="0" sz="3050" spc="-140">
                <a:latin typeface="Arial MT"/>
                <a:cs typeface="Arial MT"/>
              </a:rPr>
              <a:t>large</a:t>
            </a:r>
            <a:r>
              <a:rPr dirty="0" sz="3050" spc="-70">
                <a:latin typeface="Arial MT"/>
                <a:cs typeface="Arial MT"/>
              </a:rPr>
              <a:t> </a:t>
            </a:r>
            <a:r>
              <a:rPr dirty="0" sz="3050" spc="-145">
                <a:latin typeface="Arial MT"/>
                <a:cs typeface="Arial MT"/>
              </a:rPr>
              <a:t>number</a:t>
            </a:r>
            <a:r>
              <a:rPr dirty="0" sz="3050" spc="-20">
                <a:latin typeface="Arial MT"/>
                <a:cs typeface="Arial MT"/>
              </a:rPr>
              <a:t> </a:t>
            </a:r>
            <a:r>
              <a:rPr dirty="0" sz="3050" spc="-75">
                <a:latin typeface="Arial MT"/>
                <a:cs typeface="Arial MT"/>
              </a:rPr>
              <a:t>of</a:t>
            </a:r>
            <a:r>
              <a:rPr dirty="0" sz="3050" spc="-140">
                <a:latin typeface="Arial MT"/>
                <a:cs typeface="Arial MT"/>
              </a:rPr>
              <a:t> </a:t>
            </a:r>
            <a:r>
              <a:rPr dirty="0" sz="3050" spc="-50">
                <a:latin typeface="Arial MT"/>
                <a:cs typeface="Arial MT"/>
              </a:rPr>
              <a:t>trials</a:t>
            </a:r>
            <a:r>
              <a:rPr dirty="0" sz="3050" spc="-45">
                <a:latin typeface="Arial MT"/>
                <a:cs typeface="Arial MT"/>
              </a:rPr>
              <a:t> </a:t>
            </a:r>
            <a:r>
              <a:rPr dirty="0" sz="3050" spc="-105">
                <a:latin typeface="Arial MT"/>
                <a:cs typeface="Arial MT"/>
              </a:rPr>
              <a:t>will</a:t>
            </a:r>
            <a:r>
              <a:rPr dirty="0" sz="3050" spc="-110">
                <a:latin typeface="Arial MT"/>
                <a:cs typeface="Arial MT"/>
              </a:rPr>
              <a:t> </a:t>
            </a:r>
            <a:r>
              <a:rPr dirty="0" sz="3050" spc="-114">
                <a:latin typeface="Arial MT"/>
                <a:cs typeface="Arial MT"/>
              </a:rPr>
              <a:t>converge</a:t>
            </a:r>
            <a:endParaRPr sz="3050">
              <a:latin typeface="Arial MT"/>
              <a:cs typeface="Arial MT"/>
            </a:endParaRPr>
          </a:p>
          <a:p>
            <a:pPr marL="616585">
              <a:lnSpc>
                <a:spcPts val="3810"/>
              </a:lnSpc>
            </a:pPr>
            <a:r>
              <a:rPr dirty="0" sz="3200" spc="-200">
                <a:latin typeface="Arial MT"/>
                <a:cs typeface="Arial MT"/>
              </a:rPr>
              <a:t>towards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 spc="-150">
                <a:latin typeface="Arial MT"/>
                <a:cs typeface="Arial MT"/>
              </a:rPr>
              <a:t>the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 spc="-190">
                <a:latin typeface="Arial MT"/>
                <a:cs typeface="Arial MT"/>
              </a:rPr>
              <a:t>expected</a:t>
            </a:r>
            <a:r>
              <a:rPr dirty="0" sz="3200" spc="75">
                <a:latin typeface="Arial MT"/>
                <a:cs typeface="Arial MT"/>
              </a:rPr>
              <a:t> </a:t>
            </a:r>
            <a:r>
              <a:rPr dirty="0" sz="3200" spc="-275">
                <a:latin typeface="Arial MT"/>
                <a:cs typeface="Arial MT"/>
              </a:rPr>
              <a:t>value.</a:t>
            </a:r>
            <a:endParaRPr sz="3200">
              <a:latin typeface="Arial MT"/>
              <a:cs typeface="Arial MT"/>
            </a:endParaRPr>
          </a:p>
          <a:p>
            <a:pPr marL="636905" indent="-313690">
              <a:lnSpc>
                <a:spcPct val="100000"/>
              </a:lnSpc>
              <a:spcBef>
                <a:spcPts val="10"/>
              </a:spcBef>
              <a:buChar char="•"/>
              <a:tabLst>
                <a:tab pos="636905" algn="l"/>
              </a:tabLst>
            </a:pPr>
            <a:r>
              <a:rPr dirty="0" sz="3100" spc="-310">
                <a:latin typeface="Arial MT"/>
                <a:cs typeface="Arial MT"/>
              </a:rPr>
              <a:t>As</a:t>
            </a:r>
            <a:r>
              <a:rPr dirty="0" sz="3100" spc="-150">
                <a:latin typeface="Arial MT"/>
                <a:cs typeface="Arial MT"/>
              </a:rPr>
              <a:t> </a:t>
            </a:r>
            <a:r>
              <a:rPr dirty="0" sz="3100" spc="-125">
                <a:latin typeface="Arial MT"/>
                <a:cs typeface="Arial MT"/>
              </a:rPr>
              <a:t>the</a:t>
            </a:r>
            <a:r>
              <a:rPr dirty="0" sz="3100" spc="-110">
                <a:latin typeface="Arial MT"/>
                <a:cs typeface="Arial MT"/>
              </a:rPr>
              <a:t> </a:t>
            </a:r>
            <a:r>
              <a:rPr dirty="0" sz="3100" spc="-190">
                <a:latin typeface="Arial MT"/>
                <a:cs typeface="Arial MT"/>
              </a:rPr>
              <a:t>number</a:t>
            </a:r>
            <a:r>
              <a:rPr dirty="0" sz="3100" spc="-30">
                <a:latin typeface="Arial MT"/>
                <a:cs typeface="Arial MT"/>
              </a:rPr>
              <a:t> </a:t>
            </a:r>
            <a:r>
              <a:rPr dirty="0" sz="3100" spc="-60">
                <a:latin typeface="Arial MT"/>
                <a:cs typeface="Arial MT"/>
              </a:rPr>
              <a:t>of</a:t>
            </a:r>
            <a:r>
              <a:rPr dirty="0" sz="3100" spc="-155">
                <a:latin typeface="Arial MT"/>
                <a:cs typeface="Arial MT"/>
              </a:rPr>
              <a:t> </a:t>
            </a:r>
            <a:r>
              <a:rPr dirty="0" sz="3100" spc="-160">
                <a:latin typeface="Arial MT"/>
                <a:cs typeface="Arial MT"/>
              </a:rPr>
              <a:t>observations</a:t>
            </a:r>
            <a:r>
              <a:rPr dirty="0" sz="3100" spc="90">
                <a:latin typeface="Arial MT"/>
                <a:cs typeface="Arial MT"/>
              </a:rPr>
              <a:t> </a:t>
            </a:r>
            <a:r>
              <a:rPr dirty="0" sz="3100" spc="-175">
                <a:latin typeface="Arial MT"/>
                <a:cs typeface="Arial MT"/>
              </a:rPr>
              <a:t>increases,</a:t>
            </a:r>
            <a:r>
              <a:rPr dirty="0" sz="3100" spc="25">
                <a:latin typeface="Arial MT"/>
                <a:cs typeface="Arial MT"/>
              </a:rPr>
              <a:t> </a:t>
            </a:r>
            <a:r>
              <a:rPr dirty="0" sz="3100" spc="-120">
                <a:latin typeface="Arial MT"/>
                <a:cs typeface="Arial MT"/>
              </a:rPr>
              <a:t>the</a:t>
            </a:r>
            <a:r>
              <a:rPr dirty="0" sz="3100" spc="-100">
                <a:latin typeface="Arial MT"/>
                <a:cs typeface="Arial MT"/>
              </a:rPr>
              <a:t> </a:t>
            </a:r>
            <a:r>
              <a:rPr dirty="0" sz="3100" spc="-229">
                <a:latin typeface="Arial MT"/>
                <a:cs typeface="Arial MT"/>
              </a:rPr>
              <a:t>sample</a:t>
            </a:r>
            <a:r>
              <a:rPr dirty="0" sz="3100" spc="15">
                <a:latin typeface="Arial MT"/>
                <a:cs typeface="Arial MT"/>
              </a:rPr>
              <a:t> </a:t>
            </a:r>
            <a:r>
              <a:rPr dirty="0" sz="3100" spc="-280">
                <a:latin typeface="Arial MT"/>
                <a:cs typeface="Arial MT"/>
              </a:rPr>
              <a:t>mean</a:t>
            </a:r>
            <a:r>
              <a:rPr dirty="0" sz="3100" spc="20">
                <a:latin typeface="Arial MT"/>
                <a:cs typeface="Arial MT"/>
              </a:rPr>
              <a:t> </a:t>
            </a:r>
            <a:r>
              <a:rPr dirty="0" sz="3100" spc="-20">
                <a:latin typeface="Arial MT"/>
                <a:cs typeface="Arial MT"/>
              </a:rPr>
              <a:t>gets</a:t>
            </a:r>
            <a:endParaRPr sz="31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30"/>
              </a:spcBef>
            </a:pPr>
            <a:r>
              <a:rPr dirty="0" sz="3050" spc="-110">
                <a:latin typeface="Arial MT"/>
                <a:cs typeface="Arial MT"/>
              </a:rPr>
              <a:t>closer</a:t>
            </a:r>
            <a:r>
              <a:rPr dirty="0" sz="3050" spc="-114">
                <a:latin typeface="Arial MT"/>
                <a:cs typeface="Arial MT"/>
              </a:rPr>
              <a:t> </a:t>
            </a:r>
            <a:r>
              <a:rPr dirty="0" sz="3050" spc="-20">
                <a:latin typeface="Arial MT"/>
                <a:cs typeface="Arial MT"/>
              </a:rPr>
              <a:t>to</a:t>
            </a:r>
            <a:r>
              <a:rPr dirty="0" sz="3050" spc="-190">
                <a:latin typeface="Arial MT"/>
                <a:cs typeface="Arial MT"/>
              </a:rPr>
              <a:t> </a:t>
            </a:r>
            <a:r>
              <a:rPr dirty="0" sz="3050" spc="-70">
                <a:latin typeface="Arial MT"/>
                <a:cs typeface="Arial MT"/>
              </a:rPr>
              <a:t>the</a:t>
            </a:r>
            <a:r>
              <a:rPr dirty="0" sz="3050" spc="-145">
                <a:latin typeface="Arial MT"/>
                <a:cs typeface="Arial MT"/>
              </a:rPr>
              <a:t> </a:t>
            </a:r>
            <a:r>
              <a:rPr dirty="0" sz="3050" spc="-90">
                <a:latin typeface="Arial MT"/>
                <a:cs typeface="Arial MT"/>
              </a:rPr>
              <a:t>true</a:t>
            </a:r>
            <a:r>
              <a:rPr dirty="0" sz="3050" spc="-120">
                <a:latin typeface="Arial MT"/>
                <a:cs typeface="Arial MT"/>
              </a:rPr>
              <a:t> </a:t>
            </a:r>
            <a:r>
              <a:rPr dirty="0" sz="3050" spc="-114">
                <a:latin typeface="Arial MT"/>
                <a:cs typeface="Arial MT"/>
              </a:rPr>
              <a:t>population</a:t>
            </a:r>
            <a:r>
              <a:rPr dirty="0" sz="3050" spc="5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mean.</a:t>
            </a:r>
            <a:endParaRPr sz="3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15707030" y="9448326"/>
            <a:ext cx="120650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5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348023" y="9448326"/>
            <a:ext cx="996950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1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126490">
              <a:lnSpc>
                <a:spcPct val="100000"/>
              </a:lnSpc>
              <a:spcBef>
                <a:spcPts val="130"/>
              </a:spcBef>
            </a:pPr>
            <a:r>
              <a:rPr dirty="0" sz="6150">
                <a:solidFill>
                  <a:srgbClr val="1C1C1C"/>
                </a:solidFill>
              </a:rPr>
              <a:t>From</a:t>
            </a:r>
            <a:r>
              <a:rPr dirty="0" sz="6150" spc="-260">
                <a:solidFill>
                  <a:srgbClr val="1C1C1C"/>
                </a:solidFill>
              </a:rPr>
              <a:t> </a:t>
            </a:r>
            <a:r>
              <a:rPr dirty="0" sz="6150" spc="-10">
                <a:solidFill>
                  <a:srgbClr val="1C1C1C"/>
                </a:solidFill>
              </a:rPr>
              <a:t>Randomness</a:t>
            </a:r>
            <a:r>
              <a:rPr dirty="0" sz="6150" spc="210">
                <a:solidFill>
                  <a:srgbClr val="1C1C1C"/>
                </a:solidFill>
              </a:rPr>
              <a:t> </a:t>
            </a:r>
            <a:r>
              <a:rPr dirty="0" sz="6150"/>
              <a:t>to</a:t>
            </a:r>
            <a:r>
              <a:rPr dirty="0" sz="6150" spc="-340"/>
              <a:t> </a:t>
            </a:r>
            <a:r>
              <a:rPr dirty="0" sz="6150" spc="-65">
                <a:solidFill>
                  <a:srgbClr val="1A1A1A"/>
                </a:solidFill>
              </a:rPr>
              <a:t>Reliability</a:t>
            </a:r>
            <a:endParaRPr sz="6150"/>
          </a:p>
        </p:txBody>
      </p:sp>
      <p:sp>
        <p:nvSpPr>
          <p:cNvPr id="3" name="object 3" descr=""/>
          <p:cNvSpPr txBox="1"/>
          <p:nvPr/>
        </p:nvSpPr>
        <p:spPr>
          <a:xfrm>
            <a:off x="2366011" y="7729714"/>
            <a:ext cx="12731115" cy="138430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algn="ctr" marL="12065" marR="5080">
              <a:lnSpc>
                <a:spcPct val="96500"/>
              </a:lnSpc>
              <a:spcBef>
                <a:spcPts val="260"/>
              </a:spcBef>
            </a:pPr>
            <a:r>
              <a:rPr dirty="0" sz="2950" spc="-130">
                <a:latin typeface="Arial MT"/>
                <a:cs typeface="Arial MT"/>
              </a:rPr>
              <a:t>The</a:t>
            </a:r>
            <a:r>
              <a:rPr dirty="0" sz="2950" spc="-80">
                <a:latin typeface="Arial MT"/>
                <a:cs typeface="Arial MT"/>
              </a:rPr>
              <a:t> </a:t>
            </a:r>
            <a:r>
              <a:rPr dirty="0" sz="2950" spc="-65">
                <a:latin typeface="Arial MT"/>
                <a:cs typeface="Arial MT"/>
              </a:rPr>
              <a:t>Law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of</a:t>
            </a:r>
            <a:r>
              <a:rPr dirty="0" sz="2950" spc="-100">
                <a:latin typeface="Arial MT"/>
                <a:cs typeface="Arial MT"/>
              </a:rPr>
              <a:t> Large</a:t>
            </a:r>
            <a:r>
              <a:rPr dirty="0" sz="2950" spc="-95">
                <a:latin typeface="Arial MT"/>
                <a:cs typeface="Arial MT"/>
              </a:rPr>
              <a:t> Numbers</a:t>
            </a:r>
            <a:r>
              <a:rPr dirty="0" sz="2950" spc="-2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is</a:t>
            </a:r>
            <a:r>
              <a:rPr dirty="0" sz="2950" spc="-18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the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 spc="-95">
                <a:latin typeface="Arial MT"/>
                <a:cs typeface="Arial MT"/>
              </a:rPr>
              <a:t>engine</a:t>
            </a:r>
            <a:r>
              <a:rPr dirty="0" sz="2950" spc="-11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that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 spc="-40">
                <a:latin typeface="Arial MT"/>
                <a:cs typeface="Arial MT"/>
              </a:rPr>
              <a:t>converts</a:t>
            </a:r>
            <a:r>
              <a:rPr dirty="0" sz="2950" spc="-100">
                <a:latin typeface="Arial MT"/>
                <a:cs typeface="Arial MT"/>
              </a:rPr>
              <a:t> </a:t>
            </a:r>
            <a:r>
              <a:rPr dirty="0" sz="2950" spc="-85">
                <a:latin typeface="Arial MT"/>
                <a:cs typeface="Arial MT"/>
              </a:rPr>
              <a:t>random,</a:t>
            </a:r>
            <a:r>
              <a:rPr dirty="0" sz="2950" spc="-80">
                <a:latin typeface="Arial MT"/>
                <a:cs typeface="Arial MT"/>
              </a:rPr>
              <a:t> </a:t>
            </a:r>
            <a:r>
              <a:rPr dirty="0" sz="2950" spc="-45">
                <a:latin typeface="Arial MT"/>
                <a:cs typeface="Arial MT"/>
              </a:rPr>
              <a:t>individual</a:t>
            </a:r>
            <a:r>
              <a:rPr dirty="0" sz="2950" spc="-114">
                <a:latin typeface="Arial MT"/>
                <a:cs typeface="Arial MT"/>
              </a:rPr>
              <a:t> </a:t>
            </a:r>
            <a:r>
              <a:rPr dirty="0" sz="2950" spc="-50">
                <a:latin typeface="Arial MT"/>
                <a:cs typeface="Arial MT"/>
              </a:rPr>
              <a:t>events </a:t>
            </a:r>
            <a:r>
              <a:rPr dirty="0" sz="3100" spc="-65">
                <a:latin typeface="Arial MT"/>
                <a:cs typeface="Arial MT"/>
              </a:rPr>
              <a:t>into</a:t>
            </a:r>
            <a:r>
              <a:rPr dirty="0" sz="3100" spc="-155">
                <a:latin typeface="Arial MT"/>
                <a:cs typeface="Arial MT"/>
              </a:rPr>
              <a:t> </a:t>
            </a:r>
            <a:r>
              <a:rPr dirty="0" sz="3100" spc="-145">
                <a:latin typeface="Arial MT"/>
                <a:cs typeface="Arial MT"/>
              </a:rPr>
              <a:t>reliable,</a:t>
            </a:r>
            <a:r>
              <a:rPr dirty="0" sz="3100" spc="-70">
                <a:latin typeface="Arial MT"/>
                <a:cs typeface="Arial MT"/>
              </a:rPr>
              <a:t> </a:t>
            </a:r>
            <a:r>
              <a:rPr dirty="0" sz="3100" spc="-125">
                <a:latin typeface="Arial MT"/>
                <a:cs typeface="Arial MT"/>
              </a:rPr>
              <a:t>predictable</a:t>
            </a:r>
            <a:r>
              <a:rPr dirty="0" sz="3100" spc="-90">
                <a:latin typeface="Arial MT"/>
                <a:cs typeface="Arial MT"/>
              </a:rPr>
              <a:t> </a:t>
            </a:r>
            <a:r>
              <a:rPr dirty="0" sz="3100" spc="-175">
                <a:latin typeface="Arial MT"/>
                <a:cs typeface="Arial MT"/>
              </a:rPr>
              <a:t>outcomes.</a:t>
            </a:r>
            <a:r>
              <a:rPr dirty="0" sz="3100" spc="-40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It</a:t>
            </a:r>
            <a:r>
              <a:rPr dirty="0" sz="3100" spc="-190">
                <a:latin typeface="Arial MT"/>
                <a:cs typeface="Arial MT"/>
              </a:rPr>
              <a:t> </a:t>
            </a:r>
            <a:r>
              <a:rPr dirty="0" sz="3100" spc="-155">
                <a:latin typeface="Arial MT"/>
                <a:cs typeface="Arial MT"/>
              </a:rPr>
              <a:t>is</a:t>
            </a:r>
            <a:r>
              <a:rPr dirty="0" sz="3100" spc="-60">
                <a:latin typeface="Arial MT"/>
                <a:cs typeface="Arial MT"/>
              </a:rPr>
              <a:t> </a:t>
            </a:r>
            <a:r>
              <a:rPr dirty="0" sz="3100" spc="-90">
                <a:latin typeface="Arial MT"/>
                <a:cs typeface="Arial MT"/>
              </a:rPr>
              <a:t>this</a:t>
            </a:r>
            <a:r>
              <a:rPr dirty="0" sz="3100" spc="-125">
                <a:latin typeface="Arial MT"/>
                <a:cs typeface="Arial MT"/>
              </a:rPr>
              <a:t> </a:t>
            </a:r>
            <a:r>
              <a:rPr dirty="0" sz="3100" spc="-110">
                <a:latin typeface="Arial MT"/>
                <a:cs typeface="Arial MT"/>
              </a:rPr>
              <a:t>principle</a:t>
            </a:r>
            <a:r>
              <a:rPr dirty="0" sz="3100" spc="110">
                <a:latin typeface="Arial MT"/>
                <a:cs typeface="Arial MT"/>
              </a:rPr>
              <a:t> </a:t>
            </a:r>
            <a:r>
              <a:rPr dirty="0" sz="3100" spc="-75">
                <a:latin typeface="Arial MT"/>
                <a:cs typeface="Arial MT"/>
              </a:rPr>
              <a:t>that</a:t>
            </a:r>
            <a:r>
              <a:rPr dirty="0" sz="3100" spc="-110">
                <a:latin typeface="Arial MT"/>
                <a:cs typeface="Arial MT"/>
              </a:rPr>
              <a:t> </a:t>
            </a:r>
            <a:r>
              <a:rPr dirty="0" sz="3100" spc="-165">
                <a:latin typeface="Arial MT"/>
                <a:cs typeface="Arial MT"/>
              </a:rPr>
              <a:t>allows</a:t>
            </a:r>
            <a:r>
              <a:rPr dirty="0" sz="3100" spc="-50">
                <a:latin typeface="Arial MT"/>
                <a:cs typeface="Arial MT"/>
              </a:rPr>
              <a:t> </a:t>
            </a:r>
            <a:r>
              <a:rPr dirty="0" sz="3100" spc="-254">
                <a:latin typeface="Arial MT"/>
                <a:cs typeface="Arial MT"/>
              </a:rPr>
              <a:t>us</a:t>
            </a:r>
            <a:r>
              <a:rPr dirty="0" sz="3100" spc="-25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to</a:t>
            </a:r>
            <a:r>
              <a:rPr dirty="0" sz="3100" spc="-155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forecast, </a:t>
            </a:r>
            <a:r>
              <a:rPr dirty="0" sz="3050" spc="-125">
                <a:latin typeface="Arial MT"/>
                <a:cs typeface="Arial MT"/>
              </a:rPr>
              <a:t>plan,</a:t>
            </a:r>
            <a:r>
              <a:rPr dirty="0" sz="3050" spc="-85">
                <a:latin typeface="Arial MT"/>
                <a:cs typeface="Arial MT"/>
              </a:rPr>
              <a:t> </a:t>
            </a:r>
            <a:r>
              <a:rPr dirty="0" sz="3050" spc="-195">
                <a:latin typeface="Arial MT"/>
                <a:cs typeface="Arial MT"/>
              </a:rPr>
              <a:t>and</a:t>
            </a:r>
            <a:r>
              <a:rPr dirty="0" sz="3050" spc="-20">
                <a:latin typeface="Arial MT"/>
                <a:cs typeface="Arial MT"/>
              </a:rPr>
              <a:t> </a:t>
            </a:r>
            <a:r>
              <a:rPr dirty="0" sz="3050" spc="-80">
                <a:latin typeface="Arial MT"/>
                <a:cs typeface="Arial MT"/>
              </a:rPr>
              <a:t>build</a:t>
            </a:r>
            <a:r>
              <a:rPr dirty="0" sz="3050" spc="-135">
                <a:latin typeface="Arial MT"/>
                <a:cs typeface="Arial MT"/>
              </a:rPr>
              <a:t> </a:t>
            </a:r>
            <a:r>
              <a:rPr dirty="0" sz="3050" spc="-145">
                <a:latin typeface="Arial MT"/>
                <a:cs typeface="Arial MT"/>
              </a:rPr>
              <a:t>systems</a:t>
            </a:r>
            <a:r>
              <a:rPr dirty="0" sz="3050" spc="-65">
                <a:latin typeface="Arial MT"/>
                <a:cs typeface="Arial MT"/>
              </a:rPr>
              <a:t> </a:t>
            </a:r>
            <a:r>
              <a:rPr dirty="0" sz="3050" spc="-30">
                <a:latin typeface="Arial MT"/>
                <a:cs typeface="Arial MT"/>
              </a:rPr>
              <a:t>in</a:t>
            </a:r>
            <a:r>
              <a:rPr dirty="0" sz="3050" spc="-185">
                <a:latin typeface="Arial MT"/>
                <a:cs typeface="Arial MT"/>
              </a:rPr>
              <a:t> </a:t>
            </a:r>
            <a:r>
              <a:rPr dirty="0" sz="3050" spc="-360">
                <a:latin typeface="Arial MT"/>
                <a:cs typeface="Arial MT"/>
              </a:rPr>
              <a:t>a</a:t>
            </a:r>
            <a:r>
              <a:rPr dirty="0" sz="3050" spc="95">
                <a:latin typeface="Arial MT"/>
                <a:cs typeface="Arial MT"/>
              </a:rPr>
              <a:t> </a:t>
            </a:r>
            <a:r>
              <a:rPr dirty="0" sz="3050" spc="-100">
                <a:latin typeface="Arial MT"/>
                <a:cs typeface="Arial MT"/>
              </a:rPr>
              <a:t>world</a:t>
            </a:r>
            <a:r>
              <a:rPr dirty="0" sz="3050" spc="-114">
                <a:latin typeface="Arial MT"/>
                <a:cs typeface="Arial MT"/>
              </a:rPr>
              <a:t> </a:t>
            </a:r>
            <a:r>
              <a:rPr dirty="0" sz="3050" spc="-85">
                <a:latin typeface="Arial MT"/>
                <a:cs typeface="Arial MT"/>
              </a:rPr>
              <a:t>that</a:t>
            </a:r>
            <a:r>
              <a:rPr dirty="0" sz="3050" spc="-130">
                <a:latin typeface="Arial MT"/>
                <a:cs typeface="Arial MT"/>
              </a:rPr>
              <a:t> </a:t>
            </a:r>
            <a:r>
              <a:rPr dirty="0" sz="3050" spc="-50">
                <a:latin typeface="Arial MT"/>
                <a:cs typeface="Arial MT"/>
              </a:rPr>
              <a:t>is</a:t>
            </a:r>
            <a:r>
              <a:rPr dirty="0" sz="3050" spc="-160">
                <a:latin typeface="Arial MT"/>
                <a:cs typeface="Arial MT"/>
              </a:rPr>
              <a:t> </a:t>
            </a:r>
            <a:r>
              <a:rPr dirty="0" sz="3050" spc="-90">
                <a:latin typeface="Arial MT"/>
                <a:cs typeface="Arial MT"/>
              </a:rPr>
              <a:t>inherently</a:t>
            </a:r>
            <a:r>
              <a:rPr dirty="0" sz="3050" spc="-5">
                <a:latin typeface="Arial MT"/>
                <a:cs typeface="Arial MT"/>
              </a:rPr>
              <a:t> </a:t>
            </a:r>
            <a:r>
              <a:rPr dirty="0" sz="3050" spc="-20">
                <a:latin typeface="Arial MT"/>
                <a:cs typeface="Arial MT"/>
              </a:rPr>
              <a:t>uncertain.</a:t>
            </a:r>
            <a:endParaRPr sz="3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4940300"/>
            <a:ext cx="2235200" cy="2222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07300" y="4953000"/>
            <a:ext cx="2260600" cy="2222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6400" y="4876800"/>
            <a:ext cx="1727200" cy="2374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52029" y="746830"/>
            <a:ext cx="11431270" cy="988694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300" spc="130">
                <a:solidFill>
                  <a:srgbClr val="242424"/>
                </a:solidFill>
              </a:rPr>
              <a:t>The</a:t>
            </a:r>
            <a:r>
              <a:rPr dirty="0" sz="6300" spc="-165">
                <a:solidFill>
                  <a:srgbClr val="242424"/>
                </a:solidFill>
              </a:rPr>
              <a:t> </a:t>
            </a:r>
            <a:r>
              <a:rPr dirty="0" sz="6300" spc="55"/>
              <a:t>Bedrock</a:t>
            </a:r>
            <a:r>
              <a:rPr dirty="0" sz="6300" spc="220"/>
              <a:t> </a:t>
            </a:r>
            <a:r>
              <a:rPr dirty="0" sz="6300" spc="229">
                <a:solidFill>
                  <a:srgbClr val="282828"/>
                </a:solidFill>
              </a:rPr>
              <a:t>of</a:t>
            </a:r>
            <a:r>
              <a:rPr dirty="0" sz="6300" spc="-155">
                <a:solidFill>
                  <a:srgbClr val="282828"/>
                </a:solidFill>
              </a:rPr>
              <a:t> </a:t>
            </a:r>
            <a:r>
              <a:rPr dirty="0" sz="6300" spc="100">
                <a:solidFill>
                  <a:srgbClr val="232323"/>
                </a:solidFill>
              </a:rPr>
              <a:t>Modern</a:t>
            </a:r>
            <a:r>
              <a:rPr dirty="0" sz="6300" spc="-60">
                <a:solidFill>
                  <a:srgbClr val="232323"/>
                </a:solidFill>
              </a:rPr>
              <a:t> </a:t>
            </a:r>
            <a:r>
              <a:rPr dirty="0" sz="6300" spc="-10">
                <a:solidFill>
                  <a:srgbClr val="242424"/>
                </a:solidFill>
              </a:rPr>
              <a:t>Industry</a:t>
            </a:r>
            <a:endParaRPr sz="6300"/>
          </a:p>
        </p:txBody>
      </p:sp>
      <p:sp>
        <p:nvSpPr>
          <p:cNvPr id="6" name="object 6" descr=""/>
          <p:cNvSpPr txBox="1"/>
          <p:nvPr/>
        </p:nvSpPr>
        <p:spPr>
          <a:xfrm>
            <a:off x="960145" y="1935338"/>
            <a:ext cx="14877415" cy="161734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 marR="5080" indent="19685">
              <a:lnSpc>
                <a:spcPts val="4100"/>
              </a:lnSpc>
              <a:spcBef>
                <a:spcPts val="430"/>
              </a:spcBef>
            </a:pPr>
            <a:r>
              <a:rPr dirty="0" sz="3600" spc="-75">
                <a:latin typeface="Arial MT"/>
                <a:cs typeface="Arial MT"/>
              </a:rPr>
              <a:t>This</a:t>
            </a:r>
            <a:r>
              <a:rPr dirty="0" sz="3600" spc="-120">
                <a:latin typeface="Arial MT"/>
                <a:cs typeface="Arial MT"/>
              </a:rPr>
              <a:t> </a:t>
            </a:r>
            <a:r>
              <a:rPr dirty="0" sz="3600" spc="-25">
                <a:latin typeface="Arial MT"/>
                <a:cs typeface="Arial MT"/>
              </a:rPr>
              <a:t>principle</a:t>
            </a:r>
            <a:r>
              <a:rPr dirty="0" sz="3600" spc="-10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is</a:t>
            </a:r>
            <a:r>
              <a:rPr dirty="0" sz="3600" spc="-17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not</a:t>
            </a:r>
            <a:r>
              <a:rPr dirty="0" sz="3600" spc="-35">
                <a:latin typeface="Arial MT"/>
                <a:cs typeface="Arial MT"/>
              </a:rPr>
              <a:t> </a:t>
            </a:r>
            <a:r>
              <a:rPr dirty="0" sz="3600" spc="-45">
                <a:latin typeface="Arial MT"/>
                <a:cs typeface="Arial MT"/>
              </a:rPr>
              <a:t>merely</a:t>
            </a:r>
            <a:r>
              <a:rPr dirty="0" sz="3600" spc="35">
                <a:latin typeface="Arial MT"/>
                <a:cs typeface="Arial MT"/>
              </a:rPr>
              <a:t> </a:t>
            </a:r>
            <a:r>
              <a:rPr dirty="0" sz="3600" spc="-75">
                <a:latin typeface="Arial MT"/>
                <a:cs typeface="Arial MT"/>
              </a:rPr>
              <a:t>academic.</a:t>
            </a:r>
            <a:r>
              <a:rPr dirty="0" sz="3600" spc="-8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It</a:t>
            </a:r>
            <a:r>
              <a:rPr dirty="0" sz="3600" spc="-25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is</a:t>
            </a:r>
            <a:r>
              <a:rPr dirty="0" sz="3600" spc="-180">
                <a:latin typeface="Arial MT"/>
                <a:cs typeface="Arial MT"/>
              </a:rPr>
              <a:t> </a:t>
            </a:r>
            <a:r>
              <a:rPr dirty="0" sz="3600" spc="-25">
                <a:latin typeface="Arial MT"/>
                <a:cs typeface="Arial MT"/>
              </a:rPr>
              <a:t>crucial</a:t>
            </a:r>
            <a:r>
              <a:rPr dirty="0" sz="3600" spc="-17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in</a:t>
            </a:r>
            <a:r>
              <a:rPr dirty="0" sz="3600" spc="-16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fields</a:t>
            </a:r>
            <a:r>
              <a:rPr dirty="0" sz="3600" spc="-7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that</a:t>
            </a:r>
            <a:r>
              <a:rPr dirty="0" sz="3600" spc="-5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manage </a:t>
            </a:r>
            <a:r>
              <a:rPr dirty="0" sz="3600" spc="-75">
                <a:latin typeface="Arial MT"/>
                <a:cs typeface="Arial MT"/>
              </a:rPr>
              <a:t>immense</a:t>
            </a:r>
            <a:r>
              <a:rPr dirty="0" sz="3600" spc="-18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risk</a:t>
            </a:r>
            <a:r>
              <a:rPr dirty="0" sz="3600" spc="-250">
                <a:latin typeface="Arial MT"/>
                <a:cs typeface="Arial MT"/>
              </a:rPr>
              <a:t> </a:t>
            </a:r>
            <a:r>
              <a:rPr dirty="0" sz="3600" spc="-40">
                <a:latin typeface="Arial MT"/>
                <a:cs typeface="Arial MT"/>
              </a:rPr>
              <a:t>and</a:t>
            </a:r>
            <a:r>
              <a:rPr dirty="0" sz="3600" spc="-210">
                <a:latin typeface="Arial MT"/>
                <a:cs typeface="Arial MT"/>
              </a:rPr>
              <a:t> </a:t>
            </a:r>
            <a:r>
              <a:rPr dirty="0" sz="3600" spc="-60">
                <a:latin typeface="Arial MT"/>
                <a:cs typeface="Arial MT"/>
              </a:rPr>
              <a:t>shape</a:t>
            </a:r>
            <a:r>
              <a:rPr dirty="0" sz="3600" spc="-18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our</a:t>
            </a:r>
            <a:r>
              <a:rPr dirty="0" sz="3600" spc="-140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future,</a:t>
            </a:r>
            <a:r>
              <a:rPr dirty="0" sz="3600" spc="-240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providing</a:t>
            </a:r>
            <a:r>
              <a:rPr dirty="0" sz="3600" spc="-90">
                <a:latin typeface="Arial MT"/>
                <a:cs typeface="Arial MT"/>
              </a:rPr>
              <a:t> </a:t>
            </a:r>
            <a:r>
              <a:rPr dirty="0" sz="3600" spc="-300">
                <a:latin typeface="Arial MT"/>
                <a:cs typeface="Arial MT"/>
              </a:rPr>
              <a:t>a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 spc="-35">
                <a:latin typeface="Arial MT"/>
                <a:cs typeface="Arial MT"/>
              </a:rPr>
              <a:t>reliable</a:t>
            </a:r>
            <a:r>
              <a:rPr dirty="0" sz="3600" spc="-130">
                <a:latin typeface="Arial MT"/>
                <a:cs typeface="Arial MT"/>
              </a:rPr>
              <a:t> </a:t>
            </a:r>
            <a:r>
              <a:rPr dirty="0" sz="3600" spc="-45">
                <a:latin typeface="Arial MT"/>
                <a:cs typeface="Arial MT"/>
              </a:rPr>
              <a:t>basis</a:t>
            </a:r>
            <a:r>
              <a:rPr dirty="0" sz="3600" spc="-18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for</a:t>
            </a:r>
            <a:r>
              <a:rPr dirty="0" sz="3600" spc="-155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predictions </a:t>
            </a:r>
            <a:r>
              <a:rPr dirty="0" sz="3600" spc="-50">
                <a:latin typeface="Arial MT"/>
                <a:cs typeface="Arial MT"/>
              </a:rPr>
              <a:t>and</a:t>
            </a:r>
            <a:r>
              <a:rPr dirty="0" sz="3600" spc="-20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risk</a:t>
            </a:r>
            <a:r>
              <a:rPr dirty="0" sz="3600" spc="-204">
                <a:latin typeface="Arial MT"/>
                <a:cs typeface="Arial MT"/>
              </a:rPr>
              <a:t> </a:t>
            </a:r>
            <a:r>
              <a:rPr dirty="0" sz="3600" spc="-25">
                <a:latin typeface="Arial MT"/>
                <a:cs typeface="Arial MT"/>
              </a:rPr>
              <a:t>assessment.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694326" y="8302977"/>
            <a:ext cx="1531620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55">
                <a:latin typeface="Arial MT"/>
                <a:cs typeface="Arial MT"/>
              </a:rPr>
              <a:t>Finance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755849" y="8294158"/>
            <a:ext cx="1921510" cy="565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 spc="-75">
                <a:latin typeface="Arial MT"/>
                <a:cs typeface="Arial MT"/>
              </a:rPr>
              <a:t>Insurance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070194" y="8294158"/>
            <a:ext cx="3775075" cy="565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>
                <a:latin typeface="Arial MT"/>
                <a:cs typeface="Arial MT"/>
              </a:rPr>
              <a:t>Scientific</a:t>
            </a:r>
            <a:r>
              <a:rPr dirty="0" sz="3550" spc="-25">
                <a:latin typeface="Arial MT"/>
                <a:cs typeface="Arial MT"/>
              </a:rPr>
              <a:t> </a:t>
            </a:r>
            <a:r>
              <a:rPr dirty="0" sz="3550" spc="-105">
                <a:latin typeface="Arial MT"/>
                <a:cs typeface="Arial MT"/>
              </a:rPr>
              <a:t>Research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300" y="4140200"/>
            <a:ext cx="1549400" cy="1473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2200" y="2413000"/>
            <a:ext cx="50800" cy="68453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6300" y="3606800"/>
            <a:ext cx="2527300" cy="25273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30300" y="3606800"/>
            <a:ext cx="2527300" cy="25273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232323"/>
                </a:solidFill>
              </a:rPr>
              <a:t>The</a:t>
            </a:r>
            <a:r>
              <a:rPr dirty="0" spc="-165">
                <a:solidFill>
                  <a:srgbClr val="232323"/>
                </a:solidFill>
              </a:rPr>
              <a:t> </a:t>
            </a:r>
            <a:r>
              <a:rPr dirty="0"/>
              <a:t>Economics</a:t>
            </a:r>
            <a:r>
              <a:rPr dirty="0" spc="275"/>
              <a:t> </a:t>
            </a:r>
            <a:r>
              <a:rPr dirty="0" spc="210">
                <a:solidFill>
                  <a:srgbClr val="2A2A2A"/>
                </a:solidFill>
              </a:rPr>
              <a:t>of</a:t>
            </a:r>
            <a:r>
              <a:rPr dirty="0" spc="-305">
                <a:solidFill>
                  <a:srgbClr val="2A2A2A"/>
                </a:solidFill>
              </a:rPr>
              <a:t> </a:t>
            </a:r>
            <a:r>
              <a:rPr dirty="0" spc="-10"/>
              <a:t>Predictability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113648" y="2306108"/>
            <a:ext cx="10964545" cy="755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76665" algn="l"/>
              </a:tabLst>
            </a:pPr>
            <a:r>
              <a:rPr dirty="0" sz="4800" spc="-10">
                <a:solidFill>
                  <a:srgbClr val="1F1F1F"/>
                </a:solidFill>
                <a:latin typeface="Cambria"/>
                <a:cs typeface="Cambria"/>
              </a:rPr>
              <a:t>Insurance</a:t>
            </a:r>
            <a:r>
              <a:rPr dirty="0" sz="4800">
                <a:solidFill>
                  <a:srgbClr val="1F1F1F"/>
                </a:solidFill>
                <a:latin typeface="Cambria"/>
                <a:cs typeface="Cambria"/>
              </a:rPr>
              <a:t>	</a:t>
            </a:r>
            <a:r>
              <a:rPr dirty="0" sz="4800" spc="-10">
                <a:solidFill>
                  <a:srgbClr val="232323"/>
                </a:solidFill>
                <a:latin typeface="Cambria"/>
                <a:cs typeface="Cambria"/>
              </a:rPr>
              <a:t>Finance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51444" y="6903155"/>
            <a:ext cx="7378065" cy="232918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 indent="10795">
              <a:lnSpc>
                <a:spcPct val="108800"/>
              </a:lnSpc>
              <a:spcBef>
                <a:spcPts val="155"/>
              </a:spcBef>
            </a:pPr>
            <a:r>
              <a:rPr dirty="0" sz="2750" spc="-65">
                <a:latin typeface="Arial MT"/>
                <a:cs typeface="Arial MT"/>
              </a:rPr>
              <a:t>An</a:t>
            </a:r>
            <a:r>
              <a:rPr dirty="0" sz="2750" spc="-11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insurer</a:t>
            </a:r>
            <a:r>
              <a:rPr dirty="0" sz="2750" spc="9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cannot</a:t>
            </a:r>
            <a:r>
              <a:rPr dirty="0" sz="2750" spc="3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predict</a:t>
            </a:r>
            <a:r>
              <a:rPr dirty="0" sz="2750" spc="-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if</a:t>
            </a:r>
            <a:r>
              <a:rPr dirty="0" sz="2750" spc="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</a:t>
            </a:r>
            <a:r>
              <a:rPr dirty="0" sz="2750" spc="-4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specific</a:t>
            </a:r>
            <a:r>
              <a:rPr dirty="0" sz="2750" spc="10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house</a:t>
            </a:r>
            <a:r>
              <a:rPr dirty="0" sz="2750" spc="5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will </a:t>
            </a:r>
            <a:r>
              <a:rPr dirty="0" sz="2750">
                <a:latin typeface="Arial MT"/>
                <a:cs typeface="Arial MT"/>
              </a:rPr>
              <a:t>have</a:t>
            </a:r>
            <a:r>
              <a:rPr dirty="0" sz="2750" spc="-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</a:t>
            </a:r>
            <a:r>
              <a:rPr dirty="0" sz="2750" spc="-6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fire.</a:t>
            </a:r>
            <a:r>
              <a:rPr dirty="0" sz="2750" spc="-1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But</a:t>
            </a:r>
            <a:r>
              <a:rPr dirty="0" sz="2750" spc="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with</a:t>
            </a:r>
            <a:r>
              <a:rPr dirty="0" sz="2750" spc="-6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data</a:t>
            </a:r>
            <a:r>
              <a:rPr dirty="0" sz="2750" spc="1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on</a:t>
            </a:r>
            <a:r>
              <a:rPr dirty="0" sz="2750" spc="-7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millions</a:t>
            </a:r>
            <a:r>
              <a:rPr dirty="0" sz="2750" spc="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</a:t>
            </a:r>
            <a:r>
              <a:rPr dirty="0" sz="2750" spc="-2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homes, </a:t>
            </a:r>
            <a:r>
              <a:rPr dirty="0" sz="2900" spc="-30">
                <a:latin typeface="Arial MT"/>
                <a:cs typeface="Arial MT"/>
              </a:rPr>
              <a:t>they</a:t>
            </a:r>
            <a:r>
              <a:rPr dirty="0" sz="2900" spc="-170">
                <a:latin typeface="Arial MT"/>
                <a:cs typeface="Arial MT"/>
              </a:rPr>
              <a:t> </a:t>
            </a:r>
            <a:r>
              <a:rPr dirty="0" sz="2900" spc="-100">
                <a:latin typeface="Arial MT"/>
                <a:cs typeface="Arial MT"/>
              </a:rPr>
              <a:t>can </a:t>
            </a:r>
            <a:r>
              <a:rPr dirty="0" sz="2900" spc="-150">
                <a:latin typeface="Arial MT"/>
                <a:cs typeface="Arial MT"/>
              </a:rPr>
              <a:t>use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the</a:t>
            </a:r>
            <a:r>
              <a:rPr dirty="0" sz="2900" spc="-200">
                <a:latin typeface="Arial MT"/>
                <a:cs typeface="Arial MT"/>
              </a:rPr>
              <a:t> </a:t>
            </a:r>
            <a:r>
              <a:rPr dirty="0" sz="2900" spc="-175">
                <a:latin typeface="Arial MT"/>
                <a:cs typeface="Arial MT"/>
              </a:rPr>
              <a:t>Law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of</a:t>
            </a:r>
            <a:r>
              <a:rPr dirty="0" sz="2900" spc="-70">
                <a:latin typeface="Arial MT"/>
                <a:cs typeface="Arial MT"/>
              </a:rPr>
              <a:t> </a:t>
            </a:r>
            <a:r>
              <a:rPr dirty="0" sz="2900" spc="-125">
                <a:latin typeface="Arial MT"/>
                <a:cs typeface="Arial MT"/>
              </a:rPr>
              <a:t>Large</a:t>
            </a:r>
            <a:r>
              <a:rPr dirty="0" sz="2900" spc="-75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Numbers</a:t>
            </a:r>
            <a:r>
              <a:rPr dirty="0" sz="2900" spc="85">
                <a:latin typeface="Arial MT"/>
                <a:cs typeface="Arial MT"/>
              </a:rPr>
              <a:t> </a:t>
            </a:r>
            <a:r>
              <a:rPr dirty="0" sz="2900" spc="-35">
                <a:latin typeface="Arial MT"/>
                <a:cs typeface="Arial MT"/>
              </a:rPr>
              <a:t>to </a:t>
            </a:r>
            <a:r>
              <a:rPr dirty="0" sz="2750">
                <a:latin typeface="Arial MT"/>
                <a:cs typeface="Arial MT"/>
              </a:rPr>
              <a:t>accurately</a:t>
            </a:r>
            <a:r>
              <a:rPr dirty="0" sz="2750" spc="1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forecast</a:t>
            </a:r>
            <a:r>
              <a:rPr dirty="0" sz="2750" spc="17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the</a:t>
            </a:r>
            <a:r>
              <a:rPr dirty="0" sz="2750" spc="-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total</a:t>
            </a:r>
            <a:r>
              <a:rPr dirty="0" sz="2750" spc="-1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number</a:t>
            </a:r>
            <a:r>
              <a:rPr dirty="0" sz="2750" spc="21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</a:t>
            </a:r>
            <a:r>
              <a:rPr dirty="0" sz="2750" spc="1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claims, </a:t>
            </a:r>
            <a:r>
              <a:rPr dirty="0" sz="2700">
                <a:latin typeface="Arial MT"/>
                <a:cs typeface="Arial MT"/>
              </a:rPr>
              <a:t>allowing</a:t>
            </a:r>
            <a:r>
              <a:rPr dirty="0" sz="2700" spc="9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them</a:t>
            </a:r>
            <a:r>
              <a:rPr dirty="0" sz="2700" spc="-10">
                <a:latin typeface="Arial MT"/>
                <a:cs typeface="Arial MT"/>
              </a:rPr>
              <a:t> </a:t>
            </a:r>
            <a:r>
              <a:rPr dirty="0" sz="2700" spc="75">
                <a:latin typeface="Arial MT"/>
                <a:cs typeface="Arial MT"/>
              </a:rPr>
              <a:t>to </a:t>
            </a:r>
            <a:r>
              <a:rPr dirty="0" sz="2700">
                <a:latin typeface="Arial MT"/>
                <a:cs typeface="Arial MT"/>
              </a:rPr>
              <a:t>set</a:t>
            </a:r>
            <a:r>
              <a:rPr dirty="0" sz="2700" spc="14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viable</a:t>
            </a:r>
            <a:r>
              <a:rPr dirty="0" sz="2700" spc="85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premiums.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359531" y="6912740"/>
            <a:ext cx="7985125" cy="2753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44550" indent="13335">
              <a:lnSpc>
                <a:spcPct val="108300"/>
              </a:lnSpc>
              <a:spcBef>
                <a:spcPts val="95"/>
              </a:spcBef>
            </a:pPr>
            <a:r>
              <a:rPr dirty="0" sz="2750" spc="-295">
                <a:latin typeface="Arial MT"/>
                <a:cs typeface="Arial MT"/>
              </a:rPr>
              <a:t>A</a:t>
            </a:r>
            <a:r>
              <a:rPr dirty="0" sz="2750" spc="9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single</a:t>
            </a:r>
            <a:r>
              <a:rPr dirty="0" sz="2750" spc="-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stock</a:t>
            </a:r>
            <a:r>
              <a:rPr dirty="0" sz="2750" spc="-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is</a:t>
            </a:r>
            <a:r>
              <a:rPr dirty="0" sz="2750" spc="-8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unpredictable.</a:t>
            </a:r>
            <a:r>
              <a:rPr dirty="0" sz="2750" spc="-9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By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diversifying </a:t>
            </a:r>
            <a:r>
              <a:rPr dirty="0" sz="2850">
                <a:latin typeface="Arial MT"/>
                <a:cs typeface="Arial MT"/>
              </a:rPr>
              <a:t>a</a:t>
            </a:r>
            <a:r>
              <a:rPr dirty="0" sz="2850" spc="-20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portfolio</a:t>
            </a:r>
            <a:r>
              <a:rPr dirty="0" sz="2850" spc="-90">
                <a:latin typeface="Arial MT"/>
                <a:cs typeface="Arial MT"/>
              </a:rPr>
              <a:t> </a:t>
            </a:r>
            <a:r>
              <a:rPr dirty="0" sz="2850" spc="-75">
                <a:latin typeface="Arial MT"/>
                <a:cs typeface="Arial MT"/>
              </a:rPr>
              <a:t>across</a:t>
            </a:r>
            <a:r>
              <a:rPr dirty="0" sz="2850" spc="-85">
                <a:latin typeface="Arial MT"/>
                <a:cs typeface="Arial MT"/>
              </a:rPr>
              <a:t> </a:t>
            </a:r>
            <a:r>
              <a:rPr dirty="0" sz="2850" spc="-125">
                <a:latin typeface="Arial MT"/>
                <a:cs typeface="Arial MT"/>
              </a:rPr>
              <a:t>many</a:t>
            </a:r>
            <a:r>
              <a:rPr dirty="0" sz="2850" spc="-55">
                <a:latin typeface="Arial MT"/>
                <a:cs typeface="Arial MT"/>
              </a:rPr>
              <a:t> </a:t>
            </a:r>
            <a:r>
              <a:rPr dirty="0" sz="2850" spc="-90">
                <a:latin typeface="Arial MT"/>
                <a:cs typeface="Arial MT"/>
              </a:rPr>
              <a:t>assets,</a:t>
            </a:r>
            <a:r>
              <a:rPr dirty="0" sz="2850" spc="-110">
                <a:latin typeface="Arial MT"/>
                <a:cs typeface="Arial MT"/>
              </a:rPr>
              <a:t> </a:t>
            </a:r>
            <a:r>
              <a:rPr dirty="0" sz="2850" spc="-45">
                <a:latin typeface="Arial MT"/>
                <a:cs typeface="Arial MT"/>
              </a:rPr>
              <a:t>investors</a:t>
            </a:r>
            <a:r>
              <a:rPr dirty="0" sz="2850" spc="-35">
                <a:latin typeface="Arial MT"/>
                <a:cs typeface="Arial MT"/>
              </a:rPr>
              <a:t> </a:t>
            </a:r>
            <a:r>
              <a:rPr dirty="0" sz="2850" spc="-20">
                <a:latin typeface="Arial MT"/>
                <a:cs typeface="Arial MT"/>
              </a:rPr>
              <a:t>rely </a:t>
            </a:r>
            <a:r>
              <a:rPr dirty="0" sz="2850">
                <a:latin typeface="Arial MT"/>
                <a:cs typeface="Arial MT"/>
              </a:rPr>
              <a:t>on</a:t>
            </a:r>
            <a:r>
              <a:rPr dirty="0" sz="2850" spc="-155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the</a:t>
            </a:r>
            <a:r>
              <a:rPr dirty="0" sz="2850" spc="-160">
                <a:latin typeface="Arial MT"/>
                <a:cs typeface="Arial MT"/>
              </a:rPr>
              <a:t> </a:t>
            </a:r>
            <a:r>
              <a:rPr dirty="0" sz="2850" spc="-55">
                <a:latin typeface="Arial MT"/>
                <a:cs typeface="Arial MT"/>
              </a:rPr>
              <a:t>law</a:t>
            </a:r>
            <a:r>
              <a:rPr dirty="0" sz="2850" spc="-4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to</a:t>
            </a:r>
            <a:r>
              <a:rPr dirty="0" sz="2850" spc="-200">
                <a:latin typeface="Arial MT"/>
                <a:cs typeface="Arial MT"/>
              </a:rPr>
              <a:t> </a:t>
            </a:r>
            <a:r>
              <a:rPr dirty="0" sz="2850" spc="-95">
                <a:latin typeface="Arial MT"/>
                <a:cs typeface="Arial MT"/>
              </a:rPr>
              <a:t>ensure</a:t>
            </a:r>
            <a:r>
              <a:rPr dirty="0" sz="2850" spc="-10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the</a:t>
            </a:r>
            <a:r>
              <a:rPr dirty="0" sz="2850" spc="-180">
                <a:latin typeface="Arial MT"/>
                <a:cs typeface="Arial MT"/>
              </a:rPr>
              <a:t> </a:t>
            </a:r>
            <a:r>
              <a:rPr dirty="0" sz="2850" spc="-85">
                <a:latin typeface="Arial MT"/>
                <a:cs typeface="Arial MT"/>
              </a:rPr>
              <a:t>average</a:t>
            </a:r>
            <a:r>
              <a:rPr dirty="0" sz="2850" spc="-35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return</a:t>
            </a:r>
            <a:r>
              <a:rPr dirty="0" sz="2850" spc="-9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of</a:t>
            </a:r>
            <a:r>
              <a:rPr dirty="0" sz="2850" spc="-85">
                <a:latin typeface="Arial MT"/>
                <a:cs typeface="Arial MT"/>
              </a:rPr>
              <a:t> </a:t>
            </a:r>
            <a:r>
              <a:rPr dirty="0" sz="2850" spc="-25">
                <a:latin typeface="Arial MT"/>
                <a:cs typeface="Arial MT"/>
              </a:rPr>
              <a:t>the </a:t>
            </a:r>
            <a:r>
              <a:rPr dirty="0" sz="2750">
                <a:latin typeface="Arial MT"/>
                <a:cs typeface="Arial MT"/>
              </a:rPr>
              <a:t>group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is</a:t>
            </a:r>
            <a:r>
              <a:rPr dirty="0" sz="2750" spc="-1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far</a:t>
            </a:r>
            <a:r>
              <a:rPr dirty="0" sz="2750" spc="-4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more</a:t>
            </a:r>
            <a:r>
              <a:rPr dirty="0" sz="2750" spc="-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stable</a:t>
            </a:r>
            <a:r>
              <a:rPr dirty="0" sz="2750" spc="-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-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predictable</a:t>
            </a:r>
            <a:r>
              <a:rPr dirty="0" sz="2750" spc="125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than </a:t>
            </a:r>
            <a:r>
              <a:rPr dirty="0" sz="2700">
                <a:latin typeface="Arial MT"/>
                <a:cs typeface="Arial MT"/>
              </a:rPr>
              <a:t>the</a:t>
            </a:r>
            <a:r>
              <a:rPr dirty="0" sz="2700" spc="3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performance</a:t>
            </a:r>
            <a:r>
              <a:rPr dirty="0" sz="2700" spc="18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of</a:t>
            </a:r>
            <a:r>
              <a:rPr dirty="0" sz="2700" spc="9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any</a:t>
            </a:r>
            <a:r>
              <a:rPr dirty="0" sz="2700" spc="12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single</a:t>
            </a:r>
            <a:r>
              <a:rPr dirty="0" sz="2700" spc="9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component.</a:t>
            </a:r>
            <a:endParaRPr sz="2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1860"/>
              </a:spcBef>
              <a:tabLst>
                <a:tab pos="640715" algn="l"/>
              </a:tabLst>
            </a:pPr>
            <a:r>
              <a:rPr dirty="0" sz="1300" spc="-50">
                <a:latin typeface="Cambria"/>
                <a:cs typeface="Cambria"/>
              </a:rPr>
              <a:t>G</a:t>
            </a:r>
            <a:r>
              <a:rPr dirty="0" sz="1300">
                <a:latin typeface="Cambria"/>
                <a:cs typeface="Cambria"/>
              </a:rPr>
              <a:t>	</a:t>
            </a:r>
            <a:r>
              <a:rPr dirty="0" sz="1300" spc="-1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900" y="5524500"/>
            <a:ext cx="4203700" cy="32893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0515600" y="910167"/>
            <a:ext cx="4195445" cy="3293745"/>
            <a:chOff x="10515600" y="910167"/>
            <a:chExt cx="4195445" cy="3293745"/>
          </a:xfrm>
        </p:grpSpPr>
        <p:sp>
          <p:nvSpPr>
            <p:cNvPr id="4" name="object 4" descr=""/>
            <p:cNvSpPr/>
            <p:nvPr/>
          </p:nvSpPr>
          <p:spPr>
            <a:xfrm>
              <a:off x="10530416" y="910167"/>
              <a:ext cx="0" cy="3293745"/>
            </a:xfrm>
            <a:custGeom>
              <a:avLst/>
              <a:gdLst/>
              <a:ahLst/>
              <a:cxnLst/>
              <a:rect l="l" t="t" r="r" b="b"/>
              <a:pathLst>
                <a:path w="0" h="3293745">
                  <a:moveTo>
                    <a:pt x="0" y="3293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B48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515600" y="4188883"/>
              <a:ext cx="4195445" cy="0"/>
            </a:xfrm>
            <a:custGeom>
              <a:avLst/>
              <a:gdLst/>
              <a:ahLst/>
              <a:cxnLst/>
              <a:rect l="l" t="t" r="r" b="b"/>
              <a:pathLst>
                <a:path w="4195444" h="0">
                  <a:moveTo>
                    <a:pt x="0" y="0"/>
                  </a:moveTo>
                  <a:lnTo>
                    <a:pt x="4195233" y="0"/>
                  </a:lnTo>
                </a:path>
              </a:pathLst>
            </a:custGeom>
            <a:ln w="4233">
              <a:solidFill>
                <a:srgbClr val="3B48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04600" y="1498600"/>
              <a:ext cx="2755900" cy="16764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33200" y="3187700"/>
              <a:ext cx="406400" cy="2413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56801" y="751063"/>
            <a:ext cx="7479665" cy="861694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450" spc="-95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dirty="0" sz="5450" spc="-2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5450" spc="-75">
                <a:solidFill>
                  <a:srgbClr val="000000"/>
                </a:solidFill>
                <a:latin typeface="Times New Roman"/>
                <a:cs typeface="Times New Roman"/>
              </a:rPr>
              <a:t>Foundation</a:t>
            </a:r>
            <a:r>
              <a:rPr dirty="0" sz="5450" spc="-17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5450" spc="-22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dirty="0" sz="5450" spc="-1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5450" spc="-190">
                <a:solidFill>
                  <a:srgbClr val="000000"/>
                </a:solidFill>
                <a:latin typeface="Times New Roman"/>
                <a:cs typeface="Times New Roman"/>
              </a:rPr>
              <a:t>Evidence</a:t>
            </a:r>
            <a:endParaRPr sz="54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012373" y="751063"/>
            <a:ext cx="184150" cy="8616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450" spc="-70">
                <a:solidFill>
                  <a:srgbClr val="C85049"/>
                </a:solidFill>
                <a:latin typeface="Times New Roman"/>
                <a:cs typeface="Times New Roman"/>
              </a:rPr>
              <a:t>.</a:t>
            </a:r>
            <a:endParaRPr sz="54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</a:t>
            </a:r>
            <a:r>
              <a:rPr dirty="0" spc="-114"/>
              <a:t> </a:t>
            </a:r>
            <a:r>
              <a:rPr dirty="0"/>
              <a:t>scientific</a:t>
            </a:r>
            <a:r>
              <a:rPr dirty="0" spc="170"/>
              <a:t> </a:t>
            </a:r>
            <a:r>
              <a:rPr dirty="0" spc="-50"/>
              <a:t>research,</a:t>
            </a:r>
            <a:r>
              <a:rPr dirty="0" spc="55"/>
              <a:t> </a:t>
            </a:r>
            <a:r>
              <a:rPr dirty="0"/>
              <a:t>the</a:t>
            </a:r>
            <a:r>
              <a:rPr dirty="0" spc="-195"/>
              <a:t> </a:t>
            </a:r>
            <a:r>
              <a:rPr dirty="0"/>
              <a:t>law</a:t>
            </a:r>
            <a:r>
              <a:rPr dirty="0" spc="-165"/>
              <a:t> </a:t>
            </a:r>
            <a:r>
              <a:rPr dirty="0" spc="-25"/>
              <a:t>is</a:t>
            </a:r>
          </a:p>
          <a:p>
            <a:pPr marL="20955" marR="5080" indent="21590">
              <a:lnSpc>
                <a:spcPct val="104200"/>
              </a:lnSpc>
              <a:spcBef>
                <a:spcPts val="5"/>
              </a:spcBef>
            </a:pPr>
            <a:r>
              <a:rPr dirty="0" sz="3800"/>
              <a:t>what</a:t>
            </a:r>
            <a:r>
              <a:rPr dirty="0" sz="3800" spc="-150"/>
              <a:t> </a:t>
            </a:r>
            <a:r>
              <a:rPr dirty="0" sz="3800" spc="-30"/>
              <a:t>separates</a:t>
            </a:r>
            <a:r>
              <a:rPr dirty="0" sz="3800" spc="-5"/>
              <a:t> </a:t>
            </a:r>
            <a:r>
              <a:rPr dirty="0" sz="3800" spc="-300"/>
              <a:t>a</a:t>
            </a:r>
            <a:r>
              <a:rPr dirty="0" sz="3800" spc="35"/>
              <a:t> </a:t>
            </a:r>
            <a:r>
              <a:rPr dirty="0" sz="3800"/>
              <a:t>fluke</a:t>
            </a:r>
            <a:r>
              <a:rPr dirty="0" sz="3800" spc="-90"/>
              <a:t> </a:t>
            </a:r>
            <a:r>
              <a:rPr dirty="0" sz="3800"/>
              <a:t>from</a:t>
            </a:r>
            <a:r>
              <a:rPr dirty="0" sz="3800" spc="-125"/>
              <a:t> </a:t>
            </a:r>
            <a:r>
              <a:rPr dirty="0" sz="3800" spc="-350"/>
              <a:t>a </a:t>
            </a:r>
            <a:r>
              <a:rPr dirty="0" sz="3800"/>
              <a:t>finding.</a:t>
            </a:r>
            <a:r>
              <a:rPr dirty="0" sz="3800" spc="-60"/>
              <a:t> </a:t>
            </a:r>
            <a:r>
              <a:rPr dirty="0" sz="3800" spc="-305"/>
              <a:t>A</a:t>
            </a:r>
            <a:r>
              <a:rPr dirty="0" sz="3800" spc="40"/>
              <a:t> </a:t>
            </a:r>
            <a:r>
              <a:rPr dirty="0" sz="3800"/>
              <a:t>result</a:t>
            </a:r>
            <a:r>
              <a:rPr dirty="0" sz="3800" spc="165"/>
              <a:t> </a:t>
            </a:r>
            <a:r>
              <a:rPr dirty="0" sz="3800"/>
              <a:t>from</a:t>
            </a:r>
            <a:r>
              <a:rPr dirty="0" sz="3800" spc="-40"/>
              <a:t> </a:t>
            </a:r>
            <a:r>
              <a:rPr dirty="0" sz="3800" spc="-300"/>
              <a:t>a</a:t>
            </a:r>
            <a:r>
              <a:rPr dirty="0" sz="3800" spc="35"/>
              <a:t> </a:t>
            </a:r>
            <a:r>
              <a:rPr dirty="0" sz="3800" spc="-10"/>
              <a:t>single </a:t>
            </a:r>
            <a:r>
              <a:rPr dirty="0" sz="3800" spc="-30"/>
              <a:t>experiment</a:t>
            </a:r>
            <a:r>
              <a:rPr dirty="0" sz="3800" spc="245"/>
              <a:t> </a:t>
            </a:r>
            <a:r>
              <a:rPr dirty="0" sz="3800"/>
              <a:t>might</a:t>
            </a:r>
            <a:r>
              <a:rPr dirty="0" sz="3800" spc="60"/>
              <a:t> </a:t>
            </a:r>
            <a:r>
              <a:rPr dirty="0" sz="3800"/>
              <a:t>be</a:t>
            </a:r>
            <a:r>
              <a:rPr dirty="0" sz="3800" spc="-150"/>
              <a:t> </a:t>
            </a:r>
            <a:r>
              <a:rPr dirty="0" sz="3800"/>
              <a:t>due</a:t>
            </a:r>
            <a:r>
              <a:rPr dirty="0" sz="3800" spc="-160"/>
              <a:t> </a:t>
            </a:r>
            <a:r>
              <a:rPr dirty="0" sz="3800"/>
              <a:t>to</a:t>
            </a:r>
            <a:r>
              <a:rPr dirty="0" sz="3800" spc="-175"/>
              <a:t> </a:t>
            </a:r>
            <a:r>
              <a:rPr dirty="0" sz="3800" spc="-30"/>
              <a:t>chance. </a:t>
            </a:r>
            <a:r>
              <a:rPr dirty="0" sz="3800" spc="-10"/>
              <a:t>Only</a:t>
            </a:r>
            <a:r>
              <a:rPr dirty="0" sz="3800" spc="-100"/>
              <a:t> </a:t>
            </a:r>
            <a:r>
              <a:rPr dirty="0" sz="3800" spc="-35"/>
              <a:t>when</a:t>
            </a:r>
            <a:r>
              <a:rPr dirty="0" sz="3800" spc="-225"/>
              <a:t> </a:t>
            </a:r>
            <a:r>
              <a:rPr dirty="0" sz="3800"/>
              <a:t>results</a:t>
            </a:r>
            <a:r>
              <a:rPr dirty="0" sz="3800" spc="-170"/>
              <a:t> </a:t>
            </a:r>
            <a:r>
              <a:rPr dirty="0" sz="3800" spc="-20"/>
              <a:t>are</a:t>
            </a:r>
            <a:r>
              <a:rPr dirty="0" sz="3800" spc="-235"/>
              <a:t> </a:t>
            </a:r>
            <a:r>
              <a:rPr dirty="0" sz="3800" spc="-10"/>
              <a:t>replicated </a:t>
            </a:r>
            <a:r>
              <a:rPr dirty="0" spc="-25"/>
              <a:t>across</a:t>
            </a:r>
            <a:r>
              <a:rPr dirty="0" spc="-185"/>
              <a:t> </a:t>
            </a:r>
            <a:r>
              <a:rPr dirty="0" spc="-400"/>
              <a:t>a</a:t>
            </a:r>
            <a:r>
              <a:rPr dirty="0" spc="145"/>
              <a:t> </a:t>
            </a:r>
            <a:r>
              <a:rPr dirty="0" spc="-35"/>
              <a:t>large</a:t>
            </a:r>
            <a:r>
              <a:rPr dirty="0" spc="-150"/>
              <a:t> </a:t>
            </a:r>
            <a:r>
              <a:rPr dirty="0" spc="-35"/>
              <a:t>number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-110"/>
              <a:t> </a:t>
            </a:r>
            <a:r>
              <a:rPr dirty="0"/>
              <a:t>trials</a:t>
            </a:r>
            <a:r>
              <a:rPr dirty="0" spc="-140"/>
              <a:t> </a:t>
            </a:r>
            <a:r>
              <a:rPr dirty="0" spc="-20"/>
              <a:t>does </a:t>
            </a:r>
            <a:r>
              <a:rPr dirty="0" sz="3800"/>
              <a:t>statistical</a:t>
            </a:r>
            <a:r>
              <a:rPr dirty="0" sz="3800" spc="-150"/>
              <a:t> </a:t>
            </a:r>
            <a:r>
              <a:rPr dirty="0" sz="3800" spc="-50"/>
              <a:t>evidence</a:t>
            </a:r>
            <a:r>
              <a:rPr dirty="0" sz="3800" spc="-155"/>
              <a:t> </a:t>
            </a:r>
            <a:r>
              <a:rPr dirty="0" sz="3800" spc="-10"/>
              <a:t>emerge, </a:t>
            </a:r>
            <a:r>
              <a:rPr dirty="0" sz="3800" spc="-20"/>
              <a:t>confirming</a:t>
            </a:r>
            <a:r>
              <a:rPr dirty="0" sz="3800" spc="-100"/>
              <a:t> </a:t>
            </a:r>
            <a:r>
              <a:rPr dirty="0" sz="3800" spc="-300"/>
              <a:t>a</a:t>
            </a:r>
            <a:r>
              <a:rPr dirty="0" sz="3800"/>
              <a:t> </a:t>
            </a:r>
            <a:r>
              <a:rPr dirty="0" sz="3800" spc="-10"/>
              <a:t>hypothesis.</a:t>
            </a:r>
            <a:endParaRPr sz="3800"/>
          </a:p>
        </p:txBody>
      </p:sp>
      <p:sp>
        <p:nvSpPr>
          <p:cNvPr id="11" name="object 11" descr=""/>
          <p:cNvSpPr txBox="1"/>
          <p:nvPr/>
        </p:nvSpPr>
        <p:spPr>
          <a:xfrm>
            <a:off x="11030342" y="2994730"/>
            <a:ext cx="116205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3800" spc="-185">
                <a:solidFill>
                  <a:srgbClr val="263D6E"/>
                </a:solidFill>
                <a:latin typeface="Arial MT"/>
                <a:cs typeface="Arial MT"/>
              </a:rPr>
              <a:t>.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883484" y="3591630"/>
            <a:ext cx="163195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3800" spc="-90">
                <a:solidFill>
                  <a:srgbClr val="283D70"/>
                </a:solidFill>
                <a:latin typeface="Arial MT"/>
                <a:cs typeface="Arial MT"/>
              </a:rPr>
              <a:t>•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722515" y="822677"/>
            <a:ext cx="277749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295">
                <a:latin typeface="Arial MT"/>
                <a:cs typeface="Arial MT"/>
              </a:rPr>
              <a:t>A</a:t>
            </a:r>
            <a:r>
              <a:rPr dirty="0" sz="2200" spc="10">
                <a:latin typeface="Arial MT"/>
                <a:cs typeface="Arial MT"/>
              </a:rPr>
              <a:t> </a:t>
            </a:r>
            <a:r>
              <a:rPr dirty="0" sz="2200" spc="-95">
                <a:latin typeface="Arial MT"/>
                <a:cs typeface="Arial MT"/>
              </a:rPr>
              <a:t>Single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55">
                <a:latin typeface="Arial MT"/>
                <a:cs typeface="Arial MT"/>
              </a:rPr>
              <a:t>Outlier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20">
                <a:latin typeface="Arial MT"/>
                <a:cs typeface="Arial MT"/>
              </a:rPr>
              <a:t>(Fluke?)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322693" y="7564966"/>
            <a:ext cx="291846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>
                <a:latin typeface="Arial MT"/>
                <a:cs typeface="Arial MT"/>
              </a:rPr>
              <a:t>A</a:t>
            </a:r>
            <a:r>
              <a:rPr dirty="0" sz="2050" spc="-95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Large</a:t>
            </a:r>
            <a:r>
              <a:rPr dirty="0" sz="2050" spc="-114">
                <a:latin typeface="Arial MT"/>
                <a:cs typeface="Arial MT"/>
              </a:rPr>
              <a:t> </a:t>
            </a:r>
            <a:r>
              <a:rPr dirty="0" sz="2050" spc="-25">
                <a:latin typeface="Arial MT"/>
                <a:cs typeface="Arial MT"/>
              </a:rPr>
              <a:t>Sample</a:t>
            </a:r>
            <a:r>
              <a:rPr dirty="0" sz="2050" spc="-60"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(Finding)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84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89100"/>
            <a:ext cx="17475200" cy="6375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89863" y="450497"/>
            <a:ext cx="8462010" cy="1115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150">
                <a:solidFill>
                  <a:srgbClr val="242424"/>
                </a:solidFill>
                <a:latin typeface="Times New Roman"/>
                <a:cs typeface="Times New Roman"/>
              </a:rPr>
              <a:t>Evidence</a:t>
            </a:r>
            <a:r>
              <a:rPr dirty="0" sz="7150" spc="21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dirty="0" sz="7150">
                <a:solidFill>
                  <a:srgbClr val="242424"/>
                </a:solidFill>
                <a:latin typeface="Times New Roman"/>
                <a:cs typeface="Times New Roman"/>
              </a:rPr>
              <a:t>Over</a:t>
            </a:r>
            <a:r>
              <a:rPr dirty="0" sz="7150" spc="-155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dirty="0" sz="7150" spc="-10">
                <a:solidFill>
                  <a:srgbClr val="262626"/>
                </a:solidFill>
                <a:latin typeface="Times New Roman"/>
                <a:cs typeface="Times New Roman"/>
              </a:rPr>
              <a:t>Chance</a:t>
            </a:r>
            <a:endParaRPr sz="71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818230" y="8173155"/>
            <a:ext cx="11819255" cy="975994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 indent="435609">
              <a:lnSpc>
                <a:spcPts val="3650"/>
              </a:lnSpc>
              <a:spcBef>
                <a:spcPts val="375"/>
              </a:spcBef>
            </a:pPr>
            <a:r>
              <a:rPr dirty="0" sz="3200" spc="-150">
                <a:latin typeface="Arial MT"/>
                <a:cs typeface="Arial MT"/>
              </a:rPr>
              <a:t>The</a:t>
            </a:r>
            <a:r>
              <a:rPr dirty="0" sz="3200" spc="-114">
                <a:latin typeface="Arial MT"/>
                <a:cs typeface="Arial MT"/>
              </a:rPr>
              <a:t> </a:t>
            </a:r>
            <a:r>
              <a:rPr dirty="0" sz="3200" spc="-135">
                <a:latin typeface="Arial MT"/>
                <a:cs typeface="Arial MT"/>
              </a:rPr>
              <a:t>Law</a:t>
            </a:r>
            <a:r>
              <a:rPr dirty="0" sz="3200" spc="-9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120">
                <a:latin typeface="Arial MT"/>
                <a:cs typeface="Arial MT"/>
              </a:rPr>
              <a:t> </a:t>
            </a:r>
            <a:r>
              <a:rPr dirty="0" sz="3200" spc="-150">
                <a:latin typeface="Arial MT"/>
                <a:cs typeface="Arial MT"/>
              </a:rPr>
              <a:t>Large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145">
                <a:latin typeface="Arial MT"/>
                <a:cs typeface="Arial MT"/>
              </a:rPr>
              <a:t>Numbers</a:t>
            </a:r>
            <a:r>
              <a:rPr dirty="0" sz="3200" spc="45">
                <a:latin typeface="Arial MT"/>
                <a:cs typeface="Arial MT"/>
              </a:rPr>
              <a:t> </a:t>
            </a:r>
            <a:r>
              <a:rPr dirty="0" sz="3200" spc="-140">
                <a:latin typeface="Arial MT"/>
                <a:cs typeface="Arial MT"/>
              </a:rPr>
              <a:t>empowers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 spc="-195">
                <a:latin typeface="Arial MT"/>
                <a:cs typeface="Arial MT"/>
              </a:rPr>
              <a:t>us</a:t>
            </a:r>
            <a:r>
              <a:rPr dirty="0" sz="3200" spc="-8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to</a:t>
            </a:r>
            <a:r>
              <a:rPr dirty="0" sz="3200" spc="-140">
                <a:latin typeface="Arial MT"/>
                <a:cs typeface="Arial MT"/>
              </a:rPr>
              <a:t> </a:t>
            </a:r>
            <a:r>
              <a:rPr dirty="0" sz="3200" spc="-225">
                <a:latin typeface="Arial MT"/>
                <a:cs typeface="Arial MT"/>
              </a:rPr>
              <a:t>make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150">
                <a:latin typeface="Arial MT"/>
                <a:cs typeface="Arial MT"/>
              </a:rPr>
              <a:t>more</a:t>
            </a:r>
            <a:r>
              <a:rPr dirty="0" sz="3200" spc="-8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informed </a:t>
            </a:r>
            <a:r>
              <a:rPr dirty="0" sz="3200" spc="-110">
                <a:latin typeface="Arial MT"/>
                <a:cs typeface="Arial MT"/>
              </a:rPr>
              <a:t>decisions</a:t>
            </a:r>
            <a:r>
              <a:rPr dirty="0" sz="3200" spc="-114">
                <a:latin typeface="Arial MT"/>
                <a:cs typeface="Arial MT"/>
              </a:rPr>
              <a:t> </a:t>
            </a:r>
            <a:r>
              <a:rPr dirty="0" sz="3200" spc="-100">
                <a:latin typeface="Arial MT"/>
                <a:cs typeface="Arial MT"/>
              </a:rPr>
              <a:t>based</a:t>
            </a:r>
            <a:r>
              <a:rPr dirty="0" sz="3200" spc="-120">
                <a:latin typeface="Arial MT"/>
                <a:cs typeface="Arial MT"/>
              </a:rPr>
              <a:t> </a:t>
            </a:r>
            <a:r>
              <a:rPr dirty="0" sz="3200" spc="-30">
                <a:latin typeface="Arial MT"/>
                <a:cs typeface="Arial MT"/>
              </a:rPr>
              <a:t>on</a:t>
            </a:r>
            <a:r>
              <a:rPr dirty="0" sz="3200" spc="-185">
                <a:latin typeface="Arial MT"/>
                <a:cs typeface="Arial MT"/>
              </a:rPr>
              <a:t> </a:t>
            </a:r>
            <a:r>
              <a:rPr dirty="0" sz="3200" spc="-55">
                <a:latin typeface="Arial MT"/>
                <a:cs typeface="Arial MT"/>
              </a:rPr>
              <a:t>statistical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114">
                <a:latin typeface="Arial MT"/>
                <a:cs typeface="Arial MT"/>
              </a:rPr>
              <a:t>evidence,</a:t>
            </a:r>
            <a:r>
              <a:rPr dirty="0" sz="3200" spc="-110">
                <a:latin typeface="Arial MT"/>
                <a:cs typeface="Arial MT"/>
              </a:rPr>
              <a:t> </a:t>
            </a:r>
            <a:r>
              <a:rPr dirty="0" sz="3200" spc="-35">
                <a:latin typeface="Arial MT"/>
                <a:cs typeface="Arial MT"/>
              </a:rPr>
              <a:t>rather</a:t>
            </a:r>
            <a:r>
              <a:rPr dirty="0" sz="3200" spc="-110">
                <a:latin typeface="Arial MT"/>
                <a:cs typeface="Arial MT"/>
              </a:rPr>
              <a:t> </a:t>
            </a:r>
            <a:r>
              <a:rPr dirty="0" sz="3200" spc="-95">
                <a:latin typeface="Arial MT"/>
                <a:cs typeface="Arial MT"/>
              </a:rPr>
              <a:t>than</a:t>
            </a:r>
            <a:r>
              <a:rPr dirty="0" sz="3200" spc="-125">
                <a:latin typeface="Arial MT"/>
                <a:cs typeface="Arial MT"/>
              </a:rPr>
              <a:t> </a:t>
            </a:r>
            <a:r>
              <a:rPr dirty="0" sz="3200" spc="-85">
                <a:latin typeface="Arial MT"/>
                <a:cs typeface="Arial MT"/>
              </a:rPr>
              <a:t>individual</a:t>
            </a:r>
            <a:r>
              <a:rPr dirty="0" sz="3200" spc="-70">
                <a:latin typeface="Arial MT"/>
                <a:cs typeface="Arial MT"/>
              </a:rPr>
              <a:t> </a:t>
            </a:r>
            <a:r>
              <a:rPr dirty="0" sz="3200" spc="-40">
                <a:latin typeface="Arial MT"/>
                <a:cs typeface="Arial MT"/>
              </a:rPr>
              <a:t>chance.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2025-12-19T10:02:47Z</dcterms:created>
  <dcterms:modified xsi:type="dcterms:W3CDTF">2025-12-19T10:02:47Z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LastSaved">
    <vt:filetime>2025-12-19T00:00:00Z</vt:filetime>
  </property>
</Properties>
</file>