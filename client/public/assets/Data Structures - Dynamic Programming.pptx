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5181600"/>
            <a:ext cx="774700" cy="1701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8900" y="5537200"/>
            <a:ext cx="1193800" cy="1206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10100" y="5181600"/>
            <a:ext cx="774700" cy="17018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9200" y="5537200"/>
            <a:ext cx="1181100" cy="12065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67700" y="5181600"/>
            <a:ext cx="774700" cy="17018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56800" y="5537200"/>
            <a:ext cx="1181100" cy="12065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25300" y="5181600"/>
            <a:ext cx="762000" cy="17018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14400" y="5537200"/>
            <a:ext cx="1181100" cy="12065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582900" y="5181600"/>
            <a:ext cx="774700" cy="1701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87741" y="1337027"/>
            <a:ext cx="10449560" cy="935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0922" y="853736"/>
            <a:ext cx="10092690" cy="2062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7171" y="1772708"/>
            <a:ext cx="15532735" cy="556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jp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800" y="2921000"/>
            <a:ext cx="13893800" cy="6832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0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75"/>
              </a:spcBef>
            </a:pPr>
            <a:r>
              <a:rPr dirty="0" sz="8050" spc="-515">
                <a:solidFill>
                  <a:srgbClr val="262626"/>
                </a:solidFill>
              </a:rPr>
              <a:t>The</a:t>
            </a:r>
            <a:r>
              <a:rPr dirty="0" sz="8050" spc="-390">
                <a:solidFill>
                  <a:srgbClr val="262626"/>
                </a:solidFill>
              </a:rPr>
              <a:t> </a:t>
            </a:r>
            <a:r>
              <a:rPr dirty="0" sz="8050" spc="-35">
                <a:solidFill>
                  <a:srgbClr val="262626"/>
                </a:solidFill>
              </a:rPr>
              <a:t>Art</a:t>
            </a:r>
            <a:r>
              <a:rPr dirty="0" sz="8050" spc="-495">
                <a:solidFill>
                  <a:srgbClr val="262626"/>
                </a:solidFill>
              </a:rPr>
              <a:t> </a:t>
            </a:r>
            <a:r>
              <a:rPr dirty="0" sz="8050" spc="-180">
                <a:solidFill>
                  <a:srgbClr val="282828"/>
                </a:solidFill>
              </a:rPr>
              <a:t>of</a:t>
            </a:r>
            <a:r>
              <a:rPr dirty="0" sz="8050" spc="-475">
                <a:solidFill>
                  <a:srgbClr val="282828"/>
                </a:solidFill>
              </a:rPr>
              <a:t> </a:t>
            </a:r>
            <a:r>
              <a:rPr dirty="0" sz="8050" spc="-525">
                <a:solidFill>
                  <a:srgbClr val="262626"/>
                </a:solidFill>
              </a:rPr>
              <a:t>Remembering</a:t>
            </a:r>
            <a:endParaRPr sz="8050"/>
          </a:p>
          <a:p>
            <a:pPr algn="ctr" marL="99695">
              <a:lnSpc>
                <a:spcPct val="100000"/>
              </a:lnSpc>
              <a:spcBef>
                <a:spcPts val="640"/>
              </a:spcBef>
            </a:pPr>
            <a:r>
              <a:rPr dirty="0" sz="3550" spc="-225">
                <a:solidFill>
                  <a:srgbClr val="181818"/>
                </a:solidFill>
                <a:latin typeface="Calibri"/>
                <a:cs typeface="Calibri"/>
              </a:rPr>
              <a:t>An</a:t>
            </a:r>
            <a:r>
              <a:rPr dirty="0" sz="3550" spc="-16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3550" spc="-130">
                <a:solidFill>
                  <a:srgbClr val="131313"/>
                </a:solidFill>
                <a:latin typeface="Calibri"/>
                <a:cs typeface="Calibri"/>
              </a:rPr>
              <a:t>Introduction</a:t>
            </a:r>
            <a:r>
              <a:rPr dirty="0" sz="3550" spc="1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-175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dirty="0" sz="3550" spc="-20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3550" spc="-195">
                <a:solidFill>
                  <a:srgbClr val="131313"/>
                </a:solidFill>
                <a:latin typeface="Calibri"/>
                <a:cs typeface="Calibri"/>
              </a:rPr>
              <a:t>Memoïzation</a:t>
            </a:r>
            <a:r>
              <a:rPr dirty="0" sz="3550" spc="4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-35">
                <a:solidFill>
                  <a:srgbClr val="1C1C1C"/>
                </a:solidFill>
                <a:latin typeface="Calibri"/>
                <a:cs typeface="Calibri"/>
              </a:rPr>
              <a:t>in</a:t>
            </a:r>
            <a:r>
              <a:rPr dirty="0" sz="3550" spc="-22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550" spc="-140">
                <a:solidFill>
                  <a:srgbClr val="131313"/>
                </a:solidFill>
                <a:latin typeface="Calibri"/>
                <a:cs typeface="Calibri"/>
              </a:rPr>
              <a:t>Dynamic</a:t>
            </a:r>
            <a:r>
              <a:rPr dirty="0" sz="3550" spc="-2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-10">
                <a:solidFill>
                  <a:srgbClr val="131313"/>
                </a:solidFill>
                <a:latin typeface="Calibri"/>
                <a:cs typeface="Calibri"/>
              </a:rPr>
              <a:t>Programming</a:t>
            </a:r>
            <a:endParaRPr sz="3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2870200"/>
            <a:ext cx="8851900" cy="4508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4244" y="1984375"/>
            <a:ext cx="6039485" cy="2404110"/>
          </a:xfrm>
          <a:prstGeom prst="rect"/>
        </p:spPr>
        <p:txBody>
          <a:bodyPr wrap="square" lIns="0" tIns="125095" rIns="0" bIns="0" rtlCol="0" vert="horz">
            <a:spAutoFit/>
          </a:bodyPr>
          <a:lstStyle/>
          <a:p>
            <a:pPr marL="12700" marR="5080" indent="18415">
              <a:lnSpc>
                <a:spcPct val="87200"/>
              </a:lnSpc>
              <a:spcBef>
                <a:spcPts val="985"/>
              </a:spcBef>
            </a:pPr>
            <a:r>
              <a:rPr dirty="0" sz="5600">
                <a:solidFill>
                  <a:srgbClr val="1D1D1D"/>
                </a:solidFill>
              </a:rPr>
              <a:t>The</a:t>
            </a:r>
            <a:r>
              <a:rPr dirty="0" sz="5600" spc="-180">
                <a:solidFill>
                  <a:srgbClr val="1D1D1D"/>
                </a:solidFill>
              </a:rPr>
              <a:t> </a:t>
            </a:r>
            <a:r>
              <a:rPr dirty="0" sz="5600" spc="155">
                <a:solidFill>
                  <a:srgbClr val="181818"/>
                </a:solidFill>
              </a:rPr>
              <a:t>core</a:t>
            </a:r>
            <a:r>
              <a:rPr dirty="0" sz="5600" spc="-365">
                <a:solidFill>
                  <a:srgbClr val="181818"/>
                </a:solidFill>
              </a:rPr>
              <a:t> </a:t>
            </a:r>
            <a:r>
              <a:rPr dirty="0" sz="5600" spc="105">
                <a:solidFill>
                  <a:srgbClr val="161616"/>
                </a:solidFill>
              </a:rPr>
              <a:t>idea: </a:t>
            </a:r>
            <a:r>
              <a:rPr dirty="0" sz="5700" spc="140">
                <a:solidFill>
                  <a:srgbClr val="1A1A1A"/>
                </a:solidFill>
              </a:rPr>
              <a:t>efficiency</a:t>
            </a:r>
            <a:r>
              <a:rPr dirty="0" sz="5700" spc="50">
                <a:solidFill>
                  <a:srgbClr val="1A1A1A"/>
                </a:solidFill>
              </a:rPr>
              <a:t> </a:t>
            </a:r>
            <a:r>
              <a:rPr dirty="0" sz="5700" spc="95">
                <a:solidFill>
                  <a:srgbClr val="1C1C1C"/>
                </a:solidFill>
              </a:rPr>
              <a:t>through </a:t>
            </a:r>
            <a:r>
              <a:rPr dirty="0" sz="5750" spc="45">
                <a:solidFill>
                  <a:srgbClr val="1A1A1A"/>
                </a:solidFill>
              </a:rPr>
              <a:t>memory.</a:t>
            </a:r>
            <a:endParaRPr sz="5750"/>
          </a:p>
        </p:txBody>
      </p:sp>
      <p:sp>
        <p:nvSpPr>
          <p:cNvPr id="4" name="object 4" descr=""/>
          <p:cNvSpPr txBox="1"/>
          <p:nvPr/>
        </p:nvSpPr>
        <p:spPr>
          <a:xfrm>
            <a:off x="917795" y="4763558"/>
            <a:ext cx="5893435" cy="173799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3970" marR="5080" indent="-1905">
              <a:lnSpc>
                <a:spcPct val="97300"/>
              </a:lnSpc>
              <a:spcBef>
                <a:spcPts val="204"/>
              </a:spcBef>
            </a:pPr>
            <a:r>
              <a:rPr dirty="0" sz="3550" spc="-45">
                <a:solidFill>
                  <a:srgbClr val="0A0A0A"/>
                </a:solidFill>
                <a:latin typeface="Arial MT"/>
                <a:cs typeface="Arial MT"/>
              </a:rPr>
              <a:t>Dynamic</a:t>
            </a:r>
            <a:r>
              <a:rPr dirty="0" sz="3550" spc="-8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550" spc="-45">
                <a:solidFill>
                  <a:srgbClr val="0A0A0A"/>
                </a:solidFill>
                <a:latin typeface="Arial MT"/>
                <a:cs typeface="Arial MT"/>
              </a:rPr>
              <a:t>Programming</a:t>
            </a:r>
            <a:r>
              <a:rPr dirty="0" sz="3550" spc="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550" spc="-35">
                <a:solidFill>
                  <a:srgbClr val="0A0A0A"/>
                </a:solidFill>
                <a:latin typeface="Arial MT"/>
                <a:cs typeface="Arial MT"/>
              </a:rPr>
              <a:t>solves </a:t>
            </a:r>
            <a:r>
              <a:rPr dirty="0" sz="3950" spc="-215">
                <a:solidFill>
                  <a:srgbClr val="0A0A0A"/>
                </a:solidFill>
                <a:latin typeface="Arial MT"/>
                <a:cs typeface="Arial MT"/>
              </a:rPr>
              <a:t>problems</a:t>
            </a:r>
            <a:r>
              <a:rPr dirty="0" sz="3950" spc="-6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3950" spc="-85">
                <a:solidFill>
                  <a:srgbClr val="080808"/>
                </a:solidFill>
                <a:latin typeface="Arial MT"/>
                <a:cs typeface="Arial MT"/>
              </a:rPr>
              <a:t>efficiently</a:t>
            </a:r>
            <a:r>
              <a:rPr dirty="0" sz="3950" spc="-16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3950" spc="-280">
                <a:solidFill>
                  <a:srgbClr val="0C0C0C"/>
                </a:solidFill>
                <a:latin typeface="Arial MT"/>
                <a:cs typeface="Arial MT"/>
              </a:rPr>
              <a:t>by remembering</a:t>
            </a:r>
            <a:r>
              <a:rPr dirty="0" sz="3950" spc="3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950" spc="-175">
                <a:solidFill>
                  <a:srgbClr val="080808"/>
                </a:solidFill>
                <a:latin typeface="Arial MT"/>
                <a:cs typeface="Arial MT"/>
              </a:rPr>
              <a:t>past</a:t>
            </a:r>
            <a:r>
              <a:rPr dirty="0" sz="3950" spc="3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3950" spc="-60">
                <a:solidFill>
                  <a:srgbClr val="0C0C0C"/>
                </a:solidFill>
                <a:latin typeface="Arial MT"/>
                <a:cs typeface="Arial MT"/>
              </a:rPr>
              <a:t>results.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10519" y="4547658"/>
            <a:ext cx="1617345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00" spc="-40">
                <a:solidFill>
                  <a:srgbClr val="0C0C0C"/>
                </a:solidFill>
                <a:latin typeface="Arial MT"/>
                <a:cs typeface="Arial MT"/>
              </a:rPr>
              <a:t>P</a:t>
            </a:r>
            <a:r>
              <a:rPr dirty="0" sz="3550" spc="-40">
                <a:solidFill>
                  <a:srgbClr val="0C0C0C"/>
                </a:solidFill>
                <a:latin typeface="Arial MT"/>
                <a:cs typeface="Arial MT"/>
              </a:rPr>
              <a:t>roblem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76908" y="6633633"/>
            <a:ext cx="141668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55">
                <a:solidFill>
                  <a:srgbClr val="0E0E0E"/>
                </a:solidFill>
                <a:latin typeface="Arial MT"/>
                <a:cs typeface="Arial MT"/>
              </a:rPr>
              <a:t>Memory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791170" y="4618213"/>
            <a:ext cx="140970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0">
                <a:solidFill>
                  <a:srgbClr val="0A0A0A"/>
                </a:solidFill>
                <a:latin typeface="Arial MT"/>
                <a:cs typeface="Arial MT"/>
              </a:rPr>
              <a:t>Solution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950" spc="-80">
                <a:solidFill>
                  <a:srgbClr val="181818"/>
                </a:solidFill>
              </a:rPr>
              <a:t>Let's</a:t>
            </a:r>
            <a:r>
              <a:rPr dirty="0" sz="5950" spc="-405">
                <a:solidFill>
                  <a:srgbClr val="181818"/>
                </a:solidFill>
              </a:rPr>
              <a:t> </a:t>
            </a:r>
            <a:r>
              <a:rPr dirty="0" sz="5950" spc="-20">
                <a:solidFill>
                  <a:srgbClr val="0E0E0E"/>
                </a:solidFill>
              </a:rPr>
              <a:t>consider</a:t>
            </a:r>
            <a:r>
              <a:rPr dirty="0" sz="5950" spc="-305">
                <a:solidFill>
                  <a:srgbClr val="0E0E0E"/>
                </a:solidFill>
              </a:rPr>
              <a:t> </a:t>
            </a:r>
            <a:r>
              <a:rPr dirty="0" sz="5950" spc="-365">
                <a:solidFill>
                  <a:srgbClr val="1A1A1A"/>
                </a:solidFill>
              </a:rPr>
              <a:t>a</a:t>
            </a:r>
            <a:r>
              <a:rPr dirty="0" sz="5950" spc="-380">
                <a:solidFill>
                  <a:srgbClr val="1A1A1A"/>
                </a:solidFill>
              </a:rPr>
              <a:t> </a:t>
            </a:r>
            <a:r>
              <a:rPr dirty="0" sz="5950" spc="-90">
                <a:solidFill>
                  <a:srgbClr val="1A1A1A"/>
                </a:solidFill>
              </a:rPr>
              <a:t>simple</a:t>
            </a:r>
            <a:r>
              <a:rPr dirty="0" sz="5950" spc="-320">
                <a:solidFill>
                  <a:srgbClr val="1A1A1A"/>
                </a:solidFill>
              </a:rPr>
              <a:t> </a:t>
            </a:r>
            <a:r>
              <a:rPr dirty="0" sz="5950" spc="-30">
                <a:solidFill>
                  <a:srgbClr val="131313"/>
                </a:solidFill>
              </a:rPr>
              <a:t>problem.</a:t>
            </a:r>
            <a:endParaRPr sz="5950"/>
          </a:p>
        </p:txBody>
      </p:sp>
      <p:sp>
        <p:nvSpPr>
          <p:cNvPr id="3" name="object 3" descr=""/>
          <p:cNvSpPr txBox="1"/>
          <p:nvPr/>
        </p:nvSpPr>
        <p:spPr>
          <a:xfrm>
            <a:off x="4732239" y="2517422"/>
            <a:ext cx="8075930" cy="118554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2205990" marR="5080" indent="-2193925">
              <a:lnSpc>
                <a:spcPts val="4300"/>
              </a:lnSpc>
              <a:spcBef>
                <a:spcPts val="685"/>
              </a:spcBef>
            </a:pPr>
            <a:r>
              <a:rPr dirty="0" sz="4000" spc="-65">
                <a:solidFill>
                  <a:srgbClr val="0A0A0A"/>
                </a:solidFill>
                <a:latin typeface="Calibri"/>
                <a:cs typeface="Calibri"/>
              </a:rPr>
              <a:t>Imagine</a:t>
            </a:r>
            <a:r>
              <a:rPr dirty="0" sz="4000" spc="-16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4000">
                <a:solidFill>
                  <a:srgbClr val="151515"/>
                </a:solidFill>
                <a:latin typeface="Calibri"/>
                <a:cs typeface="Calibri"/>
              </a:rPr>
              <a:t>a</a:t>
            </a:r>
            <a:r>
              <a:rPr dirty="0" sz="4000" spc="-25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000" spc="-105">
                <a:solidFill>
                  <a:srgbClr val="111111"/>
                </a:solidFill>
                <a:latin typeface="Calibri"/>
                <a:cs typeface="Calibri"/>
              </a:rPr>
              <a:t>computer</a:t>
            </a:r>
            <a:r>
              <a:rPr dirty="0" sz="4000" spc="-1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4000" spc="55">
                <a:solidFill>
                  <a:srgbClr val="181818"/>
                </a:solidFill>
                <a:latin typeface="Calibri"/>
                <a:cs typeface="Calibri"/>
              </a:rPr>
              <a:t>is</a:t>
            </a:r>
            <a:r>
              <a:rPr dirty="0" sz="4000" spc="-22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4000" spc="-35">
                <a:solidFill>
                  <a:srgbClr val="0C0C0C"/>
                </a:solidFill>
                <a:latin typeface="Calibri"/>
                <a:cs typeface="Calibri"/>
              </a:rPr>
              <a:t>asked</a:t>
            </a:r>
            <a:r>
              <a:rPr dirty="0" sz="4000" spc="-6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4000" spc="-165">
                <a:solidFill>
                  <a:srgbClr val="151515"/>
                </a:solidFill>
                <a:latin typeface="Calibri"/>
                <a:cs typeface="Calibri"/>
              </a:rPr>
              <a:t>to</a:t>
            </a:r>
            <a:r>
              <a:rPr dirty="0" sz="4000" spc="-18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000" spc="-10">
                <a:solidFill>
                  <a:srgbClr val="0E0E0E"/>
                </a:solidFill>
                <a:latin typeface="Calibri"/>
                <a:cs typeface="Calibri"/>
              </a:rPr>
              <a:t>calculate </a:t>
            </a:r>
            <a:r>
              <a:rPr dirty="0" sz="4000" spc="-12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dirty="0" sz="4000" spc="-15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4000" spc="-75">
                <a:solidFill>
                  <a:srgbClr val="0F0F0F"/>
                </a:solidFill>
                <a:latin typeface="Calibri"/>
                <a:cs typeface="Calibri"/>
              </a:rPr>
              <a:t>following</a:t>
            </a:r>
            <a:r>
              <a:rPr dirty="0" sz="4000" spc="-5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4000" spc="-20">
                <a:solidFill>
                  <a:srgbClr val="0E0E0E"/>
                </a:solidFill>
                <a:latin typeface="Calibri"/>
                <a:cs typeface="Calibri"/>
              </a:rPr>
              <a:t>sum: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108071" y="9422341"/>
            <a:ext cx="123253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Calibri"/>
                <a:cs typeface="Calibri"/>
              </a:rPr>
              <a:t>G</a:t>
            </a:r>
            <a:r>
              <a:rPr dirty="0" sz="1450" spc="125">
                <a:latin typeface="Calibri"/>
                <a:cs typeface="Calibri"/>
              </a:rPr>
              <a:t>  </a:t>
            </a:r>
            <a:r>
              <a:rPr dirty="0" sz="1450" spc="-10">
                <a:latin typeface="Calibri"/>
                <a:cs typeface="Calibri"/>
              </a:rPr>
              <a:t>NotebookLM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900" y="5803900"/>
            <a:ext cx="673100" cy="660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0400" y="5803900"/>
            <a:ext cx="660400" cy="660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67900" y="5803900"/>
            <a:ext cx="673100" cy="6604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08100" y="5803900"/>
            <a:ext cx="673100" cy="660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8482" y="796219"/>
            <a:ext cx="8513445" cy="11582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400" spc="-390"/>
              <a:t>The</a:t>
            </a:r>
            <a:r>
              <a:rPr dirty="0" sz="7400" spc="-665"/>
              <a:t> </a:t>
            </a:r>
            <a:r>
              <a:rPr dirty="0" sz="7400" spc="-275"/>
              <a:t>Brute-</a:t>
            </a:r>
            <a:r>
              <a:rPr dirty="0" sz="7400" spc="-310"/>
              <a:t>Force</a:t>
            </a:r>
            <a:r>
              <a:rPr dirty="0" sz="7400" spc="-245"/>
              <a:t> </a:t>
            </a:r>
            <a:r>
              <a:rPr dirty="0" sz="7400" spc="-300"/>
              <a:t>Path:</a:t>
            </a:r>
            <a:endParaRPr sz="7400"/>
          </a:p>
        </p:txBody>
      </p:sp>
      <p:sp>
        <p:nvSpPr>
          <p:cNvPr id="7" name="object 7" descr=""/>
          <p:cNvSpPr txBox="1"/>
          <p:nvPr/>
        </p:nvSpPr>
        <p:spPr>
          <a:xfrm>
            <a:off x="957171" y="1772708"/>
            <a:ext cx="15532735" cy="556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300" spc="-175">
                <a:solidFill>
                  <a:srgbClr val="1F1F1F"/>
                </a:solidFill>
                <a:latin typeface="Arial MT"/>
                <a:cs typeface="Arial MT"/>
              </a:rPr>
              <a:t>Calculating</a:t>
            </a:r>
            <a:r>
              <a:rPr dirty="0" sz="7300" spc="-26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7300" spc="-12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dirty="0" sz="7300" spc="-6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7300" spc="-10">
                <a:solidFill>
                  <a:srgbClr val="1F1F1F"/>
                </a:solidFill>
                <a:latin typeface="Arial MT"/>
                <a:cs typeface="Arial MT"/>
              </a:rPr>
              <a:t>Scratch</a:t>
            </a:r>
            <a:endParaRPr sz="7300">
              <a:latin typeface="Arial MT"/>
              <a:cs typeface="Arial MT"/>
            </a:endParaRPr>
          </a:p>
          <a:p>
            <a:pPr marL="29209" marR="987425" indent="-3175">
              <a:lnSpc>
                <a:spcPct val="106600"/>
              </a:lnSpc>
              <a:spcBef>
                <a:spcPts val="3200"/>
              </a:spcBef>
            </a:pPr>
            <a:r>
              <a:rPr dirty="0" sz="4300">
                <a:solidFill>
                  <a:srgbClr val="131313"/>
                </a:solidFill>
                <a:latin typeface="Arial MT"/>
                <a:cs typeface="Arial MT"/>
              </a:rPr>
              <a:t>Without</a:t>
            </a:r>
            <a:r>
              <a:rPr dirty="0" sz="430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111111"/>
                </a:solidFill>
                <a:latin typeface="Arial MT"/>
                <a:cs typeface="Arial MT"/>
              </a:rPr>
              <a:t>memoization,</a:t>
            </a:r>
            <a:r>
              <a:rPr dirty="0" sz="4300" spc="2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181818"/>
                </a:solidFill>
                <a:latin typeface="Arial MT"/>
                <a:cs typeface="Arial MT"/>
              </a:rPr>
              <a:t>each</a:t>
            </a:r>
            <a:r>
              <a:rPr dirty="0" sz="4300" spc="-11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0F0F0F"/>
                </a:solidFill>
                <a:latin typeface="Arial MT"/>
                <a:cs typeface="Arial MT"/>
              </a:rPr>
              <a:t>time</a:t>
            </a:r>
            <a:r>
              <a:rPr dirty="0" sz="4300" spc="-1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4300" spc="55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4300" spc="-18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111111"/>
                </a:solidFill>
                <a:latin typeface="Arial MT"/>
                <a:cs typeface="Arial MT"/>
              </a:rPr>
              <a:t>computer</a:t>
            </a:r>
            <a:r>
              <a:rPr dirty="0" sz="4300" spc="1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161616"/>
                </a:solidFill>
                <a:latin typeface="Arial MT"/>
                <a:cs typeface="Arial MT"/>
              </a:rPr>
              <a:t>needs</a:t>
            </a:r>
            <a:r>
              <a:rPr dirty="0" sz="4300" spc="-1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300" spc="-335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dirty="0" sz="4300" spc="3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4300" spc="-35">
                <a:solidFill>
                  <a:srgbClr val="161616"/>
                </a:solidFill>
                <a:latin typeface="Arial MT"/>
                <a:cs typeface="Arial MT"/>
              </a:rPr>
              <a:t>sum, </a:t>
            </a:r>
            <a:r>
              <a:rPr dirty="0" sz="4300">
                <a:solidFill>
                  <a:srgbClr val="181818"/>
                </a:solidFill>
                <a:latin typeface="Arial MT"/>
                <a:cs typeface="Arial MT"/>
              </a:rPr>
              <a:t>sum,</a:t>
            </a:r>
            <a:r>
              <a:rPr dirty="0" sz="4300" spc="-29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4300" spc="-60">
                <a:solidFill>
                  <a:srgbClr val="0C0C0C"/>
                </a:solidFill>
                <a:latin typeface="Arial MT"/>
                <a:cs typeface="Arial MT"/>
              </a:rPr>
              <a:t>like</a:t>
            </a:r>
            <a:r>
              <a:rPr dirty="0" sz="4300" spc="-2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4300" spc="-280">
                <a:solidFill>
                  <a:srgbClr val="0F0F0F"/>
                </a:solidFill>
                <a:latin typeface="Arial MT"/>
                <a:cs typeface="Arial MT"/>
              </a:rPr>
              <a:t>1+1,</a:t>
            </a:r>
            <a:r>
              <a:rPr dirty="0" sz="43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0F0F0F"/>
                </a:solidFill>
                <a:latin typeface="Arial MT"/>
                <a:cs typeface="Arial MT"/>
              </a:rPr>
              <a:t>it</a:t>
            </a:r>
            <a:r>
              <a:rPr dirty="0" sz="4300" spc="3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131313"/>
                </a:solidFill>
                <a:latin typeface="Arial MT"/>
                <a:cs typeface="Arial MT"/>
              </a:rPr>
              <a:t>recalculates</a:t>
            </a:r>
            <a:r>
              <a:rPr dirty="0" sz="4300" spc="114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131313"/>
                </a:solidFill>
                <a:latin typeface="Arial MT"/>
                <a:cs typeface="Arial MT"/>
              </a:rPr>
              <a:t>it</a:t>
            </a:r>
            <a:r>
              <a:rPr dirty="0" sz="4300" spc="8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300">
                <a:solidFill>
                  <a:srgbClr val="111111"/>
                </a:solidFill>
                <a:latin typeface="Arial MT"/>
                <a:cs typeface="Arial MT"/>
              </a:rPr>
              <a:t>from</a:t>
            </a:r>
            <a:r>
              <a:rPr dirty="0" sz="4300" spc="-1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300" spc="-10">
                <a:solidFill>
                  <a:srgbClr val="131313"/>
                </a:solidFill>
                <a:latin typeface="Arial MT"/>
                <a:cs typeface="Arial MT"/>
              </a:rPr>
              <a:t>scratch.</a:t>
            </a:r>
            <a:endParaRPr sz="4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00"/>
              </a:spcBef>
            </a:pPr>
            <a:endParaRPr sz="4300">
              <a:latin typeface="Arial MT"/>
              <a:cs typeface="Arial MT"/>
            </a:endParaRPr>
          </a:p>
          <a:p>
            <a:pPr marL="739775">
              <a:lnSpc>
                <a:spcPct val="100000"/>
              </a:lnSpc>
            </a:pPr>
            <a:r>
              <a:rPr dirty="0" sz="6050" spc="-535">
                <a:solidFill>
                  <a:srgbClr val="1F1F1F"/>
                </a:solidFill>
                <a:latin typeface="Arial MT"/>
                <a:cs typeface="Arial MT"/>
              </a:rPr>
              <a:t>+</a:t>
            </a:r>
            <a:r>
              <a:rPr dirty="0" sz="6050" spc="-6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050" spc="-625">
                <a:solidFill>
                  <a:srgbClr val="1F1F1F"/>
                </a:solidFill>
                <a:latin typeface="Arial MT"/>
                <a:cs typeface="Arial MT"/>
              </a:rPr>
              <a:t>1)</a:t>
            </a:r>
            <a:r>
              <a:rPr dirty="0" sz="6050" spc="204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050" spc="-3030">
                <a:solidFill>
                  <a:srgbClr val="9A9A9A"/>
                </a:solidFill>
                <a:latin typeface="Arial MT"/>
                <a:cs typeface="Arial MT"/>
              </a:rPr>
              <a:t>—</a:t>
            </a:r>
            <a:r>
              <a:rPr dirty="0" sz="6050" spc="-1060">
                <a:solidFill>
                  <a:srgbClr val="9A9A9A"/>
                </a:solidFill>
                <a:latin typeface="Arial MT"/>
                <a:cs typeface="Arial MT"/>
              </a:rPr>
              <a:t>•</a:t>
            </a:r>
            <a:r>
              <a:rPr dirty="0" sz="6050" spc="-10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6050" spc="-405">
                <a:solidFill>
                  <a:srgbClr val="242424"/>
                </a:solidFill>
                <a:latin typeface="Arial MT"/>
                <a:cs typeface="Arial MT"/>
              </a:rPr>
              <a:t>2</a:t>
            </a:r>
            <a:r>
              <a:rPr dirty="0" sz="6050" spc="-28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050" spc="-3395">
                <a:solidFill>
                  <a:srgbClr val="9E9E9E"/>
                </a:solidFill>
                <a:latin typeface="Arial MT"/>
                <a:cs typeface="Arial MT"/>
              </a:rPr>
              <a:t>—</a:t>
            </a:r>
            <a:r>
              <a:rPr dirty="0" sz="6050" spc="-1985">
                <a:solidFill>
                  <a:srgbClr val="9E9E9E"/>
                </a:solidFill>
                <a:latin typeface="Arial MT"/>
                <a:cs typeface="Arial MT"/>
              </a:rPr>
              <a:t>+</a:t>
            </a:r>
            <a:r>
              <a:rPr dirty="0" sz="6050" spc="-24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6050" spc="-250">
                <a:solidFill>
                  <a:srgbClr val="1F1F1F"/>
                </a:solidFill>
                <a:latin typeface="Arial MT"/>
                <a:cs typeface="Arial MT"/>
              </a:rPr>
              <a:t>(2</a:t>
            </a:r>
            <a:r>
              <a:rPr dirty="0" sz="6050" spc="-28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050" spc="-425">
                <a:solidFill>
                  <a:srgbClr val="1F1F1F"/>
                </a:solidFill>
                <a:latin typeface="Arial MT"/>
                <a:cs typeface="Arial MT"/>
              </a:rPr>
              <a:t>+</a:t>
            </a:r>
            <a:r>
              <a:rPr dirty="0" sz="6050" spc="-7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050" spc="-570">
                <a:solidFill>
                  <a:srgbClr val="1F1F1F"/>
                </a:solidFill>
                <a:latin typeface="Arial MT"/>
                <a:cs typeface="Arial MT"/>
              </a:rPr>
              <a:t>1)</a:t>
            </a:r>
            <a:r>
              <a:rPr dirty="0" sz="6050" spc="20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6050" spc="-3030">
                <a:solidFill>
                  <a:srgbClr val="959595"/>
                </a:solidFill>
                <a:latin typeface="Arial MT"/>
                <a:cs typeface="Arial MT"/>
              </a:rPr>
              <a:t>—</a:t>
            </a:r>
            <a:r>
              <a:rPr dirty="0" sz="6050" spc="-1060">
                <a:solidFill>
                  <a:srgbClr val="959595"/>
                </a:solidFill>
                <a:latin typeface="Arial MT"/>
                <a:cs typeface="Arial MT"/>
              </a:rPr>
              <a:t>•</a:t>
            </a:r>
            <a:r>
              <a:rPr dirty="0" sz="6050" spc="-18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6050" spc="-270">
                <a:solidFill>
                  <a:srgbClr val="232323"/>
                </a:solidFill>
                <a:latin typeface="Arial MT"/>
                <a:cs typeface="Arial MT"/>
              </a:rPr>
              <a:t>3</a:t>
            </a:r>
            <a:r>
              <a:rPr dirty="0" sz="6050" spc="-13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050" spc="-3095">
                <a:solidFill>
                  <a:srgbClr val="979797"/>
                </a:solidFill>
                <a:latin typeface="Arial MT"/>
                <a:cs typeface="Arial MT"/>
              </a:rPr>
              <a:t>—</a:t>
            </a:r>
            <a:r>
              <a:rPr dirty="0" sz="6050" spc="-1080">
                <a:solidFill>
                  <a:srgbClr val="979797"/>
                </a:solidFill>
                <a:latin typeface="Arial MT"/>
                <a:cs typeface="Arial MT"/>
              </a:rPr>
              <a:t>•</a:t>
            </a:r>
            <a:r>
              <a:rPr dirty="0" sz="6050" spc="-10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6050" spc="-270">
                <a:solidFill>
                  <a:srgbClr val="212121"/>
                </a:solidFill>
                <a:latin typeface="Arial MT"/>
                <a:cs typeface="Arial MT"/>
              </a:rPr>
              <a:t>(3</a:t>
            </a:r>
            <a:r>
              <a:rPr dirty="0" sz="6050" spc="-2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6050" spc="-425">
                <a:solidFill>
                  <a:srgbClr val="262626"/>
                </a:solidFill>
                <a:latin typeface="Arial MT"/>
                <a:cs typeface="Arial MT"/>
              </a:rPr>
              <a:t>+</a:t>
            </a:r>
            <a:r>
              <a:rPr dirty="0" sz="6050" spc="-73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050" spc="-625">
                <a:solidFill>
                  <a:srgbClr val="1D1D1D"/>
                </a:solidFill>
                <a:latin typeface="Arial MT"/>
                <a:cs typeface="Arial MT"/>
              </a:rPr>
              <a:t>1)</a:t>
            </a:r>
            <a:r>
              <a:rPr dirty="0" sz="6050" spc="30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6050" spc="-3095">
                <a:solidFill>
                  <a:srgbClr val="9C9C9C"/>
                </a:solidFill>
                <a:latin typeface="Arial MT"/>
                <a:cs typeface="Arial MT"/>
              </a:rPr>
              <a:t>—</a:t>
            </a:r>
            <a:r>
              <a:rPr dirty="0" sz="6050" spc="-1080">
                <a:solidFill>
                  <a:srgbClr val="9C9C9C"/>
                </a:solidFill>
                <a:latin typeface="Arial MT"/>
                <a:cs typeface="Arial MT"/>
              </a:rPr>
              <a:t>•</a:t>
            </a:r>
            <a:r>
              <a:rPr dirty="0" sz="6050" spc="-2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6050" spc="-210">
                <a:solidFill>
                  <a:srgbClr val="212121"/>
                </a:solidFill>
                <a:latin typeface="Arial MT"/>
                <a:cs typeface="Arial MT"/>
              </a:rPr>
              <a:t>4</a:t>
            </a:r>
            <a:r>
              <a:rPr dirty="0" sz="6050" spc="-2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6050" spc="-3095">
                <a:solidFill>
                  <a:srgbClr val="A0A0A0"/>
                </a:solidFill>
                <a:latin typeface="Arial MT"/>
                <a:cs typeface="Arial MT"/>
              </a:rPr>
              <a:t>—</a:t>
            </a:r>
            <a:r>
              <a:rPr dirty="0" sz="6050" spc="-1080">
                <a:solidFill>
                  <a:srgbClr val="A0A0A0"/>
                </a:solidFill>
                <a:latin typeface="Arial MT"/>
                <a:cs typeface="Arial MT"/>
              </a:rPr>
              <a:t>•</a:t>
            </a:r>
            <a:r>
              <a:rPr dirty="0" sz="6050" spc="-10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6050" spc="-140">
                <a:solidFill>
                  <a:srgbClr val="212121"/>
                </a:solidFill>
                <a:latin typeface="Arial MT"/>
                <a:cs typeface="Arial MT"/>
              </a:rPr>
              <a:t>(4</a:t>
            </a:r>
            <a:r>
              <a:rPr dirty="0" sz="6050" spc="-4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6050" spc="-425">
                <a:solidFill>
                  <a:srgbClr val="1D1D1D"/>
                </a:solidFill>
                <a:latin typeface="Arial MT"/>
                <a:cs typeface="Arial MT"/>
              </a:rPr>
              <a:t>+</a:t>
            </a:r>
            <a:r>
              <a:rPr dirty="0" sz="6050" spc="-63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6050" spc="-625">
                <a:solidFill>
                  <a:srgbClr val="232323"/>
                </a:solidFill>
                <a:latin typeface="Arial MT"/>
                <a:cs typeface="Arial MT"/>
              </a:rPr>
              <a:t>1)</a:t>
            </a:r>
            <a:r>
              <a:rPr dirty="0" sz="6050" spc="21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6050" spc="-3095">
                <a:solidFill>
                  <a:srgbClr val="9C9C9C"/>
                </a:solidFill>
                <a:latin typeface="Arial MT"/>
                <a:cs typeface="Arial MT"/>
              </a:rPr>
              <a:t>—</a:t>
            </a:r>
            <a:r>
              <a:rPr dirty="0" sz="6050" spc="-1080">
                <a:solidFill>
                  <a:srgbClr val="9C9C9C"/>
                </a:solidFill>
                <a:latin typeface="Arial MT"/>
                <a:cs typeface="Arial MT"/>
              </a:rPr>
              <a:t>•</a:t>
            </a:r>
            <a:r>
              <a:rPr dirty="0" sz="6050" spc="-9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6050" spc="-455">
                <a:solidFill>
                  <a:srgbClr val="212121"/>
                </a:solidFill>
                <a:latin typeface="Arial MT"/>
                <a:cs typeface="Arial MT"/>
              </a:rPr>
              <a:t>5</a:t>
            </a:r>
            <a:endParaRPr sz="6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2768600"/>
            <a:ext cx="11163300" cy="5219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13000" y="4927600"/>
            <a:ext cx="977900" cy="1320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13200" y="1155700"/>
            <a:ext cx="571500" cy="584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12100" y="1117600"/>
            <a:ext cx="800100" cy="6477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187700" y="5573183"/>
            <a:ext cx="410845" cy="0"/>
          </a:xfrm>
          <a:custGeom>
            <a:avLst/>
            <a:gdLst/>
            <a:ahLst/>
            <a:cxnLst/>
            <a:rect l="l" t="t" r="r" b="b"/>
            <a:pathLst>
              <a:path w="410845" h="0">
                <a:moveTo>
                  <a:pt x="0" y="0"/>
                </a:moveTo>
                <a:lnTo>
                  <a:pt x="410633" y="0"/>
                </a:lnTo>
              </a:path>
            </a:pathLst>
          </a:custGeom>
          <a:ln w="29633">
            <a:solidFill>
              <a:srgbClr val="3B3F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244600" y="5573183"/>
            <a:ext cx="410845" cy="0"/>
          </a:xfrm>
          <a:custGeom>
            <a:avLst/>
            <a:gdLst/>
            <a:ahLst/>
            <a:cxnLst/>
            <a:rect l="l" t="t" r="r" b="b"/>
            <a:pathLst>
              <a:path w="410844" h="0">
                <a:moveTo>
                  <a:pt x="0" y="0"/>
                </a:moveTo>
                <a:lnTo>
                  <a:pt x="410633" y="0"/>
                </a:lnTo>
              </a:path>
            </a:pathLst>
          </a:custGeom>
          <a:ln w="29633">
            <a:solidFill>
              <a:srgbClr val="3B3F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175000" y="5545666"/>
            <a:ext cx="423545" cy="29845"/>
          </a:xfrm>
          <a:custGeom>
            <a:avLst/>
            <a:gdLst/>
            <a:ahLst/>
            <a:cxnLst/>
            <a:rect l="l" t="t" r="r" b="b"/>
            <a:pathLst>
              <a:path w="423545" h="29845">
                <a:moveTo>
                  <a:pt x="0" y="0"/>
                </a:moveTo>
                <a:lnTo>
                  <a:pt x="423333" y="0"/>
                </a:lnTo>
                <a:lnTo>
                  <a:pt x="423333" y="29633"/>
                </a:lnTo>
                <a:lnTo>
                  <a:pt x="0" y="29633"/>
                </a:lnTo>
                <a:lnTo>
                  <a:pt x="0" y="0"/>
                </a:lnTo>
                <a:close/>
              </a:path>
            </a:pathLst>
          </a:custGeom>
          <a:solidFill>
            <a:srgbClr val="3B3F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31900" y="5547783"/>
            <a:ext cx="423545" cy="0"/>
          </a:xfrm>
          <a:custGeom>
            <a:avLst/>
            <a:gdLst/>
            <a:ahLst/>
            <a:cxnLst/>
            <a:rect l="l" t="t" r="r" b="b"/>
            <a:pathLst>
              <a:path w="423544" h="0">
                <a:moveTo>
                  <a:pt x="0" y="0"/>
                </a:moveTo>
                <a:lnTo>
                  <a:pt x="423333" y="0"/>
                </a:lnTo>
              </a:path>
            </a:pathLst>
          </a:custGeom>
          <a:ln w="29633">
            <a:solidFill>
              <a:srgbClr val="3B3F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231900" y="4864100"/>
            <a:ext cx="2366645" cy="1409700"/>
            <a:chOff x="1231900" y="4864100"/>
            <a:chExt cx="2366645" cy="1409700"/>
          </a:xfrm>
        </p:grpSpPr>
        <p:sp>
          <p:nvSpPr>
            <p:cNvPr id="11" name="object 11" descr=""/>
            <p:cNvSpPr/>
            <p:nvPr/>
          </p:nvSpPr>
          <p:spPr>
            <a:xfrm>
              <a:off x="3175000" y="5532967"/>
              <a:ext cx="423545" cy="29845"/>
            </a:xfrm>
            <a:custGeom>
              <a:avLst/>
              <a:gdLst/>
              <a:ahLst/>
              <a:cxnLst/>
              <a:rect l="l" t="t" r="r" b="b"/>
              <a:pathLst>
                <a:path w="423545" h="29845">
                  <a:moveTo>
                    <a:pt x="0" y="0"/>
                  </a:moveTo>
                  <a:lnTo>
                    <a:pt x="423333" y="0"/>
                  </a:lnTo>
                  <a:lnTo>
                    <a:pt x="423333" y="29633"/>
                  </a:lnTo>
                  <a:lnTo>
                    <a:pt x="0" y="29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3F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1900" y="4864100"/>
              <a:ext cx="2362200" cy="1409700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38800" y="7524750"/>
            <a:ext cx="342900" cy="14605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94700" y="8229600"/>
            <a:ext cx="76200" cy="1270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45500" y="3003550"/>
            <a:ext cx="342900" cy="14605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86800" y="8102600"/>
            <a:ext cx="774700" cy="1778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48700" y="3314700"/>
            <a:ext cx="800100" cy="1524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26100" y="7315200"/>
            <a:ext cx="368300" cy="2286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32800" y="2794000"/>
            <a:ext cx="355600" cy="22860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216900" y="8115300"/>
            <a:ext cx="1346200" cy="3683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239500" y="3086100"/>
            <a:ext cx="355600" cy="355600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668734" y="4164188"/>
            <a:ext cx="1461135" cy="2750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10"/>
              </a:spcBef>
              <a:tabLst>
                <a:tab pos="654050" algn="l"/>
                <a:tab pos="1053465" algn="l"/>
              </a:tabLst>
            </a:pPr>
            <a:r>
              <a:rPr dirty="0" sz="4850" spc="-495">
                <a:solidFill>
                  <a:srgbClr val="3F3F3F"/>
                </a:solidFill>
                <a:latin typeface="Calibri"/>
                <a:cs typeface="Calibri"/>
              </a:rPr>
              <a:t>'X</a:t>
            </a:r>
            <a:r>
              <a:rPr dirty="0" sz="485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4850" spc="-385">
                <a:solidFill>
                  <a:srgbClr val="494949"/>
                </a:solidFill>
                <a:latin typeface="Calibri"/>
                <a:cs typeface="Calibri"/>
              </a:rPr>
              <a:t>I</a:t>
            </a:r>
            <a:r>
              <a:rPr dirty="0" sz="4850">
                <a:solidFill>
                  <a:srgbClr val="494949"/>
                </a:solidFill>
                <a:latin typeface="Calibri"/>
                <a:cs typeface="Calibri"/>
              </a:rPr>
              <a:t>	</a:t>
            </a:r>
            <a:r>
              <a:rPr dirty="0" sz="4850" spc="70">
                <a:solidFill>
                  <a:srgbClr val="3F3F3F"/>
                </a:solidFill>
                <a:latin typeface="Calibri"/>
                <a:cs typeface="Calibri"/>
              </a:rPr>
              <a:t>r’</a:t>
            </a:r>
            <a:endParaRPr sz="4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60"/>
              </a:spcBef>
            </a:pPr>
            <a:endParaRPr sz="4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656590" algn="l"/>
                <a:tab pos="1095375" algn="l"/>
              </a:tabLst>
            </a:pPr>
            <a:r>
              <a:rPr dirty="0" sz="5950" spc="90">
                <a:solidFill>
                  <a:srgbClr val="3F3F3F"/>
                </a:solidFill>
                <a:latin typeface="Calibri"/>
                <a:cs typeface="Calibri"/>
              </a:rPr>
              <a:t>›</a:t>
            </a:r>
            <a:r>
              <a:rPr dirty="0" sz="595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5950" spc="-5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dirty="0" sz="595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5950" spc="30">
                <a:solidFill>
                  <a:srgbClr val="3F3F3F"/>
                </a:solidFill>
                <a:latin typeface="Calibri"/>
                <a:cs typeface="Calibri"/>
              </a:rPr>
              <a:t>\</a:t>
            </a:r>
            <a:endParaRPr sz="5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733305" y="781049"/>
            <a:ext cx="293052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-65">
                <a:solidFill>
                  <a:srgbClr val="262626"/>
                </a:solidFill>
                <a:latin typeface="Calibri"/>
                <a:cs typeface="Calibri"/>
              </a:rPr>
              <a:t>Portrait</a:t>
            </a:r>
            <a:endParaRPr sz="75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835404" y="781049"/>
            <a:ext cx="4551045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-10">
                <a:solidFill>
                  <a:srgbClr val="242424"/>
                </a:solidFill>
                <a:latin typeface="Calibri"/>
                <a:cs typeface="Calibri"/>
              </a:rPr>
              <a:t>Inefficiency</a:t>
            </a:r>
            <a:endParaRPr sz="75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075159" y="7241822"/>
            <a:ext cx="906144" cy="4597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ts val="1725"/>
              </a:lnSpc>
              <a:spcBef>
                <a:spcPts val="125"/>
              </a:spcBef>
            </a:pPr>
            <a:r>
              <a:rPr dirty="0" sz="1500" spc="-10">
                <a:solidFill>
                  <a:srgbClr val="595959"/>
                </a:solidFill>
                <a:latin typeface="Calibri"/>
                <a:cs typeface="Calibri"/>
              </a:rPr>
              <a:t>Repeated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664"/>
              </a:lnSpc>
            </a:pPr>
            <a:r>
              <a:rPr dirty="0" sz="1450" spc="-10">
                <a:solidFill>
                  <a:srgbClr val="626262"/>
                </a:solidFill>
                <a:latin typeface="Calibri"/>
                <a:cs typeface="Calibri"/>
              </a:rPr>
              <a:t>calculation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881859" y="2711802"/>
            <a:ext cx="906144" cy="468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875">
              <a:lnSpc>
                <a:spcPts val="1835"/>
              </a:lnSpc>
              <a:spcBef>
                <a:spcPts val="95"/>
              </a:spcBef>
            </a:pPr>
            <a:r>
              <a:rPr dirty="0" sz="1600" spc="-10">
                <a:solidFill>
                  <a:srgbClr val="747474"/>
                </a:solidFill>
                <a:latin typeface="Calibri"/>
                <a:cs typeface="Calibri"/>
              </a:rPr>
              <a:t>Repeated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655"/>
              </a:lnSpc>
            </a:pPr>
            <a:r>
              <a:rPr dirty="0" sz="1450" spc="-10">
                <a:solidFill>
                  <a:srgbClr val="707070"/>
                </a:solidFill>
                <a:latin typeface="Calibri"/>
                <a:cs typeface="Calibri"/>
              </a:rPr>
              <a:t>calculation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680404" y="3012722"/>
            <a:ext cx="904240" cy="4679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0320" marR="5080" indent="-8255">
              <a:lnSpc>
                <a:spcPts val="1650"/>
              </a:lnSpc>
              <a:spcBef>
                <a:spcPts val="305"/>
              </a:spcBef>
            </a:pPr>
            <a:r>
              <a:rPr dirty="0" sz="1500" spc="-10">
                <a:solidFill>
                  <a:srgbClr val="676767"/>
                </a:solidFill>
                <a:latin typeface="Calibri"/>
                <a:cs typeface="Calibri"/>
              </a:rPr>
              <a:t>Repeated </a:t>
            </a:r>
            <a:r>
              <a:rPr dirty="0" sz="1500" spc="-10">
                <a:solidFill>
                  <a:srgbClr val="797979"/>
                </a:solidFill>
                <a:latin typeface="Calibri"/>
                <a:cs typeface="Calibri"/>
              </a:rPr>
              <a:t>calculation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425664" y="7531452"/>
            <a:ext cx="899794" cy="4787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0320" marR="5080" indent="-8255">
              <a:lnSpc>
                <a:spcPts val="1650"/>
              </a:lnSpc>
              <a:spcBef>
                <a:spcPts val="375"/>
              </a:spcBef>
            </a:pPr>
            <a:r>
              <a:rPr dirty="0" sz="1600" spc="-10">
                <a:solidFill>
                  <a:srgbClr val="6B6B6B"/>
                </a:solidFill>
                <a:latin typeface="Calibri"/>
                <a:cs typeface="Calibri"/>
              </a:rPr>
              <a:t>Repeated </a:t>
            </a:r>
            <a:r>
              <a:rPr dirty="0" sz="1600" spc="-30">
                <a:solidFill>
                  <a:srgbClr val="646464"/>
                </a:solidFill>
                <a:latin typeface="Calibri"/>
                <a:cs typeface="Calibri"/>
              </a:rPr>
              <a:t>calculation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5700" y="3619500"/>
            <a:ext cx="1473200" cy="355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45900" y="3213100"/>
            <a:ext cx="2070100" cy="1168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57300" y="5702300"/>
            <a:ext cx="1143000" cy="1130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55700" y="3632200"/>
            <a:ext cx="1473200" cy="18288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21000" y="3479800"/>
            <a:ext cx="660400" cy="635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36116" y="1404408"/>
            <a:ext cx="7275830" cy="17183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6605"/>
              </a:lnSpc>
              <a:spcBef>
                <a:spcPts val="90"/>
              </a:spcBef>
            </a:pPr>
            <a:r>
              <a:rPr dirty="0" sz="6050" spc="-254"/>
              <a:t>The</a:t>
            </a:r>
            <a:r>
              <a:rPr dirty="0" sz="6050" spc="-370"/>
              <a:t> </a:t>
            </a:r>
            <a:r>
              <a:rPr dirty="0" sz="6050" spc="-10">
                <a:solidFill>
                  <a:srgbClr val="1F1F1F"/>
                </a:solidFill>
              </a:rPr>
              <a:t>Solution:</a:t>
            </a:r>
            <a:endParaRPr sz="6050"/>
          </a:p>
          <a:p>
            <a:pPr marL="19050">
              <a:lnSpc>
                <a:spcPts val="6725"/>
              </a:lnSpc>
            </a:pPr>
            <a:r>
              <a:rPr dirty="0" sz="6150" spc="-200"/>
              <a:t>An</a:t>
            </a:r>
            <a:r>
              <a:rPr dirty="0" sz="6150" spc="-675"/>
              <a:t> </a:t>
            </a:r>
            <a:r>
              <a:rPr dirty="0" sz="6150" spc="-20">
                <a:solidFill>
                  <a:srgbClr val="1F1F1F"/>
                </a:solidFill>
              </a:rPr>
              <a:t>Intelligent</a:t>
            </a:r>
            <a:r>
              <a:rPr dirty="0" sz="6150" spc="-310">
                <a:solidFill>
                  <a:srgbClr val="1F1F1F"/>
                </a:solidFill>
              </a:rPr>
              <a:t> </a:t>
            </a:r>
            <a:r>
              <a:rPr dirty="0" sz="6150" spc="-145"/>
              <a:t>Memory</a:t>
            </a:r>
            <a:endParaRPr sz="6150"/>
          </a:p>
        </p:txBody>
      </p:sp>
      <p:sp>
        <p:nvSpPr>
          <p:cNvPr id="8" name="object 8" descr=""/>
          <p:cNvSpPr txBox="1"/>
          <p:nvPr/>
        </p:nvSpPr>
        <p:spPr>
          <a:xfrm>
            <a:off x="1025321" y="3627261"/>
            <a:ext cx="6576059" cy="284988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9685" marR="5080" indent="-7620">
              <a:lnSpc>
                <a:spcPts val="4400"/>
              </a:lnSpc>
              <a:spcBef>
                <a:spcPts val="434"/>
              </a:spcBef>
            </a:pPr>
            <a:r>
              <a:rPr dirty="0" sz="3850" spc="-200">
                <a:solidFill>
                  <a:srgbClr val="0C0C0C"/>
                </a:solidFill>
                <a:latin typeface="Calibri"/>
                <a:cs typeface="Calibri"/>
              </a:rPr>
              <a:t>Memoization</a:t>
            </a:r>
            <a:r>
              <a:rPr dirty="0" sz="3850" spc="1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850">
                <a:solidFill>
                  <a:srgbClr val="0E0E0E"/>
                </a:solidFill>
                <a:latin typeface="Calibri"/>
                <a:cs typeface="Calibri"/>
              </a:rPr>
              <a:t>is</a:t>
            </a:r>
            <a:r>
              <a:rPr dirty="0" sz="3850" spc="-15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3850" spc="-215">
                <a:solidFill>
                  <a:srgbClr val="111111"/>
                </a:solidFill>
                <a:latin typeface="Calibri"/>
                <a:cs typeface="Calibri"/>
              </a:rPr>
              <a:t>the</a:t>
            </a:r>
            <a:r>
              <a:rPr dirty="0" sz="3850" spc="-1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850" spc="-200">
                <a:solidFill>
                  <a:srgbClr val="0C0C0C"/>
                </a:solidFill>
                <a:latin typeface="Calibri"/>
                <a:cs typeface="Calibri"/>
              </a:rPr>
              <a:t>technique</a:t>
            </a:r>
            <a:r>
              <a:rPr dirty="0" sz="3850" spc="6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850" spc="-25">
                <a:solidFill>
                  <a:srgbClr val="111111"/>
                </a:solidFill>
                <a:latin typeface="Calibri"/>
                <a:cs typeface="Calibri"/>
              </a:rPr>
              <a:t>of </a:t>
            </a:r>
            <a:r>
              <a:rPr dirty="0" sz="3950" spc="-170">
                <a:solidFill>
                  <a:srgbClr val="131313"/>
                </a:solidFill>
                <a:latin typeface="Calibri"/>
                <a:cs typeface="Calibri"/>
              </a:rPr>
              <a:t>storing</a:t>
            </a:r>
            <a:r>
              <a:rPr dirty="0" sz="3950" spc="-6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950" spc="-290">
                <a:solidFill>
                  <a:srgbClr val="111111"/>
                </a:solidFill>
                <a:latin typeface="Calibri"/>
                <a:cs typeface="Calibri"/>
              </a:rPr>
              <a:t>the</a:t>
            </a:r>
            <a:r>
              <a:rPr dirty="0" sz="3950" spc="6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950" spc="-145">
                <a:solidFill>
                  <a:srgbClr val="0F0F0F"/>
                </a:solidFill>
                <a:latin typeface="Calibri"/>
                <a:cs typeface="Calibri"/>
              </a:rPr>
              <a:t>results</a:t>
            </a:r>
            <a:r>
              <a:rPr dirty="0" sz="3950" spc="-8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950" spc="-90">
                <a:solidFill>
                  <a:srgbClr val="131313"/>
                </a:solidFill>
                <a:latin typeface="Calibri"/>
                <a:cs typeface="Calibri"/>
              </a:rPr>
              <a:t>of</a:t>
            </a:r>
            <a:r>
              <a:rPr dirty="0" sz="3950" spc="-5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950" spc="-114">
                <a:solidFill>
                  <a:srgbClr val="0E0E0E"/>
                </a:solidFill>
                <a:latin typeface="Calibri"/>
                <a:cs typeface="Calibri"/>
              </a:rPr>
              <a:t>expensive </a:t>
            </a:r>
            <a:r>
              <a:rPr dirty="0" sz="3750" spc="-125">
                <a:solidFill>
                  <a:srgbClr val="161616"/>
                </a:solidFill>
                <a:latin typeface="Calibri"/>
                <a:cs typeface="Calibri"/>
              </a:rPr>
              <a:t>function</a:t>
            </a:r>
            <a:r>
              <a:rPr dirty="0" sz="3750" spc="-6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3750">
                <a:solidFill>
                  <a:srgbClr val="131313"/>
                </a:solidFill>
                <a:latin typeface="Calibri"/>
                <a:cs typeface="Calibri"/>
              </a:rPr>
              <a:t>calls</a:t>
            </a:r>
            <a:r>
              <a:rPr dirty="0" sz="3750" spc="2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750" spc="-185">
                <a:solidFill>
                  <a:srgbClr val="111111"/>
                </a:solidFill>
                <a:latin typeface="Calibri"/>
                <a:cs typeface="Calibri"/>
              </a:rPr>
              <a:t>and</a:t>
            </a:r>
            <a:r>
              <a:rPr dirty="0" sz="3750" spc="-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750" spc="-155">
                <a:solidFill>
                  <a:srgbClr val="111111"/>
                </a:solidFill>
                <a:latin typeface="Calibri"/>
                <a:cs typeface="Calibri"/>
              </a:rPr>
              <a:t>returning</a:t>
            </a:r>
            <a:r>
              <a:rPr dirty="0" sz="3750" spc="2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750" spc="-25">
                <a:solidFill>
                  <a:srgbClr val="111111"/>
                </a:solidFill>
                <a:latin typeface="Calibri"/>
                <a:cs typeface="Calibri"/>
              </a:rPr>
              <a:t>the </a:t>
            </a:r>
            <a:r>
              <a:rPr dirty="0" sz="3800" spc="-95">
                <a:solidFill>
                  <a:srgbClr val="0F0F0F"/>
                </a:solidFill>
                <a:latin typeface="Calibri"/>
                <a:cs typeface="Calibri"/>
              </a:rPr>
              <a:t>cached</a:t>
            </a:r>
            <a:r>
              <a:rPr dirty="0" sz="3800" spc="-12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800" spc="-114">
                <a:solidFill>
                  <a:srgbClr val="0E0E0E"/>
                </a:solidFill>
                <a:latin typeface="Calibri"/>
                <a:cs typeface="Calibri"/>
              </a:rPr>
              <a:t>result</a:t>
            </a:r>
            <a:r>
              <a:rPr dirty="0" sz="3800" spc="-10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3800" spc="-265">
                <a:solidFill>
                  <a:srgbClr val="0F0F0F"/>
                </a:solidFill>
                <a:latin typeface="Calibri"/>
                <a:cs typeface="Calibri"/>
              </a:rPr>
              <a:t>when</a:t>
            </a:r>
            <a:r>
              <a:rPr dirty="0" sz="3800" spc="-2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800" spc="-165">
                <a:solidFill>
                  <a:srgbClr val="0E0E0E"/>
                </a:solidFill>
                <a:latin typeface="Calibri"/>
                <a:cs typeface="Calibri"/>
              </a:rPr>
              <a:t>the</a:t>
            </a:r>
            <a:r>
              <a:rPr dirty="0" sz="3800" spc="-5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3800" spc="-80">
                <a:solidFill>
                  <a:srgbClr val="131313"/>
                </a:solidFill>
                <a:latin typeface="Calibri"/>
                <a:cs typeface="Calibri"/>
              </a:rPr>
              <a:t>same</a:t>
            </a:r>
            <a:r>
              <a:rPr dirty="0" sz="3800" spc="-5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800" spc="-135">
                <a:solidFill>
                  <a:srgbClr val="0F0F0F"/>
                </a:solidFill>
                <a:latin typeface="Calibri"/>
                <a:cs typeface="Calibri"/>
              </a:rPr>
              <a:t>inputs </a:t>
            </a:r>
            <a:r>
              <a:rPr dirty="0" sz="3750" spc="-70">
                <a:solidFill>
                  <a:srgbClr val="111111"/>
                </a:solidFill>
                <a:latin typeface="Calibri"/>
                <a:cs typeface="Calibri"/>
              </a:rPr>
              <a:t>occur</a:t>
            </a:r>
            <a:r>
              <a:rPr dirty="0" sz="3750" spc="-12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750" spc="-10">
                <a:solidFill>
                  <a:srgbClr val="0F0F0F"/>
                </a:solidFill>
                <a:latin typeface="Calibri"/>
                <a:cs typeface="Calibri"/>
              </a:rPr>
              <a:t>again.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71307" y="4177594"/>
            <a:ext cx="80962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114">
                <a:solidFill>
                  <a:srgbClr val="111111"/>
                </a:solidFill>
                <a:latin typeface="Arial MT"/>
                <a:cs typeface="Arial MT"/>
              </a:rPr>
              <a:t>Input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985261" y="4466872"/>
            <a:ext cx="136461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0">
                <a:solidFill>
                  <a:srgbClr val="161616"/>
                </a:solidFill>
                <a:latin typeface="Arial MT"/>
                <a:cs typeface="Arial MT"/>
              </a:rPr>
              <a:t>Function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015046" y="6925733"/>
            <a:ext cx="100012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40">
                <a:solidFill>
                  <a:srgbClr val="1CA06E"/>
                </a:solidFill>
                <a:latin typeface="Arial MT"/>
                <a:cs typeface="Arial MT"/>
              </a:rPr>
              <a:t>Cache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438792" y="4186413"/>
            <a:ext cx="98044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30">
                <a:solidFill>
                  <a:srgbClr val="0F0F0F"/>
                </a:solidFill>
                <a:latin typeface="Arial MT"/>
                <a:cs typeface="Arial MT"/>
              </a:rPr>
              <a:t>Result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 MT"/>
                <a:cs typeface="Arial MT"/>
              </a:rPr>
              <a:t>G</a:t>
            </a:r>
            <a:r>
              <a:rPr dirty="0" sz="1500" spc="260">
                <a:latin typeface="Arial MT"/>
                <a:cs typeface="Arial MT"/>
              </a:rPr>
              <a:t> </a:t>
            </a:r>
            <a:r>
              <a:rPr dirty="0" sz="1500" spc="-90">
                <a:latin typeface="Arial MT"/>
                <a:cs typeface="Arial MT"/>
              </a:rPr>
              <a:t>NotebookLM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2600" y="5410200"/>
            <a:ext cx="11645900" cy="2032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003300" y="971550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 h="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12700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3030" y="723547"/>
            <a:ext cx="12372340" cy="9251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900" spc="-80">
                <a:solidFill>
                  <a:srgbClr val="1F1F1F"/>
                </a:solidFill>
              </a:rPr>
              <a:t>The</a:t>
            </a:r>
            <a:r>
              <a:rPr dirty="0" sz="5900" spc="-375">
                <a:solidFill>
                  <a:srgbClr val="1F1F1F"/>
                </a:solidFill>
              </a:rPr>
              <a:t> </a:t>
            </a:r>
            <a:r>
              <a:rPr dirty="0" sz="5900" spc="105">
                <a:solidFill>
                  <a:srgbClr val="1C1C1C"/>
                </a:solidFill>
              </a:rPr>
              <a:t>Intelligent</a:t>
            </a:r>
            <a:r>
              <a:rPr dirty="0" sz="5900" spc="185">
                <a:solidFill>
                  <a:srgbClr val="1C1C1C"/>
                </a:solidFill>
              </a:rPr>
              <a:t> </a:t>
            </a:r>
            <a:r>
              <a:rPr dirty="0" sz="5900"/>
              <a:t>Path:</a:t>
            </a:r>
            <a:r>
              <a:rPr dirty="0" sz="5900" spc="-330"/>
              <a:t> </a:t>
            </a:r>
            <a:r>
              <a:rPr dirty="0" sz="5900">
                <a:solidFill>
                  <a:srgbClr val="1F1F1F"/>
                </a:solidFill>
              </a:rPr>
              <a:t>Calculate</a:t>
            </a:r>
            <a:r>
              <a:rPr dirty="0" sz="5900" spc="35">
                <a:solidFill>
                  <a:srgbClr val="1F1F1F"/>
                </a:solidFill>
              </a:rPr>
              <a:t> </a:t>
            </a:r>
            <a:r>
              <a:rPr dirty="0" sz="5900" spc="-10"/>
              <a:t>Once,</a:t>
            </a:r>
            <a:endParaRPr sz="5900"/>
          </a:p>
        </p:txBody>
      </p:sp>
      <p:sp>
        <p:nvSpPr>
          <p:cNvPr id="5" name="object 5" descr=""/>
          <p:cNvSpPr txBox="1"/>
          <p:nvPr/>
        </p:nvSpPr>
        <p:spPr>
          <a:xfrm>
            <a:off x="958456" y="1553986"/>
            <a:ext cx="6380480" cy="904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750">
                <a:solidFill>
                  <a:srgbClr val="212121"/>
                </a:solidFill>
                <a:latin typeface="Arial MT"/>
                <a:cs typeface="Arial MT"/>
              </a:rPr>
              <a:t>Remember</a:t>
            </a:r>
            <a:r>
              <a:rPr dirty="0" sz="575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5750" spc="-10">
                <a:solidFill>
                  <a:srgbClr val="1D1D1D"/>
                </a:solidFill>
                <a:latin typeface="Arial MT"/>
                <a:cs typeface="Arial MT"/>
              </a:rPr>
              <a:t>Forever</a:t>
            </a:r>
            <a:endParaRPr sz="57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4469" y="2680758"/>
            <a:ext cx="10086975" cy="1581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335">
              <a:lnSpc>
                <a:spcPts val="4180"/>
              </a:lnSpc>
              <a:spcBef>
                <a:spcPts val="90"/>
              </a:spcBef>
              <a:tabLst>
                <a:tab pos="3864610" algn="l"/>
              </a:tabLst>
            </a:pPr>
            <a:r>
              <a:rPr dirty="0" sz="3550">
                <a:solidFill>
                  <a:srgbClr val="111111"/>
                </a:solidFill>
                <a:latin typeface="Calibri"/>
                <a:cs typeface="Calibri"/>
              </a:rPr>
              <a:t>For</a:t>
            </a:r>
            <a:r>
              <a:rPr dirty="0" sz="3550" spc="8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550" spc="-285">
                <a:solidFill>
                  <a:srgbClr val="131313"/>
                </a:solidFill>
                <a:latin typeface="Calibri"/>
                <a:cs typeface="Calibri"/>
              </a:rPr>
              <a:t>”1</a:t>
            </a:r>
            <a:r>
              <a:rPr dirty="0" sz="3550" spc="8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50">
                <a:solidFill>
                  <a:srgbClr val="0A0A0A"/>
                </a:solidFill>
                <a:latin typeface="Calibri"/>
                <a:cs typeface="Calibri"/>
              </a:rPr>
              <a:t>+</a:t>
            </a:r>
            <a:r>
              <a:rPr dirty="0" sz="3550" spc="-14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550">
                <a:solidFill>
                  <a:srgbClr val="161616"/>
                </a:solidFill>
                <a:latin typeface="Calibri"/>
                <a:cs typeface="Calibri"/>
              </a:rPr>
              <a:t>1</a:t>
            </a:r>
            <a:r>
              <a:rPr dirty="0" sz="3550" spc="-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3550" spc="50">
                <a:solidFill>
                  <a:srgbClr val="0F0F0F"/>
                </a:solidFill>
                <a:latin typeface="Calibri"/>
                <a:cs typeface="Calibri"/>
              </a:rPr>
              <a:t>+</a:t>
            </a:r>
            <a:r>
              <a:rPr dirty="0" sz="3550" spc="-14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550">
                <a:solidFill>
                  <a:srgbClr val="151515"/>
                </a:solidFill>
                <a:latin typeface="Calibri"/>
                <a:cs typeface="Calibri"/>
              </a:rPr>
              <a:t>1</a:t>
            </a:r>
            <a:r>
              <a:rPr dirty="0" sz="3550" spc="-3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550">
                <a:solidFill>
                  <a:srgbClr val="0E0E0E"/>
                </a:solidFill>
                <a:latin typeface="Calibri"/>
                <a:cs typeface="Calibri"/>
              </a:rPr>
              <a:t>+</a:t>
            </a:r>
            <a:r>
              <a:rPr dirty="0" sz="3550" spc="-4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3550">
                <a:solidFill>
                  <a:srgbClr val="1C1C1C"/>
                </a:solidFill>
                <a:latin typeface="Calibri"/>
                <a:cs typeface="Calibri"/>
              </a:rPr>
              <a:t>1</a:t>
            </a:r>
            <a:r>
              <a:rPr dirty="0" sz="3550" spc="-13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550" spc="50">
                <a:solidFill>
                  <a:srgbClr val="080808"/>
                </a:solidFill>
                <a:latin typeface="Calibri"/>
                <a:cs typeface="Calibri"/>
              </a:rPr>
              <a:t>+</a:t>
            </a:r>
            <a:r>
              <a:rPr dirty="0" sz="3550" spc="-5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550" spc="-50">
                <a:solidFill>
                  <a:srgbClr val="111111"/>
                </a:solidFill>
                <a:latin typeface="Calibri"/>
                <a:cs typeface="Calibri"/>
              </a:rPr>
              <a:t>1</a:t>
            </a:r>
            <a:r>
              <a:rPr dirty="0" sz="3550">
                <a:solidFill>
                  <a:srgbClr val="111111"/>
                </a:solidFill>
                <a:latin typeface="Calibri"/>
                <a:cs typeface="Calibri"/>
              </a:rPr>
              <a:t>	</a:t>
            </a:r>
            <a:r>
              <a:rPr dirty="0" sz="3550" spc="-140">
                <a:solidFill>
                  <a:srgbClr val="1C1C1C"/>
                </a:solidFill>
                <a:latin typeface="Calibri"/>
                <a:cs typeface="Calibri"/>
              </a:rPr>
              <a:t>,</a:t>
            </a:r>
            <a:r>
              <a:rPr dirty="0" sz="3550" spc="-15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550" spc="-95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dirty="0" sz="3550" spc="-10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-60">
                <a:solidFill>
                  <a:srgbClr val="0A0A0A"/>
                </a:solidFill>
                <a:latin typeface="Calibri"/>
                <a:cs typeface="Calibri"/>
              </a:rPr>
              <a:t>process</a:t>
            </a:r>
            <a:r>
              <a:rPr dirty="0" sz="3550" spc="-9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550" spc="-10">
                <a:latin typeface="Calibri"/>
                <a:cs typeface="Calibri"/>
              </a:rPr>
              <a:t>changes.</a:t>
            </a:r>
            <a:endParaRPr sz="3550">
              <a:latin typeface="Calibri"/>
              <a:cs typeface="Calibri"/>
            </a:endParaRPr>
          </a:p>
          <a:p>
            <a:pPr marL="18415">
              <a:lnSpc>
                <a:spcPts val="3940"/>
              </a:lnSpc>
              <a:tabLst>
                <a:tab pos="3138170" algn="l"/>
              </a:tabLst>
            </a:pPr>
            <a:r>
              <a:rPr dirty="0" sz="3450" spc="-25">
                <a:solidFill>
                  <a:srgbClr val="0F0F0F"/>
                </a:solidFill>
                <a:latin typeface="Calibri"/>
                <a:cs typeface="Calibri"/>
              </a:rPr>
              <a:t>Aher</a:t>
            </a:r>
            <a:r>
              <a:rPr dirty="0" sz="3450" spc="-15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0F0F0F"/>
                </a:solidFill>
                <a:latin typeface="Calibri"/>
                <a:cs typeface="Calibri"/>
              </a:rPr>
              <a:t>calculating</a:t>
            </a:r>
            <a:r>
              <a:rPr dirty="0" sz="3450">
                <a:solidFill>
                  <a:srgbClr val="0F0F0F"/>
                </a:solidFill>
                <a:latin typeface="Calibri"/>
                <a:cs typeface="Calibri"/>
              </a:rPr>
              <a:t>	</a:t>
            </a:r>
            <a:r>
              <a:rPr dirty="0" sz="3450">
                <a:solidFill>
                  <a:srgbClr val="111111"/>
                </a:solidFill>
                <a:latin typeface="Calibri"/>
                <a:cs typeface="Calibri"/>
              </a:rPr>
              <a:t>1</a:t>
            </a:r>
            <a:r>
              <a:rPr dirty="0" sz="3450" spc="-8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A0A0A"/>
                </a:solidFill>
                <a:latin typeface="Calibri"/>
                <a:cs typeface="Calibri"/>
              </a:rPr>
              <a:t>+</a:t>
            </a:r>
            <a:r>
              <a:rPr dirty="0" sz="3450" spc="-6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C0C0C"/>
                </a:solidFill>
                <a:latin typeface="Calibri"/>
                <a:cs typeface="Calibri"/>
              </a:rPr>
              <a:t>1</a:t>
            </a:r>
            <a:r>
              <a:rPr dirty="0" sz="3450" spc="-18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=</a:t>
            </a:r>
            <a:r>
              <a:rPr dirty="0" sz="3450" spc="-40"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F0F0F"/>
                </a:solidFill>
                <a:latin typeface="Calibri"/>
                <a:cs typeface="Calibri"/>
              </a:rPr>
              <a:t>2”,</a:t>
            </a:r>
            <a:r>
              <a:rPr dirty="0" sz="3450" spc="-19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450" spc="-10">
                <a:solidFill>
                  <a:srgbClr val="0F0F0F"/>
                </a:solidFill>
                <a:latin typeface="Calibri"/>
                <a:cs typeface="Calibri"/>
              </a:rPr>
              <a:t>the</a:t>
            </a:r>
            <a:r>
              <a:rPr dirty="0" sz="3450" spc="-9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450" spc="-55">
                <a:solidFill>
                  <a:srgbClr val="0E0E0E"/>
                </a:solidFill>
                <a:latin typeface="Calibri"/>
                <a:cs typeface="Calibri"/>
              </a:rPr>
              <a:t>computer</a:t>
            </a:r>
            <a:r>
              <a:rPr dirty="0" sz="3450" spc="8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3450" spc="-60">
                <a:solidFill>
                  <a:srgbClr val="111111"/>
                </a:solidFill>
                <a:latin typeface="Calibri"/>
                <a:cs typeface="Calibri"/>
              </a:rPr>
              <a:t>remembers</a:t>
            </a:r>
            <a:r>
              <a:rPr dirty="0" sz="3450" spc="19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450" spc="-20">
                <a:solidFill>
                  <a:srgbClr val="080808"/>
                </a:solidFill>
                <a:latin typeface="Calibri"/>
                <a:cs typeface="Calibri"/>
              </a:rPr>
              <a:t>'2’.</a:t>
            </a:r>
            <a:endParaRPr sz="3450">
              <a:latin typeface="Calibri"/>
              <a:cs typeface="Calibri"/>
            </a:endParaRPr>
          </a:p>
          <a:p>
            <a:pPr marL="12700">
              <a:lnSpc>
                <a:spcPts val="4140"/>
              </a:lnSpc>
              <a:tabLst>
                <a:tab pos="1623060" algn="l"/>
                <a:tab pos="2460625" algn="l"/>
              </a:tabLst>
            </a:pPr>
            <a:r>
              <a:rPr dirty="0" sz="3550" spc="-200">
                <a:solidFill>
                  <a:srgbClr val="0A0A0A"/>
                </a:solidFill>
                <a:latin typeface="Calibri"/>
                <a:cs typeface="Calibri"/>
              </a:rPr>
              <a:t>When</a:t>
            </a:r>
            <a:r>
              <a:rPr dirty="0" sz="3550" spc="2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550" spc="-25">
                <a:solidFill>
                  <a:srgbClr val="0A0A0A"/>
                </a:solidFill>
                <a:latin typeface="Calibri"/>
                <a:cs typeface="Calibri"/>
              </a:rPr>
              <a:t>'2</a:t>
            </a:r>
            <a:r>
              <a:rPr dirty="0" sz="3550">
                <a:solidFill>
                  <a:srgbClr val="0A0A0A"/>
                </a:solidFill>
                <a:latin typeface="Calibri"/>
                <a:cs typeface="Calibri"/>
              </a:rPr>
              <a:t>	</a:t>
            </a:r>
            <a:r>
              <a:rPr dirty="0" sz="3550" spc="50">
                <a:solidFill>
                  <a:srgbClr val="0C0C0C"/>
                </a:solidFill>
                <a:latin typeface="Calibri"/>
                <a:cs typeface="Calibri"/>
              </a:rPr>
              <a:t>+</a:t>
            </a:r>
            <a:r>
              <a:rPr dirty="0" sz="35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550" spc="-25">
                <a:solidFill>
                  <a:srgbClr val="0A0A0A"/>
                </a:solidFill>
                <a:latin typeface="Calibri"/>
                <a:cs typeface="Calibri"/>
              </a:rPr>
              <a:t>1‘</a:t>
            </a:r>
            <a:r>
              <a:rPr dirty="0" sz="3550">
                <a:solidFill>
                  <a:srgbClr val="0A0A0A"/>
                </a:solidFill>
                <a:latin typeface="Calibri"/>
                <a:cs typeface="Calibri"/>
              </a:rPr>
              <a:t>	is</a:t>
            </a:r>
            <a:r>
              <a:rPr dirty="0" sz="3550" spc="-20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550" spc="-85">
                <a:solidFill>
                  <a:srgbClr val="0A0A0A"/>
                </a:solidFill>
                <a:latin typeface="Calibri"/>
                <a:cs typeface="Calibri"/>
              </a:rPr>
              <a:t>needed,</a:t>
            </a:r>
            <a:r>
              <a:rPr dirty="0" sz="3550" spc="-114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550" spc="-10">
                <a:solidFill>
                  <a:srgbClr val="0C0C0C"/>
                </a:solidFill>
                <a:latin typeface="Calibri"/>
                <a:cs typeface="Calibri"/>
              </a:rPr>
              <a:t>it</a:t>
            </a:r>
            <a:r>
              <a:rPr dirty="0" sz="3550" spc="-229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550" spc="-30">
                <a:solidFill>
                  <a:srgbClr val="0C0C0C"/>
                </a:solidFill>
                <a:latin typeface="Calibri"/>
                <a:cs typeface="Calibri"/>
              </a:rPr>
              <a:t>simply</a:t>
            </a:r>
            <a:r>
              <a:rPr dirty="0" sz="3550" spc="-16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550">
                <a:solidFill>
                  <a:srgbClr val="080808"/>
                </a:solidFill>
                <a:latin typeface="Calibri"/>
                <a:cs typeface="Calibri"/>
              </a:rPr>
              <a:t>uses</a:t>
            </a:r>
            <a:r>
              <a:rPr dirty="0" sz="3550" spc="-8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550" spc="-130">
                <a:solidFill>
                  <a:srgbClr val="0F0F0F"/>
                </a:solidFill>
                <a:latin typeface="Calibri"/>
                <a:cs typeface="Calibri"/>
              </a:rPr>
              <a:t>the</a:t>
            </a:r>
            <a:r>
              <a:rPr dirty="0" sz="3550" spc="-6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550" spc="-90">
                <a:solidFill>
                  <a:srgbClr val="0C0C0C"/>
                </a:solidFill>
                <a:latin typeface="Calibri"/>
                <a:cs typeface="Calibri"/>
              </a:rPr>
              <a:t>stored</a:t>
            </a:r>
            <a:r>
              <a:rPr dirty="0" sz="3550" spc="-7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550" spc="-10">
                <a:solidFill>
                  <a:srgbClr val="070707"/>
                </a:solidFill>
                <a:latin typeface="Calibri"/>
                <a:cs typeface="Calibri"/>
              </a:rPr>
              <a:t>resutt.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89391" y="5911850"/>
            <a:ext cx="9137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60">
                <a:solidFill>
                  <a:srgbClr val="219572"/>
                </a:solidFill>
                <a:latin typeface="Calibri"/>
                <a:cs typeface="Calibri"/>
              </a:rPr>
              <a:t>STORE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15741" y="6028266"/>
            <a:ext cx="1959610" cy="723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>
                <a:solidFill>
                  <a:srgbClr val="151515"/>
                </a:solidFill>
                <a:latin typeface="Calibri"/>
                <a:cs typeface="Calibri"/>
              </a:rPr>
              <a:t>1</a:t>
            </a:r>
            <a:r>
              <a:rPr dirty="0" sz="455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550" spc="110">
                <a:solidFill>
                  <a:srgbClr val="151515"/>
                </a:solidFill>
                <a:latin typeface="Calibri"/>
                <a:cs typeface="Calibri"/>
              </a:rPr>
              <a:t>+</a:t>
            </a:r>
            <a:r>
              <a:rPr dirty="0" sz="4550" spc="-16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550" spc="-170">
                <a:solidFill>
                  <a:srgbClr val="151515"/>
                </a:solidFill>
                <a:latin typeface="Calibri"/>
                <a:cs typeface="Calibri"/>
              </a:rPr>
              <a:t>1</a:t>
            </a:r>
            <a:r>
              <a:rPr dirty="0" sz="4550" spc="-1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4550" spc="135">
                <a:solidFill>
                  <a:srgbClr val="131313"/>
                </a:solidFill>
                <a:latin typeface="Calibri"/>
                <a:cs typeface="Calibri"/>
              </a:rPr>
              <a:t>=</a:t>
            </a:r>
            <a:r>
              <a:rPr dirty="0" sz="4550" spc="-20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4550" spc="40">
                <a:solidFill>
                  <a:srgbClr val="161616"/>
                </a:solidFill>
                <a:latin typeface="Calibri"/>
                <a:cs typeface="Calibri"/>
              </a:rPr>
              <a:t>2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45721" y="7454194"/>
            <a:ext cx="93091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70">
                <a:latin typeface="Calibri"/>
                <a:cs typeface="Calibri"/>
              </a:rPr>
              <a:t>Cache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46800" y="5740047"/>
            <a:ext cx="3371215" cy="100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51305">
              <a:lnSpc>
                <a:spcPct val="100000"/>
              </a:lnSpc>
              <a:spcBef>
                <a:spcPts val="100"/>
              </a:spcBef>
            </a:pPr>
            <a:r>
              <a:rPr dirty="0" sz="2150" spc="240">
                <a:solidFill>
                  <a:srgbClr val="319070"/>
                </a:solidFill>
                <a:latin typeface="Calibri"/>
                <a:cs typeface="Calibri"/>
              </a:rPr>
              <a:t>RETRIEVE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 spc="1110">
                <a:solidFill>
                  <a:srgbClr val="03A579"/>
                </a:solidFill>
                <a:latin typeface="Arial MT"/>
                <a:cs typeface="Arial MT"/>
              </a:rPr>
              <a:t>—</a:t>
            </a:r>
            <a:r>
              <a:rPr dirty="0" sz="4150" spc="240">
                <a:solidFill>
                  <a:srgbClr val="03A579"/>
                </a:solidFill>
                <a:latin typeface="Arial MT"/>
                <a:cs typeface="Arial MT"/>
              </a:rPr>
              <a:t>&gt;</a:t>
            </a:r>
            <a:r>
              <a:rPr dirty="0" sz="4150" spc="240">
                <a:solidFill>
                  <a:srgbClr val="181818"/>
                </a:solidFill>
                <a:latin typeface="Arial MT"/>
                <a:cs typeface="Arial MT"/>
              </a:rPr>
              <a:t>[2]</a:t>
            </a:r>
            <a:r>
              <a:rPr dirty="0" sz="4150" spc="-11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31313"/>
                </a:solidFill>
                <a:latin typeface="Arial MT"/>
                <a:cs typeface="Arial MT"/>
              </a:rPr>
              <a:t>+</a:t>
            </a:r>
            <a:r>
              <a:rPr dirty="0" sz="4150" spc="-409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A1A1A"/>
                </a:solidFill>
                <a:latin typeface="Arial MT"/>
                <a:cs typeface="Arial MT"/>
              </a:rPr>
              <a:t>1</a:t>
            </a:r>
            <a:r>
              <a:rPr dirty="0" sz="4150" spc="-2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61616"/>
                </a:solidFill>
                <a:latin typeface="Arial MT"/>
                <a:cs typeface="Arial MT"/>
              </a:rPr>
              <a:t>=</a:t>
            </a:r>
            <a:r>
              <a:rPr dirty="0" sz="4150" spc="-33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150" spc="-50">
                <a:solidFill>
                  <a:srgbClr val="0AA779"/>
                </a:solidFill>
                <a:latin typeface="Arial MT"/>
                <a:cs typeface="Arial MT"/>
              </a:rPr>
              <a:t>3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695582" y="5740047"/>
            <a:ext cx="2332355" cy="100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100"/>
              </a:spcBef>
            </a:pPr>
            <a:r>
              <a:rPr dirty="0" sz="2150" spc="260">
                <a:solidFill>
                  <a:srgbClr val="2D896E"/>
                </a:solidFill>
                <a:latin typeface="Calibri"/>
                <a:cs typeface="Calibri"/>
              </a:rPr>
              <a:t>RETRIEVE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 spc="114">
                <a:solidFill>
                  <a:srgbClr val="0C0C0C"/>
                </a:solidFill>
                <a:latin typeface="Arial MT"/>
                <a:cs typeface="Arial MT"/>
              </a:rPr>
              <a:t>[3]</a:t>
            </a:r>
            <a:r>
              <a:rPr dirty="0" sz="4150" spc="-2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31313"/>
                </a:solidFill>
                <a:latin typeface="Arial MT"/>
                <a:cs typeface="Arial MT"/>
              </a:rPr>
              <a:t>+</a:t>
            </a:r>
            <a:r>
              <a:rPr dirty="0" sz="4150" spc="-40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r>
              <a:rPr dirty="0" sz="4150" spc="-24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31313"/>
                </a:solidFill>
                <a:latin typeface="Arial MT"/>
                <a:cs typeface="Arial MT"/>
              </a:rPr>
              <a:t>=</a:t>
            </a:r>
            <a:r>
              <a:rPr dirty="0" sz="4150" spc="-2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150" spc="65">
                <a:solidFill>
                  <a:srgbClr val="0A9E72"/>
                </a:solidFill>
                <a:latin typeface="Arial MT"/>
                <a:cs typeface="Arial MT"/>
              </a:rPr>
              <a:t>4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188084" y="5740047"/>
            <a:ext cx="2299335" cy="100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2150" spc="260">
                <a:solidFill>
                  <a:srgbClr val="2B896E"/>
                </a:solidFill>
                <a:latin typeface="Calibri"/>
                <a:cs typeface="Calibri"/>
              </a:rPr>
              <a:t>RETRIEVE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 spc="85">
                <a:solidFill>
                  <a:srgbClr val="0C0C0C"/>
                </a:solidFill>
                <a:latin typeface="Arial MT"/>
                <a:cs typeface="Arial MT"/>
              </a:rPr>
              <a:t>[4]</a:t>
            </a:r>
            <a:r>
              <a:rPr dirty="0" sz="4150" spc="-1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61616"/>
                </a:solidFill>
                <a:latin typeface="Arial MT"/>
                <a:cs typeface="Arial MT"/>
              </a:rPr>
              <a:t>+</a:t>
            </a:r>
            <a:r>
              <a:rPr dirty="0" sz="4150" spc="-40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61616"/>
                </a:solidFill>
                <a:latin typeface="Arial MT"/>
                <a:cs typeface="Arial MT"/>
              </a:rPr>
              <a:t>1</a:t>
            </a:r>
            <a:r>
              <a:rPr dirty="0" sz="4150" spc="-25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150">
                <a:solidFill>
                  <a:srgbClr val="131313"/>
                </a:solidFill>
                <a:latin typeface="Arial MT"/>
                <a:cs typeface="Arial MT"/>
              </a:rPr>
              <a:t>=</a:t>
            </a:r>
            <a:r>
              <a:rPr dirty="0" sz="4150" spc="-32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150" spc="-50">
                <a:solidFill>
                  <a:srgbClr val="0CA175"/>
                </a:solidFill>
                <a:latin typeface="Arial MT"/>
                <a:cs typeface="Arial MT"/>
              </a:rPr>
              <a:t>5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108857" y="9439980"/>
            <a:ext cx="123825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7015" algn="l"/>
              </a:tabLst>
            </a:pPr>
            <a:r>
              <a:rPr dirty="0" sz="1300" spc="-50">
                <a:latin typeface="Calibri"/>
                <a:cs typeface="Calibri"/>
              </a:rPr>
              <a:t>G</a:t>
            </a:r>
            <a:r>
              <a:rPr dirty="0" sz="1300">
                <a:latin typeface="Calibri"/>
                <a:cs typeface="Calibri"/>
              </a:rPr>
              <a:t>	</a:t>
            </a:r>
            <a:r>
              <a:rPr dirty="0" sz="1300" spc="60">
                <a:latin typeface="Calibri"/>
                <a:cs typeface="Calibri"/>
              </a:rPr>
              <a:t>NotebookLM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4305300"/>
            <a:ext cx="14173200" cy="1638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35300" y="4902200"/>
            <a:ext cx="393700" cy="584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888365">
              <a:lnSpc>
                <a:spcPct val="100000"/>
              </a:lnSpc>
              <a:spcBef>
                <a:spcPts val="114"/>
              </a:spcBef>
            </a:pPr>
            <a:r>
              <a:rPr dirty="0" spc="-270">
                <a:solidFill>
                  <a:srgbClr val="242424"/>
                </a:solidFill>
              </a:rPr>
              <a:t>A</a:t>
            </a:r>
            <a:r>
              <a:rPr dirty="0" spc="-250">
                <a:solidFill>
                  <a:srgbClr val="242424"/>
                </a:solidFill>
              </a:rPr>
              <a:t> </a:t>
            </a:r>
            <a:r>
              <a:rPr dirty="0">
                <a:solidFill>
                  <a:srgbClr val="232323"/>
                </a:solidFill>
              </a:rPr>
              <a:t>Portrait</a:t>
            </a:r>
            <a:r>
              <a:rPr dirty="0" spc="315">
                <a:solidFill>
                  <a:srgbClr val="232323"/>
                </a:solidFill>
              </a:rPr>
              <a:t> </a:t>
            </a:r>
            <a:r>
              <a:rPr dirty="0" spc="50">
                <a:solidFill>
                  <a:srgbClr val="262626"/>
                </a:solidFill>
              </a:rPr>
              <a:t>of</a:t>
            </a:r>
            <a:r>
              <a:rPr dirty="0" spc="-215">
                <a:solidFill>
                  <a:srgbClr val="262626"/>
                </a:solidFill>
              </a:rPr>
              <a:t> </a:t>
            </a:r>
            <a:r>
              <a:rPr dirty="0" spc="75"/>
              <a:t>Efficiency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628655" y="5986638"/>
            <a:ext cx="109918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415">
                <a:solidFill>
                  <a:srgbClr val="0F0F0F"/>
                </a:solidFill>
                <a:latin typeface="Arial MT"/>
                <a:cs typeface="Arial MT"/>
              </a:rPr>
              <a:t>Cache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1100" y="6159500"/>
            <a:ext cx="7531100" cy="2324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6900" y="4953000"/>
            <a:ext cx="1079500" cy="1079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6100" y="4089400"/>
            <a:ext cx="1193800" cy="1917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21424" y="910872"/>
            <a:ext cx="9175115" cy="10204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0" spc="6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dirty="0" sz="6500" spc="-52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6500" spc="-45">
                <a:solidFill>
                  <a:srgbClr val="232323"/>
                </a:solidFill>
                <a:latin typeface="Calibri"/>
                <a:cs typeface="Calibri"/>
              </a:rPr>
              <a:t>Fundamental</a:t>
            </a:r>
            <a:r>
              <a:rPr dirty="0" sz="6500" spc="-6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6500" spc="-70">
                <a:solidFill>
                  <a:srgbClr val="232323"/>
                </a:solidFill>
                <a:latin typeface="Calibri"/>
                <a:cs typeface="Calibri"/>
              </a:rPr>
              <a:t>Trade-</a:t>
            </a:r>
            <a:r>
              <a:rPr dirty="0" sz="6500" spc="-25">
                <a:solidFill>
                  <a:srgbClr val="232323"/>
                </a:solidFill>
                <a:latin typeface="Calibri"/>
                <a:cs typeface="Calibri"/>
              </a:rPr>
              <a:t>Off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61130" y="2052108"/>
            <a:ext cx="9058910" cy="10445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4105"/>
              </a:lnSpc>
              <a:spcBef>
                <a:spcPts val="90"/>
              </a:spcBef>
            </a:pPr>
            <a:r>
              <a:rPr dirty="0" sz="3550" spc="-114">
                <a:solidFill>
                  <a:srgbClr val="0F0F0F"/>
                </a:solidFill>
                <a:latin typeface="Calibri"/>
                <a:cs typeface="Calibri"/>
              </a:rPr>
              <a:t>“This</a:t>
            </a:r>
            <a:r>
              <a:rPr dirty="0" sz="3550" spc="-14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550" spc="-195">
                <a:solidFill>
                  <a:srgbClr val="0C0C0C"/>
                </a:solidFill>
                <a:latin typeface="Calibri"/>
                <a:cs typeface="Calibri"/>
              </a:rPr>
              <a:t>technique</a:t>
            </a:r>
            <a:r>
              <a:rPr dirty="0" sz="3550" spc="9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550" spc="-180">
                <a:solidFill>
                  <a:srgbClr val="0A0A0A"/>
                </a:solidFill>
                <a:latin typeface="Calibri"/>
                <a:cs typeface="Calibri"/>
              </a:rPr>
              <a:t>“trades</a:t>
            </a:r>
            <a:r>
              <a:rPr dirty="0" sz="3550" spc="-5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550" spc="-25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dirty="0" sz="3550" spc="-29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550" spc="-135">
                <a:solidFill>
                  <a:srgbClr val="111111"/>
                </a:solidFill>
                <a:latin typeface="Calibri"/>
                <a:cs typeface="Calibri"/>
              </a:rPr>
              <a:t>little</a:t>
            </a:r>
            <a:r>
              <a:rPr dirty="0" sz="3550" spc="-2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550" spc="-235">
                <a:solidFill>
                  <a:srgbClr val="131313"/>
                </a:solidFill>
                <a:latin typeface="Calibri"/>
                <a:cs typeface="Calibri"/>
              </a:rPr>
              <a:t>memory</a:t>
            </a:r>
            <a:r>
              <a:rPr dirty="0" sz="3550" spc="-7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-180">
                <a:solidFill>
                  <a:srgbClr val="131313"/>
                </a:solidFill>
                <a:latin typeface="Calibri"/>
                <a:cs typeface="Calibri"/>
              </a:rPr>
              <a:t>to</a:t>
            </a:r>
            <a:r>
              <a:rPr dirty="0" sz="3550" spc="-22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-200">
                <a:solidFill>
                  <a:srgbClr val="0F0F0F"/>
                </a:solidFill>
                <a:latin typeface="Calibri"/>
                <a:cs typeface="Calibri"/>
              </a:rPr>
              <a:t>store</a:t>
            </a:r>
            <a:r>
              <a:rPr dirty="0" sz="3550" spc="-14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550" spc="-10">
                <a:solidFill>
                  <a:srgbClr val="0F0F0F"/>
                </a:solidFill>
                <a:latin typeface="Calibri"/>
                <a:cs typeface="Calibri"/>
              </a:rPr>
              <a:t>results</a:t>
            </a:r>
            <a:endParaRPr sz="3550">
              <a:latin typeface="Calibri"/>
              <a:cs typeface="Calibri"/>
            </a:endParaRPr>
          </a:p>
          <a:p>
            <a:pPr algn="ctr" marL="78105">
              <a:lnSpc>
                <a:spcPts val="3925"/>
              </a:lnSpc>
            </a:pPr>
            <a:r>
              <a:rPr dirty="0" sz="3400" spc="-140">
                <a:solidFill>
                  <a:srgbClr val="111111"/>
                </a:solidFill>
                <a:latin typeface="Calibri"/>
                <a:cs typeface="Calibri"/>
              </a:rPr>
              <a:t>for</a:t>
            </a:r>
            <a:r>
              <a:rPr dirty="0" sz="3400" spc="-7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400" spc="-65">
                <a:solidFill>
                  <a:srgbClr val="161616"/>
                </a:solidFill>
                <a:latin typeface="Calibri"/>
                <a:cs typeface="Calibri"/>
              </a:rPr>
              <a:t>a</a:t>
            </a:r>
            <a:r>
              <a:rPr dirty="0" sz="3400" spc="-22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3400" spc="-55">
                <a:solidFill>
                  <a:srgbClr val="0F0F0F"/>
                </a:solidFill>
                <a:latin typeface="Calibri"/>
                <a:cs typeface="Calibri"/>
              </a:rPr>
              <a:t>significant</a:t>
            </a:r>
            <a:r>
              <a:rPr dirty="0" sz="3400" spc="-14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400" spc="-80">
                <a:solidFill>
                  <a:srgbClr val="0F0F0F"/>
                </a:solidFill>
                <a:latin typeface="Calibri"/>
                <a:cs typeface="Calibri"/>
              </a:rPr>
              <a:t>boost</a:t>
            </a:r>
            <a:r>
              <a:rPr dirty="0" sz="3400" spc="-8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dirty="0" sz="3400" spc="-22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400" spc="-70">
                <a:solidFill>
                  <a:srgbClr val="0A0A0A"/>
                </a:solidFill>
                <a:latin typeface="Calibri"/>
                <a:cs typeface="Calibri"/>
              </a:rPr>
              <a:t>processing</a:t>
            </a:r>
            <a:r>
              <a:rPr dirty="0" sz="3400" spc="-5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400" spc="-20">
                <a:latin typeface="Calibri"/>
                <a:cs typeface="Calibri"/>
              </a:rPr>
              <a:t>speed.”’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14346" y="7253816"/>
            <a:ext cx="136461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55">
                <a:solidFill>
                  <a:srgbClr val="0F0F0F"/>
                </a:solidFill>
                <a:latin typeface="Calibri"/>
                <a:cs typeface="Calibri"/>
              </a:rPr>
              <a:t>Memory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779710" y="7236177"/>
            <a:ext cx="105219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110">
                <a:solidFill>
                  <a:srgbClr val="0F0F0F"/>
                </a:solidFill>
                <a:latin typeface="Calibri"/>
                <a:cs typeface="Calibri"/>
              </a:rPr>
              <a:t>Speed</a:t>
            </a:r>
            <a:endParaRPr sz="3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774700"/>
            <a:ext cx="10617200" cy="7594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2281" y="556683"/>
            <a:ext cx="7063105" cy="15424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38735">
              <a:lnSpc>
                <a:spcPts val="5840"/>
              </a:lnSpc>
              <a:spcBef>
                <a:spcPts val="114"/>
              </a:spcBef>
            </a:pPr>
            <a:r>
              <a:rPr dirty="0" sz="5400" spc="-229">
                <a:solidFill>
                  <a:srgbClr val="232323"/>
                </a:solidFill>
              </a:rPr>
              <a:t>The</a:t>
            </a:r>
            <a:r>
              <a:rPr dirty="0" sz="5400" spc="-470">
                <a:solidFill>
                  <a:srgbClr val="232323"/>
                </a:solidFill>
              </a:rPr>
              <a:t> </a:t>
            </a:r>
            <a:r>
              <a:rPr dirty="0" sz="5400" spc="-275">
                <a:solidFill>
                  <a:srgbClr val="242424"/>
                </a:solidFill>
              </a:rPr>
              <a:t>Essence</a:t>
            </a:r>
            <a:r>
              <a:rPr dirty="0" sz="5400" spc="-30">
                <a:solidFill>
                  <a:srgbClr val="242424"/>
                </a:solidFill>
              </a:rPr>
              <a:t> </a:t>
            </a:r>
            <a:r>
              <a:rPr dirty="0" sz="5400" spc="-70">
                <a:solidFill>
                  <a:srgbClr val="232323"/>
                </a:solidFill>
              </a:rPr>
              <a:t>of</a:t>
            </a:r>
            <a:r>
              <a:rPr dirty="0" sz="5400" spc="-300">
                <a:solidFill>
                  <a:srgbClr val="232323"/>
                </a:solidFill>
              </a:rPr>
              <a:t> </a:t>
            </a:r>
            <a:r>
              <a:rPr dirty="0" sz="5400" spc="-175">
                <a:solidFill>
                  <a:srgbClr val="1F1F1F"/>
                </a:solidFill>
              </a:rPr>
              <a:t>Dynamic</a:t>
            </a:r>
            <a:endParaRPr sz="5400"/>
          </a:p>
          <a:p>
            <a:pPr marL="12700">
              <a:lnSpc>
                <a:spcPts val="6080"/>
              </a:lnSpc>
            </a:pPr>
            <a:r>
              <a:rPr dirty="0" sz="5600" spc="-325">
                <a:solidFill>
                  <a:srgbClr val="232323"/>
                </a:solidFill>
              </a:rPr>
              <a:t>Programming</a:t>
            </a:r>
            <a:endParaRPr sz="5600"/>
          </a:p>
        </p:txBody>
      </p:sp>
      <p:sp>
        <p:nvSpPr>
          <p:cNvPr id="4" name="object 4" descr=""/>
          <p:cNvSpPr txBox="1"/>
          <p:nvPr/>
        </p:nvSpPr>
        <p:spPr>
          <a:xfrm>
            <a:off x="747209" y="2453216"/>
            <a:ext cx="5471795" cy="189230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20955" marR="5080" indent="2540">
              <a:lnSpc>
                <a:spcPct val="89600"/>
              </a:lnSpc>
              <a:spcBef>
                <a:spcPts val="545"/>
              </a:spcBef>
            </a:pPr>
            <a:r>
              <a:rPr dirty="0" sz="3300" spc="-80">
                <a:solidFill>
                  <a:srgbClr val="0C0C0C"/>
                </a:solidFill>
                <a:latin typeface="Calibri"/>
                <a:cs typeface="Calibri"/>
              </a:rPr>
              <a:t>This</a:t>
            </a:r>
            <a:r>
              <a:rPr dirty="0" sz="3300" spc="-1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300" spc="-125">
                <a:solidFill>
                  <a:srgbClr val="0F0F0F"/>
                </a:solidFill>
                <a:latin typeface="Calibri"/>
                <a:cs typeface="Calibri"/>
              </a:rPr>
              <a:t>fundamental</a:t>
            </a:r>
            <a:r>
              <a:rPr dirty="0" sz="3300" spc="6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300" spc="-140">
                <a:solidFill>
                  <a:srgbClr val="080808"/>
                </a:solidFill>
                <a:latin typeface="Calibri"/>
                <a:cs typeface="Calibri"/>
              </a:rPr>
              <a:t>concept,</a:t>
            </a:r>
            <a:r>
              <a:rPr dirty="0" sz="3300" spc="-7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3300" spc="-60">
                <a:solidFill>
                  <a:srgbClr val="0A0A0A"/>
                </a:solidFill>
                <a:latin typeface="Calibri"/>
                <a:cs typeface="Calibri"/>
              </a:rPr>
              <a:t>trading </a:t>
            </a:r>
            <a:r>
              <a:rPr dirty="0" sz="3300" spc="-140">
                <a:solidFill>
                  <a:srgbClr val="0F0F0F"/>
                </a:solidFill>
                <a:latin typeface="Calibri"/>
                <a:cs typeface="Calibri"/>
              </a:rPr>
              <a:t>memory</a:t>
            </a:r>
            <a:r>
              <a:rPr dirty="0" sz="3300" spc="7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300" spc="-140">
                <a:solidFill>
                  <a:srgbClr val="0A0A0A"/>
                </a:solidFill>
                <a:latin typeface="Calibri"/>
                <a:cs typeface="Calibri"/>
              </a:rPr>
              <a:t>for</a:t>
            </a:r>
            <a:r>
              <a:rPr dirty="0" sz="3300" spc="-254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300" spc="-125">
                <a:solidFill>
                  <a:srgbClr val="0C0C0C"/>
                </a:solidFill>
                <a:latin typeface="Calibri"/>
                <a:cs typeface="Calibri"/>
              </a:rPr>
              <a:t>speed,</a:t>
            </a:r>
            <a:r>
              <a:rPr dirty="0" sz="3300" spc="-6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0C0C0C"/>
                </a:solidFill>
                <a:latin typeface="Calibri"/>
                <a:cs typeface="Calibri"/>
              </a:rPr>
              <a:t>is</a:t>
            </a:r>
            <a:r>
              <a:rPr dirty="0" sz="3300" spc="-21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300" spc="-13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3300" spc="-15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0E0E0E"/>
                </a:solidFill>
                <a:latin typeface="Calibri"/>
                <a:cs typeface="Calibri"/>
              </a:rPr>
              <a:t>essence </a:t>
            </a:r>
            <a:r>
              <a:rPr dirty="0" sz="3300" spc="-120">
                <a:solidFill>
                  <a:srgbClr val="1C1C1C"/>
                </a:solidFill>
                <a:latin typeface="Calibri"/>
                <a:cs typeface="Calibri"/>
              </a:rPr>
              <a:t>of</a:t>
            </a:r>
            <a:r>
              <a:rPr dirty="0" sz="3300" spc="-23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300" spc="-125">
                <a:solidFill>
                  <a:srgbClr val="151515"/>
                </a:solidFill>
                <a:latin typeface="Calibri"/>
                <a:cs typeface="Calibri"/>
              </a:rPr>
              <a:t>Dynamic</a:t>
            </a:r>
            <a:r>
              <a:rPr dirty="0" sz="3300" spc="-1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3300" spc="-35">
                <a:solidFill>
                  <a:srgbClr val="0F0F0F"/>
                </a:solidFill>
                <a:latin typeface="Calibri"/>
                <a:cs typeface="Calibri"/>
              </a:rPr>
              <a:t>Programming.</a:t>
            </a:r>
            <a:endParaRPr sz="3300">
              <a:latin typeface="Calibri"/>
              <a:cs typeface="Calibri"/>
            </a:endParaRPr>
          </a:p>
          <a:p>
            <a:pPr marL="12700">
              <a:lnSpc>
                <a:spcPts val="3600"/>
              </a:lnSpc>
            </a:pPr>
            <a:r>
              <a:rPr dirty="0" sz="330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dirty="0" sz="3300" spc="-19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300" spc="-110">
                <a:solidFill>
                  <a:srgbClr val="0F0F0F"/>
                </a:solidFill>
                <a:latin typeface="Calibri"/>
                <a:cs typeface="Calibri"/>
              </a:rPr>
              <a:t>Source</a:t>
            </a:r>
            <a:r>
              <a:rPr dirty="0" sz="3300" spc="-2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300" spc="-85">
                <a:solidFill>
                  <a:srgbClr val="131313"/>
                </a:solidFill>
                <a:latin typeface="Calibri"/>
                <a:cs typeface="Calibri"/>
              </a:rPr>
              <a:t>Sans</a:t>
            </a:r>
            <a:r>
              <a:rPr dirty="0" sz="3300" spc="-11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300" spc="-75">
                <a:solidFill>
                  <a:srgbClr val="111111"/>
                </a:solidFill>
                <a:latin typeface="Calibri"/>
                <a:cs typeface="Calibri"/>
              </a:rPr>
              <a:t>3</a:t>
            </a:r>
            <a:r>
              <a:rPr dirty="0" sz="3300" spc="-28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111111"/>
                </a:solidFill>
                <a:latin typeface="Calibri"/>
                <a:cs typeface="Calibri"/>
              </a:rPr>
              <a:t>Regular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699070" y="783872"/>
            <a:ext cx="3012440" cy="817244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3970" marR="5080" indent="-1905">
              <a:lnSpc>
                <a:spcPts val="2900"/>
              </a:lnSpc>
              <a:spcBef>
                <a:spcPts val="555"/>
              </a:spcBef>
            </a:pPr>
            <a:r>
              <a:rPr dirty="0" sz="2750" spc="-145">
                <a:solidFill>
                  <a:srgbClr val="0A0A0A"/>
                </a:solidFill>
                <a:latin typeface="Calibri"/>
                <a:cs typeface="Calibri"/>
              </a:rPr>
              <a:t>Dynamic</a:t>
            </a:r>
            <a:r>
              <a:rPr dirty="0" sz="2750" spc="-1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750" spc="-150">
                <a:latin typeface="Calibri"/>
                <a:cs typeface="Calibri"/>
              </a:rPr>
              <a:t>Programming: </a:t>
            </a:r>
            <a:r>
              <a:rPr dirty="0" sz="2750" spc="-15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2750" spc="-5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2750" spc="-20">
                <a:latin typeface="Calibri"/>
                <a:cs typeface="Calibri"/>
              </a:rPr>
              <a:t>Strategy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324330" y="2851150"/>
            <a:ext cx="1750695" cy="776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925"/>
              </a:lnSpc>
              <a:spcBef>
                <a:spcPts val="100"/>
              </a:spcBef>
            </a:pPr>
            <a:r>
              <a:rPr dirty="0" sz="2500" spc="-45">
                <a:solidFill>
                  <a:srgbClr val="0E0E0E"/>
                </a:solidFill>
                <a:latin typeface="Calibri"/>
                <a:cs typeface="Calibri"/>
              </a:rPr>
              <a:t>Memoization:</a:t>
            </a:r>
            <a:endParaRPr sz="2500">
              <a:latin typeface="Calibri"/>
              <a:cs typeface="Calibri"/>
            </a:endParaRPr>
          </a:p>
          <a:p>
            <a:pPr marL="24130">
              <a:lnSpc>
                <a:spcPts val="2985"/>
              </a:lnSpc>
            </a:pPr>
            <a:r>
              <a:rPr dirty="0" sz="2550" spc="-10">
                <a:solidFill>
                  <a:srgbClr val="0E0E0E"/>
                </a:solidFill>
                <a:latin typeface="Calibri"/>
                <a:cs typeface="Calibri"/>
              </a:rPr>
              <a:t>The</a:t>
            </a:r>
            <a:r>
              <a:rPr dirty="0" sz="2550" spc="-13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2550" spc="-10">
                <a:solidFill>
                  <a:srgbClr val="0A0A0A"/>
                </a:solidFill>
                <a:latin typeface="Calibri"/>
                <a:cs typeface="Calibri"/>
              </a:rPr>
              <a:t>Tactic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0900" y="3949700"/>
            <a:ext cx="8153400" cy="4699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0660" y="642595"/>
            <a:ext cx="10437495" cy="2463800"/>
          </a:xfrm>
          <a:prstGeom prst="rect"/>
        </p:spPr>
        <p:txBody>
          <a:bodyPr wrap="square" lIns="0" tIns="2717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40"/>
              </a:spcBef>
            </a:pPr>
            <a:r>
              <a:rPr dirty="0" spc="114">
                <a:solidFill>
                  <a:srgbClr val="1F1F1F"/>
                </a:solidFill>
                <a:latin typeface="Calibri"/>
                <a:cs typeface="Calibri"/>
              </a:rPr>
              <a:t>A</a:t>
            </a:r>
            <a:r>
              <a:rPr dirty="0" spc="-4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51515"/>
                </a:solidFill>
                <a:latin typeface="Calibri"/>
                <a:cs typeface="Calibri"/>
              </a:rPr>
              <a:t>Skill</a:t>
            </a:r>
            <a:r>
              <a:rPr dirty="0" spc="-47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pc="-245">
                <a:solidFill>
                  <a:srgbClr val="161616"/>
                </a:solidFill>
                <a:latin typeface="Calibri"/>
                <a:cs typeface="Calibri"/>
              </a:rPr>
              <a:t>for</a:t>
            </a:r>
            <a:r>
              <a:rPr dirty="0" spc="-36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pc="-165">
                <a:solidFill>
                  <a:srgbClr val="181818"/>
                </a:solidFill>
                <a:latin typeface="Calibri"/>
                <a:cs typeface="Calibri"/>
              </a:rPr>
              <a:t>Optimising</a:t>
            </a:r>
            <a:r>
              <a:rPr dirty="0" spc="-5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pc="-145">
                <a:solidFill>
                  <a:srgbClr val="181818"/>
                </a:solidFill>
                <a:latin typeface="Calibri"/>
                <a:cs typeface="Calibri"/>
              </a:rPr>
              <a:t>Algorithms</a:t>
            </a:r>
          </a:p>
          <a:p>
            <a:pPr algn="ctr" marL="1297940" marR="1378585">
              <a:lnSpc>
                <a:spcPts val="3850"/>
              </a:lnSpc>
              <a:spcBef>
                <a:spcPts val="1540"/>
              </a:spcBef>
            </a:pPr>
            <a:r>
              <a:rPr dirty="0" sz="3550" spc="-204">
                <a:solidFill>
                  <a:srgbClr val="0C0C0C"/>
                </a:solidFill>
                <a:latin typeface="Calibri"/>
                <a:cs typeface="Calibri"/>
              </a:rPr>
              <a:t>Understanding</a:t>
            </a:r>
            <a:r>
              <a:rPr dirty="0" sz="3550" spc="17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550" spc="-220">
                <a:solidFill>
                  <a:srgbClr val="0E0E0E"/>
                </a:solidFill>
                <a:latin typeface="Calibri"/>
                <a:cs typeface="Calibri"/>
              </a:rPr>
              <a:t>memoization</a:t>
            </a:r>
            <a:r>
              <a:rPr dirty="0" sz="3550" spc="15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3550" spc="-55">
                <a:solidFill>
                  <a:srgbClr val="111111"/>
                </a:solidFill>
                <a:latin typeface="Calibri"/>
                <a:cs typeface="Calibri"/>
              </a:rPr>
              <a:t>is</a:t>
            </a:r>
            <a:r>
              <a:rPr dirty="0" sz="3550" spc="-26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550" spc="-25">
                <a:solidFill>
                  <a:srgbClr val="131313"/>
                </a:solidFill>
                <a:latin typeface="Calibri"/>
                <a:cs typeface="Calibri"/>
              </a:rPr>
              <a:t>a</a:t>
            </a:r>
            <a:r>
              <a:rPr dirty="0" sz="3550" spc="-40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550" spc="-105">
                <a:solidFill>
                  <a:srgbClr val="111111"/>
                </a:solidFill>
                <a:latin typeface="Calibri"/>
                <a:cs typeface="Calibri"/>
              </a:rPr>
              <a:t>crucial</a:t>
            </a:r>
            <a:r>
              <a:rPr dirty="0" sz="3550" spc="-33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550" spc="-45">
                <a:solidFill>
                  <a:srgbClr val="0A0A0A"/>
                </a:solidFill>
                <a:latin typeface="Calibri"/>
                <a:cs typeface="Calibri"/>
              </a:rPr>
              <a:t>skill</a:t>
            </a:r>
            <a:r>
              <a:rPr dirty="0" sz="3550" spc="-34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3550" spc="-25">
                <a:solidFill>
                  <a:srgbClr val="0F0F0F"/>
                </a:solidFill>
                <a:latin typeface="Calibri"/>
                <a:cs typeface="Calibri"/>
              </a:rPr>
              <a:t>for </a:t>
            </a:r>
            <a:r>
              <a:rPr dirty="0" sz="3550" spc="-185">
                <a:solidFill>
                  <a:srgbClr val="111111"/>
                </a:solidFill>
                <a:latin typeface="Calibri"/>
                <a:cs typeface="Calibri"/>
              </a:rPr>
              <a:t>any</a:t>
            </a:r>
            <a:r>
              <a:rPr dirty="0" sz="3550" spc="-17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550" spc="-204">
                <a:solidFill>
                  <a:srgbClr val="0C0C0C"/>
                </a:solidFill>
                <a:latin typeface="Calibri"/>
                <a:cs typeface="Calibri"/>
              </a:rPr>
              <a:t>developer</a:t>
            </a:r>
            <a:r>
              <a:rPr dirty="0" sz="3550" spc="-7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550" spc="-150">
                <a:solidFill>
                  <a:srgbClr val="111111"/>
                </a:solidFill>
                <a:latin typeface="Calibri"/>
                <a:cs typeface="Calibri"/>
              </a:rPr>
              <a:t>or</a:t>
            </a:r>
            <a:r>
              <a:rPr dirty="0" sz="3550" spc="-21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550" spc="-35">
                <a:solidFill>
                  <a:srgbClr val="000000"/>
                </a:solidFill>
                <a:latin typeface="Calibri"/>
                <a:cs typeface="Calibri"/>
              </a:rPr>
              <a:t>student.</a:t>
            </a:r>
            <a:endParaRPr sz="3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2025-12-19T10:03:25Z</dcterms:created>
  <dcterms:modified xsi:type="dcterms:W3CDTF">2025-12-19T10:03:25Z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LastSaved">
    <vt:filetime>2025-12-19T00:00:00Z</vt:filetime>
  </property>
</Properties>
</file>