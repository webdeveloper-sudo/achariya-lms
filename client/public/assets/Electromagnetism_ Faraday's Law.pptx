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762500" y="788035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12700">
            <a:solidFill>
              <a:srgbClr val="3F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22156" y="7547047"/>
            <a:ext cx="9630887" cy="1507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36363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922156" y="7547047"/>
            <a:ext cx="9630887" cy="1507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36363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36363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36363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0044" y="535163"/>
            <a:ext cx="12356372" cy="13104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36363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4942" y="1602669"/>
            <a:ext cx="13728065" cy="3030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Relationship Id="rId6" Type="http://schemas.openxmlformats.org/officeDocument/2006/relationships/image" Target="../media/image1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jpg"/><Relationship Id="rId8" Type="http://schemas.openxmlformats.org/officeDocument/2006/relationships/image" Target="../media/image24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809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25"/>
              </a:spcBef>
            </a:pPr>
            <a:r>
              <a:rPr dirty="0" sz="5350">
                <a:solidFill>
                  <a:srgbClr val="2B2B2B"/>
                </a:solidFill>
                <a:latin typeface="Cambria"/>
                <a:cs typeface="Cambria"/>
              </a:rPr>
              <a:t>The</a:t>
            </a:r>
            <a:r>
              <a:rPr dirty="0" sz="5350" spc="225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dirty="0" sz="5350">
                <a:solidFill>
                  <a:srgbClr val="282828"/>
                </a:solidFill>
                <a:latin typeface="Cambria"/>
                <a:cs typeface="Cambria"/>
              </a:rPr>
              <a:t>Architecture</a:t>
            </a:r>
            <a:r>
              <a:rPr dirty="0" sz="5350" spc="685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5350">
                <a:solidFill>
                  <a:srgbClr val="2D2D2D"/>
                </a:solidFill>
                <a:latin typeface="Cambria"/>
                <a:cs typeface="Cambria"/>
              </a:rPr>
              <a:t>of</a:t>
            </a:r>
            <a:r>
              <a:rPr dirty="0" sz="5350" spc="395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dirty="0" sz="5350" spc="55">
                <a:solidFill>
                  <a:srgbClr val="262626"/>
                </a:solidFill>
                <a:latin typeface="Cambria"/>
                <a:cs typeface="Cambria"/>
              </a:rPr>
              <a:t>Induction</a:t>
            </a:r>
            <a:endParaRPr sz="53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2700" spc="-40"/>
              <a:t>How</a:t>
            </a:r>
            <a:r>
              <a:rPr dirty="0" sz="2700" spc="-150"/>
              <a:t> </a:t>
            </a:r>
            <a:r>
              <a:rPr dirty="0" sz="2700">
                <a:solidFill>
                  <a:srgbClr val="181818"/>
                </a:solidFill>
              </a:rPr>
              <a:t>a</a:t>
            </a:r>
            <a:r>
              <a:rPr dirty="0" sz="2700" spc="-185">
                <a:solidFill>
                  <a:srgbClr val="181818"/>
                </a:solidFill>
              </a:rPr>
              <a:t> </a:t>
            </a:r>
            <a:r>
              <a:rPr dirty="0" sz="2700" spc="-50"/>
              <a:t>simple</a:t>
            </a:r>
            <a:r>
              <a:rPr dirty="0" sz="2700" spc="-140"/>
              <a:t> </a:t>
            </a:r>
            <a:r>
              <a:rPr dirty="0" sz="2700" spc="-25"/>
              <a:t>ripple</a:t>
            </a:r>
            <a:r>
              <a:rPr dirty="0" sz="2700" spc="-160"/>
              <a:t> </a:t>
            </a:r>
            <a:r>
              <a:rPr dirty="0" sz="2700">
                <a:solidFill>
                  <a:srgbClr val="111111"/>
                </a:solidFill>
              </a:rPr>
              <a:t>in</a:t>
            </a:r>
            <a:r>
              <a:rPr dirty="0" sz="2700" spc="-190">
                <a:solidFill>
                  <a:srgbClr val="111111"/>
                </a:solidFill>
              </a:rPr>
              <a:t> </a:t>
            </a:r>
            <a:r>
              <a:rPr dirty="0" sz="2700" spc="-254">
                <a:solidFill>
                  <a:srgbClr val="111111"/>
                </a:solidFill>
              </a:rPr>
              <a:t>a</a:t>
            </a:r>
            <a:r>
              <a:rPr dirty="0" sz="2700" spc="15">
                <a:solidFill>
                  <a:srgbClr val="111111"/>
                </a:solidFill>
              </a:rPr>
              <a:t> </a:t>
            </a:r>
            <a:r>
              <a:rPr dirty="0" sz="2700" spc="-30"/>
              <a:t>magnetic</a:t>
            </a:r>
            <a:r>
              <a:rPr dirty="0" sz="2700" spc="-50"/>
              <a:t> </a:t>
            </a:r>
            <a:r>
              <a:rPr dirty="0" sz="2700"/>
              <a:t>field</a:t>
            </a:r>
            <a:r>
              <a:rPr dirty="0" sz="2700" spc="-175"/>
              <a:t> </a:t>
            </a:r>
            <a:r>
              <a:rPr dirty="0" sz="2700" spc="-30">
                <a:solidFill>
                  <a:srgbClr val="111111"/>
                </a:solidFill>
              </a:rPr>
              <a:t>powers</a:t>
            </a:r>
            <a:r>
              <a:rPr dirty="0" sz="2700" spc="-40">
                <a:solidFill>
                  <a:srgbClr val="111111"/>
                </a:solidFill>
              </a:rPr>
              <a:t> </a:t>
            </a:r>
            <a:r>
              <a:rPr dirty="0" sz="2700">
                <a:solidFill>
                  <a:srgbClr val="111111"/>
                </a:solidFill>
              </a:rPr>
              <a:t>our</a:t>
            </a:r>
            <a:r>
              <a:rPr dirty="0" sz="2700" spc="-90">
                <a:solidFill>
                  <a:srgbClr val="111111"/>
                </a:solidFill>
              </a:rPr>
              <a:t> </a:t>
            </a:r>
            <a:r>
              <a:rPr dirty="0" sz="2700" spc="-35"/>
              <a:t>modern</a:t>
            </a:r>
            <a:r>
              <a:rPr dirty="0" sz="2700" spc="75"/>
              <a:t> </a:t>
            </a:r>
            <a:r>
              <a:rPr dirty="0" sz="2700" spc="-10">
                <a:solidFill>
                  <a:srgbClr val="0C0C0C"/>
                </a:solidFill>
              </a:rPr>
              <a:t>world.</a:t>
            </a:r>
            <a:endParaRPr sz="2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34700" y="2540000"/>
            <a:ext cx="5651500" cy="4673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7160" y="777169"/>
            <a:ext cx="4989830" cy="7772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90880" algn="l"/>
              </a:tabLst>
            </a:pPr>
            <a:r>
              <a:rPr dirty="0" sz="4900" spc="-50">
                <a:solidFill>
                  <a:srgbClr val="232323"/>
                </a:solidFill>
              </a:rPr>
              <a:t>A</a:t>
            </a:r>
            <a:r>
              <a:rPr dirty="0" sz="4900">
                <a:solidFill>
                  <a:srgbClr val="232323"/>
                </a:solidFill>
              </a:rPr>
              <a:t>	</a:t>
            </a:r>
            <a:r>
              <a:rPr dirty="0" sz="4900" spc="95">
                <a:solidFill>
                  <a:srgbClr val="1C1C1C"/>
                </a:solidFill>
              </a:rPr>
              <a:t>Silent</a:t>
            </a:r>
            <a:r>
              <a:rPr dirty="0" sz="4900" spc="330">
                <a:solidFill>
                  <a:srgbClr val="1C1C1C"/>
                </a:solidFill>
              </a:rPr>
              <a:t> </a:t>
            </a:r>
            <a:r>
              <a:rPr dirty="0" sz="4900" spc="65">
                <a:solidFill>
                  <a:srgbClr val="161616"/>
                </a:solidFill>
              </a:rPr>
              <a:t>Potential</a:t>
            </a:r>
            <a:endParaRPr sz="4900"/>
          </a:p>
        </p:txBody>
      </p:sp>
      <p:sp>
        <p:nvSpPr>
          <p:cNvPr id="4" name="object 4" descr=""/>
          <p:cNvSpPr txBox="1"/>
          <p:nvPr/>
        </p:nvSpPr>
        <p:spPr>
          <a:xfrm>
            <a:off x="881497" y="1914172"/>
            <a:ext cx="5885180" cy="222377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2225" marR="5080" indent="-10160">
              <a:lnSpc>
                <a:spcPct val="99200"/>
              </a:lnSpc>
              <a:spcBef>
                <a:spcPts val="155"/>
              </a:spcBef>
            </a:pPr>
            <a:r>
              <a:rPr dirty="0" sz="2750">
                <a:latin typeface="Arial MT"/>
                <a:cs typeface="Arial MT"/>
              </a:rPr>
              <a:t>In</a:t>
            </a:r>
            <a:r>
              <a:rPr dirty="0" sz="2750" spc="-70">
                <a:latin typeface="Arial MT"/>
                <a:cs typeface="Arial MT"/>
              </a:rPr>
              <a:t> </a:t>
            </a:r>
            <a:r>
              <a:rPr dirty="0" sz="2750" spc="-25">
                <a:latin typeface="Arial MT"/>
                <a:cs typeface="Arial MT"/>
              </a:rPr>
              <a:t>stillness,</a:t>
            </a:r>
            <a:r>
              <a:rPr dirty="0" sz="2750" spc="-50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electromagnetism</a:t>
            </a:r>
            <a:r>
              <a:rPr dirty="0" sz="2750" spc="-17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holds</a:t>
            </a:r>
            <a:r>
              <a:rPr dirty="0" sz="2750" spc="-75">
                <a:latin typeface="Arial MT"/>
                <a:cs typeface="Arial MT"/>
              </a:rPr>
              <a:t> </a:t>
            </a:r>
            <a:r>
              <a:rPr dirty="0" sz="2750" spc="-25">
                <a:latin typeface="Arial MT"/>
                <a:cs typeface="Arial MT"/>
              </a:rPr>
              <a:t>its </a:t>
            </a:r>
            <a:r>
              <a:rPr dirty="0" sz="2750">
                <a:latin typeface="Arial MT"/>
                <a:cs typeface="Arial MT"/>
              </a:rPr>
              <a:t>potential.</a:t>
            </a:r>
            <a:r>
              <a:rPr dirty="0" sz="2750" spc="-95">
                <a:latin typeface="Arial MT"/>
                <a:cs typeface="Arial MT"/>
              </a:rPr>
              <a:t> </a:t>
            </a:r>
            <a:r>
              <a:rPr dirty="0" sz="2750" spc="-295">
                <a:latin typeface="Arial MT"/>
                <a:cs typeface="Arial MT"/>
              </a:rPr>
              <a:t>A</a:t>
            </a:r>
            <a:r>
              <a:rPr dirty="0" sz="2750" spc="105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wire</a:t>
            </a:r>
            <a:r>
              <a:rPr dirty="0" sz="2750" spc="-114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coil</a:t>
            </a:r>
            <a:r>
              <a:rPr dirty="0" sz="2750" spc="-18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-8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</a:t>
            </a:r>
            <a:r>
              <a:rPr dirty="0" sz="2750" spc="-114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magnet, </a:t>
            </a:r>
            <a:r>
              <a:rPr dirty="0" sz="2750" spc="-40">
                <a:latin typeface="Arial MT"/>
                <a:cs typeface="Arial MT"/>
              </a:rPr>
              <a:t>separate</a:t>
            </a:r>
            <a:r>
              <a:rPr dirty="0" sz="2750" spc="-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-114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static,</a:t>
            </a:r>
            <a:r>
              <a:rPr dirty="0" sz="2750" spc="-95">
                <a:latin typeface="Arial MT"/>
                <a:cs typeface="Arial MT"/>
              </a:rPr>
              <a:t> </a:t>
            </a:r>
            <a:r>
              <a:rPr dirty="0" sz="2750" spc="-50">
                <a:latin typeface="Arial MT"/>
                <a:cs typeface="Arial MT"/>
              </a:rPr>
              <a:t>share</a:t>
            </a:r>
            <a:r>
              <a:rPr dirty="0" sz="2750" spc="-9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no</a:t>
            </a:r>
            <a:r>
              <a:rPr dirty="0" sz="2750" spc="-14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energy.</a:t>
            </a:r>
            <a:endParaRPr sz="2750">
              <a:latin typeface="Arial MT"/>
              <a:cs typeface="Arial MT"/>
            </a:endParaRPr>
          </a:p>
          <a:p>
            <a:pPr marL="31750" marR="22860" indent="-10160">
              <a:lnSpc>
                <a:spcPct val="105800"/>
              </a:lnSpc>
              <a:spcBef>
                <a:spcPts val="815"/>
              </a:spcBef>
              <a:tabLst>
                <a:tab pos="2495550" algn="l"/>
              </a:tabLst>
            </a:pPr>
            <a:r>
              <a:rPr dirty="0" sz="2600" spc="80">
                <a:latin typeface="Cambria"/>
                <a:cs typeface="Cambria"/>
              </a:rPr>
              <a:t>The</a:t>
            </a:r>
            <a:r>
              <a:rPr dirty="0" sz="2600" spc="175">
                <a:latin typeface="Cambria"/>
                <a:cs typeface="Cambria"/>
              </a:rPr>
              <a:t> </a:t>
            </a:r>
            <a:r>
              <a:rPr dirty="0" sz="2600" spc="80">
                <a:latin typeface="Cambria"/>
                <a:cs typeface="Cambria"/>
              </a:rPr>
              <a:t>source</a:t>
            </a:r>
            <a:r>
              <a:rPr dirty="0" sz="2600" spc="235">
                <a:latin typeface="Cambria"/>
                <a:cs typeface="Cambria"/>
              </a:rPr>
              <a:t> </a:t>
            </a:r>
            <a:r>
              <a:rPr dirty="0" sz="2600" spc="-20">
                <a:latin typeface="Cambria"/>
                <a:cs typeface="Cambria"/>
              </a:rPr>
              <a:t>text</a:t>
            </a:r>
            <a:r>
              <a:rPr dirty="0" sz="2600">
                <a:latin typeface="Cambria"/>
                <a:cs typeface="Cambria"/>
              </a:rPr>
              <a:t>	</a:t>
            </a:r>
            <a:r>
              <a:rPr dirty="0" sz="2600" spc="60">
                <a:latin typeface="Cambria"/>
                <a:cs typeface="Cambria"/>
              </a:rPr>
              <a:t>notes:</a:t>
            </a:r>
            <a:r>
              <a:rPr dirty="0" sz="2600" spc="33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"Stationary,</a:t>
            </a:r>
            <a:r>
              <a:rPr dirty="0" sz="2600" spc="45">
                <a:latin typeface="Cambria"/>
                <a:cs typeface="Cambria"/>
              </a:rPr>
              <a:t>  </a:t>
            </a:r>
            <a:r>
              <a:rPr dirty="0" sz="2600" spc="65">
                <a:latin typeface="Cambria"/>
                <a:cs typeface="Cambria"/>
              </a:rPr>
              <a:t>the </a:t>
            </a:r>
            <a:r>
              <a:rPr dirty="0" sz="2600">
                <a:latin typeface="Cambria"/>
                <a:cs typeface="Cambria"/>
              </a:rPr>
              <a:t>meter</a:t>
            </a:r>
            <a:r>
              <a:rPr dirty="0" sz="2600" spc="295">
                <a:latin typeface="Cambria"/>
                <a:cs typeface="Cambria"/>
              </a:rPr>
              <a:t> </a:t>
            </a:r>
            <a:r>
              <a:rPr dirty="0" sz="2600" spc="80">
                <a:latin typeface="Cambria"/>
                <a:cs typeface="Cambria"/>
              </a:rPr>
              <a:t>shows</a:t>
            </a:r>
            <a:r>
              <a:rPr dirty="0" sz="2600" spc="36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no</a:t>
            </a:r>
            <a:r>
              <a:rPr dirty="0" sz="2600" spc="12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current.”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707030" y="9439980"/>
            <a:ext cx="12890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348023" y="9439980"/>
            <a:ext cx="99695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1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400" y="2565400"/>
            <a:ext cx="7137400" cy="4622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358900" y="92075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2236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dirty="0" sz="5000">
                <a:solidFill>
                  <a:srgbClr val="161616"/>
                </a:solidFill>
                <a:latin typeface="Times New Roman"/>
                <a:cs typeface="Times New Roman"/>
              </a:rPr>
              <a:t>The</a:t>
            </a:r>
            <a:r>
              <a:rPr dirty="0" sz="5000" spc="9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5000" spc="70">
                <a:solidFill>
                  <a:srgbClr val="161616"/>
                </a:solidFill>
                <a:latin typeface="Times New Roman"/>
                <a:cs typeface="Times New Roman"/>
              </a:rPr>
              <a:t>Spark</a:t>
            </a:r>
            <a:r>
              <a:rPr dirty="0" sz="5000" spc="9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5000" spc="100">
                <a:solidFill>
                  <a:srgbClr val="131313"/>
                </a:solidFill>
                <a:latin typeface="Times New Roman"/>
                <a:cs typeface="Times New Roman"/>
              </a:rPr>
              <a:t>of</a:t>
            </a:r>
            <a:r>
              <a:rPr dirty="0" sz="5000" spc="-11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5000" spc="-10">
                <a:solidFill>
                  <a:srgbClr val="161616"/>
                </a:solidFill>
                <a:latin typeface="Times New Roman"/>
                <a:cs typeface="Times New Roman"/>
              </a:rPr>
              <a:t>Motion</a:t>
            </a:r>
            <a:endParaRPr sz="5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77687" y="1922991"/>
            <a:ext cx="6090285" cy="30454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22860" marR="5080" indent="635">
              <a:lnSpc>
                <a:spcPct val="100800"/>
              </a:lnSpc>
              <a:spcBef>
                <a:spcPts val="80"/>
              </a:spcBef>
            </a:pPr>
            <a:r>
              <a:rPr dirty="0" sz="2700">
                <a:latin typeface="Arial MT"/>
                <a:cs typeface="Arial MT"/>
              </a:rPr>
              <a:t>Motion</a:t>
            </a:r>
            <a:r>
              <a:rPr dirty="0" sz="2700" spc="-13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is</a:t>
            </a:r>
            <a:r>
              <a:rPr dirty="0" sz="2700" spc="-14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the</a:t>
            </a:r>
            <a:r>
              <a:rPr dirty="0" sz="2700" spc="-145">
                <a:latin typeface="Arial MT"/>
                <a:cs typeface="Arial MT"/>
              </a:rPr>
              <a:t> </a:t>
            </a:r>
            <a:r>
              <a:rPr dirty="0" sz="2700" spc="-20">
                <a:latin typeface="Arial MT"/>
                <a:cs typeface="Arial MT"/>
              </a:rPr>
              <a:t>key.</a:t>
            </a:r>
            <a:r>
              <a:rPr dirty="0" sz="2700" spc="-50">
                <a:latin typeface="Arial MT"/>
                <a:cs typeface="Arial MT"/>
              </a:rPr>
              <a:t> </a:t>
            </a:r>
            <a:r>
              <a:rPr dirty="0" sz="2700" spc="-160">
                <a:latin typeface="Arial MT"/>
                <a:cs typeface="Arial MT"/>
              </a:rPr>
              <a:t>As</a:t>
            </a:r>
            <a:r>
              <a:rPr dirty="0" sz="2700" spc="-5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the</a:t>
            </a:r>
            <a:r>
              <a:rPr dirty="0" sz="2700" spc="-60">
                <a:latin typeface="Arial MT"/>
                <a:cs typeface="Arial MT"/>
              </a:rPr>
              <a:t> </a:t>
            </a:r>
            <a:r>
              <a:rPr dirty="0" sz="2700" spc="-45">
                <a:latin typeface="Arial MT"/>
                <a:cs typeface="Arial MT"/>
              </a:rPr>
              <a:t>source</a:t>
            </a:r>
            <a:r>
              <a:rPr dirty="0" sz="2700" spc="-4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material </a:t>
            </a:r>
            <a:r>
              <a:rPr dirty="0" sz="2700">
                <a:latin typeface="Arial MT"/>
                <a:cs typeface="Arial MT"/>
              </a:rPr>
              <a:t>states,</a:t>
            </a:r>
            <a:r>
              <a:rPr dirty="0" sz="2700" spc="-19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when</a:t>
            </a:r>
            <a:r>
              <a:rPr dirty="0" sz="2700" spc="-125">
                <a:latin typeface="Arial MT"/>
                <a:cs typeface="Arial MT"/>
              </a:rPr>
              <a:t> </a:t>
            </a:r>
            <a:r>
              <a:rPr dirty="0" sz="2700" spc="-55">
                <a:latin typeface="Arial MT"/>
                <a:cs typeface="Arial MT"/>
              </a:rPr>
              <a:t>you</a:t>
            </a:r>
            <a:r>
              <a:rPr dirty="0" sz="2700" spc="-135">
                <a:latin typeface="Arial MT"/>
                <a:cs typeface="Arial MT"/>
              </a:rPr>
              <a:t> </a:t>
            </a:r>
            <a:r>
              <a:rPr dirty="0" sz="2700" spc="-20">
                <a:latin typeface="Arial MT"/>
                <a:cs typeface="Arial MT"/>
              </a:rPr>
              <a:t>“move</a:t>
            </a:r>
            <a:r>
              <a:rPr dirty="0" sz="2700" spc="-14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the</a:t>
            </a:r>
            <a:r>
              <a:rPr dirty="0" sz="2700" spc="-190">
                <a:latin typeface="Arial MT"/>
                <a:cs typeface="Arial MT"/>
              </a:rPr>
              <a:t> </a:t>
            </a:r>
            <a:r>
              <a:rPr dirty="0" sz="2700" spc="-25">
                <a:latin typeface="Arial MT"/>
                <a:cs typeface="Arial MT"/>
              </a:rPr>
              <a:t>magnet</a:t>
            </a:r>
            <a:r>
              <a:rPr dirty="0" sz="2700" spc="65">
                <a:latin typeface="Arial MT"/>
                <a:cs typeface="Arial MT"/>
              </a:rPr>
              <a:t> </a:t>
            </a:r>
            <a:r>
              <a:rPr dirty="0" sz="2700" spc="-40">
                <a:latin typeface="Arial MT"/>
                <a:cs typeface="Arial MT"/>
              </a:rPr>
              <a:t>near </a:t>
            </a:r>
            <a:r>
              <a:rPr dirty="0" sz="2700">
                <a:latin typeface="Arial MT"/>
                <a:cs typeface="Arial MT"/>
              </a:rPr>
              <a:t>or</a:t>
            </a:r>
            <a:r>
              <a:rPr dirty="0" sz="2700" spc="-114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through</a:t>
            </a:r>
            <a:r>
              <a:rPr dirty="0" sz="2700" spc="-13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the</a:t>
            </a:r>
            <a:r>
              <a:rPr dirty="0" sz="2700" spc="-110">
                <a:latin typeface="Arial MT"/>
                <a:cs typeface="Arial MT"/>
              </a:rPr>
              <a:t> </a:t>
            </a:r>
            <a:r>
              <a:rPr dirty="0" sz="2700" spc="-30">
                <a:latin typeface="Arial MT"/>
                <a:cs typeface="Arial MT"/>
              </a:rPr>
              <a:t>coil...</a:t>
            </a:r>
            <a:r>
              <a:rPr dirty="0" sz="2700" spc="-8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the</a:t>
            </a:r>
            <a:r>
              <a:rPr dirty="0" sz="2700" spc="-8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meter</a:t>
            </a:r>
            <a:r>
              <a:rPr dirty="0" sz="2700" spc="55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registers </a:t>
            </a:r>
            <a:r>
              <a:rPr dirty="0" sz="2750" spc="-10">
                <a:latin typeface="Arial MT"/>
                <a:cs typeface="Arial MT"/>
              </a:rPr>
              <a:t>current.”</a:t>
            </a:r>
            <a:endParaRPr sz="2750">
              <a:latin typeface="Arial MT"/>
              <a:cs typeface="Arial MT"/>
            </a:endParaRPr>
          </a:p>
          <a:p>
            <a:pPr algn="just" marL="12700" marR="93345" indent="15240">
              <a:lnSpc>
                <a:spcPct val="95800"/>
              </a:lnSpc>
              <a:spcBef>
                <a:spcPts val="844"/>
              </a:spcBef>
            </a:pPr>
            <a:r>
              <a:rPr dirty="0" sz="2850" spc="-160">
                <a:latin typeface="Arial MT"/>
                <a:cs typeface="Arial MT"/>
              </a:rPr>
              <a:t>This</a:t>
            </a:r>
            <a:r>
              <a:rPr dirty="0" sz="2850" spc="-35">
                <a:latin typeface="Arial MT"/>
                <a:cs typeface="Arial MT"/>
              </a:rPr>
              <a:t> </a:t>
            </a:r>
            <a:r>
              <a:rPr dirty="0" sz="2850" spc="-155">
                <a:latin typeface="Arial MT"/>
                <a:cs typeface="Arial MT"/>
              </a:rPr>
              <a:t>movement</a:t>
            </a:r>
            <a:r>
              <a:rPr dirty="0" sz="2850" spc="5">
                <a:latin typeface="Arial MT"/>
                <a:cs typeface="Arial MT"/>
              </a:rPr>
              <a:t> </a:t>
            </a:r>
            <a:r>
              <a:rPr dirty="0" sz="2850" spc="-114">
                <a:latin typeface="Arial MT"/>
                <a:cs typeface="Arial MT"/>
              </a:rPr>
              <a:t>creates</a:t>
            </a:r>
            <a:r>
              <a:rPr dirty="0" sz="2850" spc="-60">
                <a:latin typeface="Arial MT"/>
                <a:cs typeface="Arial MT"/>
              </a:rPr>
              <a:t> </a:t>
            </a:r>
            <a:r>
              <a:rPr dirty="0" sz="2850" spc="-114">
                <a:latin typeface="Arial MT"/>
                <a:cs typeface="Arial MT"/>
              </a:rPr>
              <a:t>"energy</a:t>
            </a:r>
            <a:r>
              <a:rPr dirty="0" sz="2850" spc="-45">
                <a:latin typeface="Arial MT"/>
                <a:cs typeface="Arial MT"/>
              </a:rPr>
              <a:t> </a:t>
            </a:r>
            <a:r>
              <a:rPr dirty="0" sz="2850" spc="-75">
                <a:latin typeface="Arial MT"/>
                <a:cs typeface="Arial MT"/>
              </a:rPr>
              <a:t>ripples," </a:t>
            </a:r>
            <a:r>
              <a:rPr dirty="0" sz="2850" spc="-100">
                <a:latin typeface="Arial MT"/>
                <a:cs typeface="Arial MT"/>
              </a:rPr>
              <a:t>inducing</a:t>
            </a:r>
            <a:r>
              <a:rPr dirty="0" sz="2850" spc="-95">
                <a:latin typeface="Arial MT"/>
                <a:cs typeface="Arial MT"/>
              </a:rPr>
              <a:t> </a:t>
            </a:r>
            <a:r>
              <a:rPr dirty="0" sz="2850" spc="-204">
                <a:latin typeface="Arial MT"/>
                <a:cs typeface="Arial MT"/>
              </a:rPr>
              <a:t>an</a:t>
            </a:r>
            <a:r>
              <a:rPr dirty="0" sz="2850" spc="5">
                <a:latin typeface="Arial MT"/>
                <a:cs typeface="Arial MT"/>
              </a:rPr>
              <a:t> </a:t>
            </a:r>
            <a:r>
              <a:rPr dirty="0" sz="2850" spc="-60">
                <a:latin typeface="Arial MT"/>
                <a:cs typeface="Arial MT"/>
              </a:rPr>
              <a:t>electric</a:t>
            </a:r>
            <a:r>
              <a:rPr dirty="0" sz="2850" spc="-140">
                <a:latin typeface="Arial MT"/>
                <a:cs typeface="Arial MT"/>
              </a:rPr>
              <a:t> </a:t>
            </a:r>
            <a:r>
              <a:rPr dirty="0" sz="2850" spc="-70">
                <a:latin typeface="Arial MT"/>
                <a:cs typeface="Arial MT"/>
              </a:rPr>
              <a:t>current</a:t>
            </a:r>
            <a:r>
              <a:rPr dirty="0" sz="2850" spc="-10">
                <a:latin typeface="Arial MT"/>
                <a:cs typeface="Arial MT"/>
              </a:rPr>
              <a:t> </a:t>
            </a:r>
            <a:r>
              <a:rPr dirty="0" sz="2850" spc="-150">
                <a:latin typeface="Arial MT"/>
                <a:cs typeface="Arial MT"/>
              </a:rPr>
              <a:t>where</a:t>
            </a:r>
            <a:r>
              <a:rPr dirty="0" sz="2850" spc="-50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there </a:t>
            </a:r>
            <a:r>
              <a:rPr dirty="0" sz="2850" spc="-210">
                <a:latin typeface="Arial MT"/>
                <a:cs typeface="Arial MT"/>
              </a:rPr>
              <a:t>was</a:t>
            </a:r>
            <a:r>
              <a:rPr dirty="0" sz="2850" spc="-60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none.</a:t>
            </a:r>
            <a:endParaRPr sz="2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7700" y="6083300"/>
            <a:ext cx="5981700" cy="1993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7933" rIns="0" bIns="0" rtlCol="0" vert="horz">
            <a:spAutoFit/>
          </a:bodyPr>
          <a:lstStyle/>
          <a:p>
            <a:pPr marL="33369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43434"/>
                </a:solidFill>
              </a:rPr>
              <a:t>Faraday's</a:t>
            </a:r>
            <a:r>
              <a:rPr dirty="0" spc="105">
                <a:solidFill>
                  <a:srgbClr val="343434"/>
                </a:solidFill>
              </a:rPr>
              <a:t> </a:t>
            </a:r>
            <a:r>
              <a:rPr dirty="0" spc="135"/>
              <a:t>Law</a:t>
            </a:r>
            <a:r>
              <a:rPr dirty="0" spc="40"/>
              <a:t> </a:t>
            </a:r>
            <a:r>
              <a:rPr dirty="0" spc="70">
                <a:solidFill>
                  <a:srgbClr val="3D3D3D"/>
                </a:solidFill>
              </a:rPr>
              <a:t>of</a:t>
            </a:r>
            <a:r>
              <a:rPr dirty="0" spc="160">
                <a:solidFill>
                  <a:srgbClr val="3D3D3D"/>
                </a:solidFill>
              </a:rPr>
              <a:t> </a:t>
            </a:r>
            <a:r>
              <a:rPr dirty="0" spc="170"/>
              <a:t>Induction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6110407" y="9458226"/>
            <a:ext cx="122364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  <a:tabLst>
                <a:tab pos="261620" algn="l"/>
              </a:tabLst>
            </a:pPr>
            <a:r>
              <a:rPr dirty="0" sz="1300" spc="-50">
                <a:latin typeface="Times New Roman"/>
                <a:cs typeface="Times New Roman"/>
              </a:rPr>
              <a:t>G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NotebookLM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91590" y="2913944"/>
            <a:ext cx="13963015" cy="48761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ctr" marL="123825" marR="5080" indent="-212090">
              <a:lnSpc>
                <a:spcPts val="5400"/>
              </a:lnSpc>
              <a:spcBef>
                <a:spcPts val="85"/>
              </a:spcBef>
            </a:pPr>
            <a:r>
              <a:rPr dirty="0" sz="4300" spc="-10">
                <a:latin typeface="Arial MT"/>
                <a:cs typeface="Arial MT"/>
              </a:rPr>
              <a:t>This</a:t>
            </a:r>
            <a:r>
              <a:rPr dirty="0" sz="4300">
                <a:latin typeface="Arial MT"/>
                <a:cs typeface="Arial MT"/>
              </a:rPr>
              <a:t> is</a:t>
            </a:r>
            <a:r>
              <a:rPr dirty="0" sz="4300" spc="15">
                <a:latin typeface="Arial MT"/>
                <a:cs typeface="Arial MT"/>
              </a:rPr>
              <a:t> </a:t>
            </a:r>
            <a:r>
              <a:rPr dirty="0" sz="4300">
                <a:latin typeface="Arial MT"/>
                <a:cs typeface="Arial MT"/>
              </a:rPr>
              <a:t>electromagnetic</a:t>
            </a:r>
            <a:r>
              <a:rPr dirty="0" sz="4300" spc="-135">
                <a:latin typeface="Arial MT"/>
                <a:cs typeface="Arial MT"/>
              </a:rPr>
              <a:t> </a:t>
            </a:r>
            <a:r>
              <a:rPr dirty="0" sz="4300">
                <a:latin typeface="Arial MT"/>
                <a:cs typeface="Arial MT"/>
              </a:rPr>
              <a:t>induction,</a:t>
            </a:r>
            <a:r>
              <a:rPr dirty="0" sz="4300" spc="125">
                <a:latin typeface="Arial MT"/>
                <a:cs typeface="Arial MT"/>
              </a:rPr>
              <a:t> </a:t>
            </a:r>
            <a:r>
              <a:rPr dirty="0" sz="4300">
                <a:latin typeface="Arial MT"/>
                <a:cs typeface="Arial MT"/>
              </a:rPr>
              <a:t>the</a:t>
            </a:r>
            <a:r>
              <a:rPr dirty="0" sz="4300" spc="55">
                <a:latin typeface="Arial MT"/>
                <a:cs typeface="Arial MT"/>
              </a:rPr>
              <a:t> </a:t>
            </a:r>
            <a:r>
              <a:rPr dirty="0" sz="4300">
                <a:latin typeface="Arial MT"/>
                <a:cs typeface="Arial MT"/>
              </a:rPr>
              <a:t>core</a:t>
            </a:r>
            <a:r>
              <a:rPr dirty="0" sz="4300" spc="114">
                <a:latin typeface="Arial MT"/>
                <a:cs typeface="Arial MT"/>
              </a:rPr>
              <a:t> </a:t>
            </a:r>
            <a:r>
              <a:rPr dirty="0" sz="4300">
                <a:latin typeface="Arial MT"/>
                <a:cs typeface="Arial MT"/>
              </a:rPr>
              <a:t>of</a:t>
            </a:r>
            <a:r>
              <a:rPr dirty="0" sz="4300" spc="165">
                <a:latin typeface="Arial MT"/>
                <a:cs typeface="Arial MT"/>
              </a:rPr>
              <a:t> </a:t>
            </a:r>
            <a:r>
              <a:rPr dirty="0" sz="4300" spc="-10">
                <a:latin typeface="Arial MT"/>
                <a:cs typeface="Arial MT"/>
              </a:rPr>
              <a:t>Faraday's </a:t>
            </a:r>
            <a:r>
              <a:rPr dirty="0" sz="4300" spc="-30">
                <a:latin typeface="Arial MT"/>
                <a:cs typeface="Arial MT"/>
              </a:rPr>
              <a:t>Law.</a:t>
            </a:r>
            <a:r>
              <a:rPr dirty="0" sz="4300" spc="-105">
                <a:latin typeface="Arial MT"/>
                <a:cs typeface="Arial MT"/>
              </a:rPr>
              <a:t> </a:t>
            </a:r>
            <a:r>
              <a:rPr dirty="0" sz="4300">
                <a:latin typeface="Arial MT"/>
                <a:cs typeface="Arial MT"/>
              </a:rPr>
              <a:t>It</a:t>
            </a:r>
            <a:r>
              <a:rPr dirty="0" sz="4300" spc="155">
                <a:latin typeface="Arial MT"/>
                <a:cs typeface="Arial MT"/>
              </a:rPr>
              <a:t> </a:t>
            </a:r>
            <a:r>
              <a:rPr dirty="0" sz="4300">
                <a:latin typeface="Arial MT"/>
                <a:cs typeface="Arial MT"/>
              </a:rPr>
              <a:t>states:</a:t>
            </a:r>
            <a:r>
              <a:rPr dirty="0" sz="4300" spc="15">
                <a:latin typeface="Arial MT"/>
                <a:cs typeface="Arial MT"/>
              </a:rPr>
              <a:t> </a:t>
            </a:r>
            <a:r>
              <a:rPr dirty="0" sz="4300" spc="80">
                <a:latin typeface="Arial MT"/>
                <a:cs typeface="Arial MT"/>
              </a:rPr>
              <a:t>“A</a:t>
            </a:r>
            <a:r>
              <a:rPr dirty="0" sz="4300" spc="-70">
                <a:latin typeface="Arial MT"/>
                <a:cs typeface="Arial MT"/>
              </a:rPr>
              <a:t> </a:t>
            </a:r>
            <a:r>
              <a:rPr dirty="0" sz="4300" spc="80">
                <a:solidFill>
                  <a:srgbClr val="151515"/>
                </a:solidFill>
                <a:latin typeface="Arial MT"/>
                <a:cs typeface="Arial MT"/>
              </a:rPr>
              <a:t>changing</a:t>
            </a:r>
            <a:r>
              <a:rPr dirty="0" sz="4300" spc="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4300" spc="85">
                <a:solidFill>
                  <a:srgbClr val="111111"/>
                </a:solidFill>
                <a:latin typeface="Arial MT"/>
                <a:cs typeface="Arial MT"/>
              </a:rPr>
              <a:t>magnetic</a:t>
            </a:r>
            <a:r>
              <a:rPr dirty="0" sz="4300" spc="7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300" spc="165">
                <a:solidFill>
                  <a:srgbClr val="111111"/>
                </a:solidFill>
                <a:latin typeface="Arial MT"/>
                <a:cs typeface="Arial MT"/>
              </a:rPr>
              <a:t>field</a:t>
            </a:r>
            <a:r>
              <a:rPr dirty="0" sz="4300" spc="-1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300">
                <a:latin typeface="Arial MT"/>
                <a:cs typeface="Arial MT"/>
              </a:rPr>
              <a:t>within</a:t>
            </a:r>
            <a:r>
              <a:rPr dirty="0" sz="4300" spc="135">
                <a:latin typeface="Arial MT"/>
                <a:cs typeface="Arial MT"/>
              </a:rPr>
              <a:t> </a:t>
            </a:r>
            <a:r>
              <a:rPr dirty="0" sz="4300" spc="-335">
                <a:latin typeface="Arial MT"/>
                <a:cs typeface="Arial MT"/>
              </a:rPr>
              <a:t>a</a:t>
            </a:r>
            <a:r>
              <a:rPr dirty="0" sz="4300" spc="125">
                <a:latin typeface="Arial MT"/>
                <a:cs typeface="Arial MT"/>
              </a:rPr>
              <a:t> </a:t>
            </a:r>
            <a:r>
              <a:rPr dirty="0" sz="4300" spc="-10">
                <a:latin typeface="Arial MT"/>
                <a:cs typeface="Arial MT"/>
              </a:rPr>
              <a:t>circuit </a:t>
            </a:r>
            <a:r>
              <a:rPr dirty="0" sz="4300">
                <a:latin typeface="Arial MT"/>
                <a:cs typeface="Arial MT"/>
              </a:rPr>
              <a:t>induces</a:t>
            </a:r>
            <a:r>
              <a:rPr dirty="0" sz="4300" spc="120">
                <a:latin typeface="Arial MT"/>
                <a:cs typeface="Arial MT"/>
              </a:rPr>
              <a:t> </a:t>
            </a:r>
            <a:r>
              <a:rPr dirty="0" sz="4300">
                <a:latin typeface="Arial MT"/>
                <a:cs typeface="Arial MT"/>
              </a:rPr>
              <a:t>an</a:t>
            </a:r>
            <a:r>
              <a:rPr dirty="0" sz="4300" spc="-180">
                <a:latin typeface="Arial MT"/>
                <a:cs typeface="Arial MT"/>
              </a:rPr>
              <a:t> </a:t>
            </a:r>
            <a:r>
              <a:rPr dirty="0" sz="4300" spc="110">
                <a:solidFill>
                  <a:srgbClr val="131313"/>
                </a:solidFill>
                <a:latin typeface="Arial MT"/>
                <a:cs typeface="Arial MT"/>
              </a:rPr>
              <a:t>electromotive</a:t>
            </a:r>
            <a:r>
              <a:rPr dirty="0" sz="4300" spc="3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4300" spc="110">
                <a:solidFill>
                  <a:srgbClr val="161616"/>
                </a:solidFill>
                <a:latin typeface="Arial MT"/>
                <a:cs typeface="Arial MT"/>
              </a:rPr>
              <a:t>force</a:t>
            </a:r>
            <a:r>
              <a:rPr dirty="0" sz="4300" spc="7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4300">
                <a:latin typeface="Arial MT"/>
                <a:cs typeface="Arial MT"/>
              </a:rPr>
              <a:t>(or</a:t>
            </a:r>
            <a:r>
              <a:rPr dirty="0" sz="4300" spc="-35">
                <a:latin typeface="Arial MT"/>
                <a:cs typeface="Arial MT"/>
              </a:rPr>
              <a:t> </a:t>
            </a:r>
            <a:r>
              <a:rPr dirty="0" sz="4300" spc="-10">
                <a:latin typeface="Arial MT"/>
                <a:cs typeface="Arial MT"/>
              </a:rPr>
              <a:t>voltage).“</a:t>
            </a:r>
            <a:endParaRPr sz="4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4300">
              <a:latin typeface="Arial MT"/>
              <a:cs typeface="Arial MT"/>
            </a:endParaRPr>
          </a:p>
          <a:p>
            <a:pPr marL="12700" marR="10428605" indent="1246505">
              <a:lnSpc>
                <a:spcPct val="103000"/>
              </a:lnSpc>
            </a:pPr>
            <a:r>
              <a:rPr dirty="0" sz="4450" spc="-40">
                <a:latin typeface="Arial MT"/>
                <a:cs typeface="Arial MT"/>
              </a:rPr>
              <a:t>changing </a:t>
            </a:r>
            <a:r>
              <a:rPr dirty="0" sz="4450">
                <a:latin typeface="Arial MT"/>
                <a:cs typeface="Arial MT"/>
              </a:rPr>
              <a:t>magnetic</a:t>
            </a:r>
            <a:r>
              <a:rPr dirty="0" sz="4450" spc="-105">
                <a:latin typeface="Arial MT"/>
                <a:cs typeface="Arial MT"/>
              </a:rPr>
              <a:t> </a:t>
            </a:r>
            <a:r>
              <a:rPr dirty="0" sz="4450" spc="-10">
                <a:latin typeface="Arial MT"/>
                <a:cs typeface="Arial MT"/>
              </a:rPr>
              <a:t>field</a:t>
            </a:r>
            <a:endParaRPr sz="4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100" y="4000500"/>
            <a:ext cx="5765800" cy="4292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3100" y="3784600"/>
            <a:ext cx="5588000" cy="46990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9080500" y="189018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 h="0">
                <a:moveTo>
                  <a:pt x="0" y="0"/>
                </a:moveTo>
                <a:lnTo>
                  <a:pt x="334433" y="0"/>
                </a:lnTo>
              </a:path>
            </a:pathLst>
          </a:custGeom>
          <a:ln w="29633">
            <a:solidFill>
              <a:srgbClr val="0808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60044" y="646641"/>
            <a:ext cx="8609330" cy="819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200" spc="210">
                <a:solidFill>
                  <a:srgbClr val="000000"/>
                </a:solidFill>
                <a:latin typeface="Times New Roman"/>
                <a:cs typeface="Times New Roman"/>
              </a:rPr>
              <a:t>Understanding</a:t>
            </a:r>
            <a:r>
              <a:rPr dirty="0" sz="5200" spc="5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5200" spc="140">
                <a:solidFill>
                  <a:srgbClr val="000000"/>
                </a:solidFill>
                <a:latin typeface="Times New Roman"/>
                <a:cs typeface="Times New Roman"/>
              </a:rPr>
              <a:t>Magnetic</a:t>
            </a:r>
            <a:r>
              <a:rPr dirty="0" sz="5200" spc="50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5200" spc="-20">
                <a:solidFill>
                  <a:srgbClr val="000000"/>
                </a:solidFill>
                <a:latin typeface="Times New Roman"/>
                <a:cs typeface="Times New Roman"/>
              </a:rPr>
              <a:t>Flux</a:t>
            </a:r>
            <a:endParaRPr sz="52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110407" y="9458226"/>
            <a:ext cx="122364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  <a:tabLst>
                <a:tab pos="261620" algn="l"/>
              </a:tabLst>
            </a:pPr>
            <a:r>
              <a:rPr dirty="0" sz="1300" spc="-50">
                <a:latin typeface="Times New Roman"/>
                <a:cs typeface="Times New Roman"/>
              </a:rPr>
              <a:t>G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NotebookLM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50137" y="1624894"/>
            <a:ext cx="15568930" cy="132778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 marR="5080" indent="3810">
              <a:lnSpc>
                <a:spcPts val="3300"/>
              </a:lnSpc>
              <a:spcBef>
                <a:spcPts val="515"/>
              </a:spcBef>
              <a:tabLst>
                <a:tab pos="8559165" algn="l"/>
              </a:tabLst>
            </a:pPr>
            <a:r>
              <a:rPr dirty="0" sz="3050" spc="-30">
                <a:latin typeface="Arial MT"/>
                <a:cs typeface="Arial MT"/>
              </a:rPr>
              <a:t>The</a:t>
            </a:r>
            <a:r>
              <a:rPr dirty="0" sz="3050" spc="-185">
                <a:latin typeface="Arial MT"/>
                <a:cs typeface="Arial MT"/>
              </a:rPr>
              <a:t> </a:t>
            </a:r>
            <a:r>
              <a:rPr dirty="0" sz="3050" spc="-25">
                <a:latin typeface="Arial MT"/>
                <a:cs typeface="Arial MT"/>
              </a:rPr>
              <a:t>phenomenon</a:t>
            </a:r>
            <a:r>
              <a:rPr dirty="0" sz="3050" spc="-1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is</a:t>
            </a:r>
            <a:r>
              <a:rPr dirty="0" sz="3050" spc="-114">
                <a:latin typeface="Arial MT"/>
                <a:cs typeface="Arial MT"/>
              </a:rPr>
              <a:t> </a:t>
            </a:r>
            <a:r>
              <a:rPr dirty="0" sz="3050" spc="-10">
                <a:latin typeface="Arial MT"/>
                <a:cs typeface="Arial MT"/>
              </a:rPr>
              <a:t>governed</a:t>
            </a:r>
            <a:r>
              <a:rPr dirty="0" sz="3050" spc="-45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by</a:t>
            </a:r>
            <a:r>
              <a:rPr dirty="0" sz="3050" spc="-215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“magnetic</a:t>
            </a:r>
            <a:r>
              <a:rPr dirty="0" sz="3050" spc="-40">
                <a:latin typeface="Arial MT"/>
                <a:cs typeface="Arial MT"/>
              </a:rPr>
              <a:t> </a:t>
            </a:r>
            <a:r>
              <a:rPr dirty="0" sz="3050" spc="-10">
                <a:latin typeface="Arial MT"/>
                <a:cs typeface="Arial MT"/>
              </a:rPr>
              <a:t>flux”</a:t>
            </a:r>
            <a:r>
              <a:rPr dirty="0" sz="3050">
                <a:latin typeface="Arial MT"/>
                <a:cs typeface="Arial MT"/>
              </a:rPr>
              <a:t>	a</a:t>
            </a:r>
            <a:r>
              <a:rPr dirty="0" sz="3050" spc="-60">
                <a:latin typeface="Arial MT"/>
                <a:cs typeface="Arial MT"/>
              </a:rPr>
              <a:t> </a:t>
            </a:r>
            <a:r>
              <a:rPr dirty="0" sz="3050" spc="-45">
                <a:latin typeface="Arial MT"/>
                <a:cs typeface="Arial MT"/>
              </a:rPr>
              <a:t>measure</a:t>
            </a:r>
            <a:r>
              <a:rPr dirty="0" sz="3050" spc="2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of</a:t>
            </a:r>
            <a:r>
              <a:rPr dirty="0" sz="3050" spc="1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the</a:t>
            </a:r>
            <a:r>
              <a:rPr dirty="0" sz="3050" spc="-155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total</a:t>
            </a:r>
            <a:r>
              <a:rPr dirty="0" sz="3050" spc="-7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magnetic</a:t>
            </a:r>
            <a:r>
              <a:rPr dirty="0" sz="3050" spc="140">
                <a:latin typeface="Arial MT"/>
                <a:cs typeface="Arial MT"/>
              </a:rPr>
              <a:t> </a:t>
            </a:r>
            <a:r>
              <a:rPr dirty="0" sz="3050" spc="-10">
                <a:latin typeface="Arial MT"/>
                <a:cs typeface="Arial MT"/>
              </a:rPr>
              <a:t>field </a:t>
            </a:r>
            <a:r>
              <a:rPr dirty="0" sz="3100" spc="-50">
                <a:latin typeface="Arial MT"/>
                <a:cs typeface="Arial MT"/>
              </a:rPr>
              <a:t>passing</a:t>
            </a:r>
            <a:r>
              <a:rPr dirty="0" sz="3100" spc="-17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through</a:t>
            </a:r>
            <a:r>
              <a:rPr dirty="0" sz="3100" spc="-165">
                <a:latin typeface="Arial MT"/>
                <a:cs typeface="Arial MT"/>
              </a:rPr>
              <a:t> </a:t>
            </a:r>
            <a:r>
              <a:rPr dirty="0" sz="3100" spc="-260">
                <a:latin typeface="Arial MT"/>
                <a:cs typeface="Arial MT"/>
              </a:rPr>
              <a:t>a</a:t>
            </a:r>
            <a:r>
              <a:rPr dirty="0" sz="3100" spc="-30">
                <a:latin typeface="Arial MT"/>
                <a:cs typeface="Arial MT"/>
              </a:rPr>
              <a:t> </a:t>
            </a:r>
            <a:r>
              <a:rPr dirty="0" sz="3100" spc="-20">
                <a:latin typeface="Arial MT"/>
                <a:cs typeface="Arial MT"/>
              </a:rPr>
              <a:t>given</a:t>
            </a:r>
            <a:r>
              <a:rPr dirty="0" sz="3100" spc="-75">
                <a:latin typeface="Arial MT"/>
                <a:cs typeface="Arial MT"/>
              </a:rPr>
              <a:t> </a:t>
            </a:r>
            <a:r>
              <a:rPr dirty="0" sz="3100" spc="-70">
                <a:latin typeface="Arial MT"/>
                <a:cs typeface="Arial MT"/>
              </a:rPr>
              <a:t>area.</a:t>
            </a:r>
            <a:r>
              <a:rPr dirty="0" sz="3100" spc="-25">
                <a:latin typeface="Arial MT"/>
                <a:cs typeface="Arial MT"/>
              </a:rPr>
              <a:t> </a:t>
            </a:r>
            <a:r>
              <a:rPr dirty="0" sz="3100" spc="-204">
                <a:latin typeface="Arial MT"/>
                <a:cs typeface="Arial MT"/>
              </a:rPr>
              <a:t>As</a:t>
            </a:r>
            <a:r>
              <a:rPr dirty="0" sz="3100" spc="-7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the</a:t>
            </a:r>
            <a:r>
              <a:rPr dirty="0" sz="3100" spc="-35">
                <a:latin typeface="Arial MT"/>
                <a:cs typeface="Arial MT"/>
              </a:rPr>
              <a:t> </a:t>
            </a:r>
            <a:r>
              <a:rPr dirty="0" sz="3100" spc="-45">
                <a:latin typeface="Arial MT"/>
                <a:cs typeface="Arial MT"/>
              </a:rPr>
              <a:t>source</a:t>
            </a:r>
            <a:r>
              <a:rPr dirty="0" sz="3100" spc="25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text</a:t>
            </a:r>
            <a:r>
              <a:rPr dirty="0" sz="3100" spc="-45">
                <a:latin typeface="Arial MT"/>
                <a:cs typeface="Arial MT"/>
              </a:rPr>
              <a:t> </a:t>
            </a:r>
            <a:r>
              <a:rPr dirty="0" sz="3100" spc="-30">
                <a:latin typeface="Arial MT"/>
                <a:cs typeface="Arial MT"/>
              </a:rPr>
              <a:t>clarifies,</a:t>
            </a:r>
            <a:r>
              <a:rPr dirty="0" sz="3100" spc="-155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it</a:t>
            </a:r>
            <a:r>
              <a:rPr dirty="0" sz="3100" spc="-15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is</a:t>
            </a:r>
            <a:r>
              <a:rPr dirty="0" sz="3100" spc="-12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the</a:t>
            </a:r>
            <a:r>
              <a:rPr dirty="0" sz="3100" spc="-190">
                <a:latin typeface="Arial MT"/>
                <a:cs typeface="Arial MT"/>
              </a:rPr>
              <a:t> </a:t>
            </a:r>
            <a:r>
              <a:rPr dirty="0" sz="3100" spc="-35" i="1">
                <a:latin typeface="Arial"/>
                <a:cs typeface="Arial"/>
              </a:rPr>
              <a:t>change</a:t>
            </a:r>
            <a:r>
              <a:rPr dirty="0" sz="3100" spc="25" i="1">
                <a:latin typeface="Arial"/>
                <a:cs typeface="Arial"/>
              </a:rPr>
              <a:t> </a:t>
            </a:r>
            <a:r>
              <a:rPr dirty="0" sz="3100">
                <a:latin typeface="Arial MT"/>
                <a:cs typeface="Arial MT"/>
              </a:rPr>
              <a:t>in</a:t>
            </a:r>
            <a:r>
              <a:rPr dirty="0" sz="3100" spc="-204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this</a:t>
            </a:r>
            <a:r>
              <a:rPr dirty="0" sz="3100" spc="-12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flux,</a:t>
            </a:r>
            <a:r>
              <a:rPr dirty="0" sz="3100" spc="-21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not</a:t>
            </a:r>
            <a:r>
              <a:rPr dirty="0" sz="3100" spc="-45">
                <a:latin typeface="Arial MT"/>
                <a:cs typeface="Arial MT"/>
              </a:rPr>
              <a:t> </a:t>
            </a:r>
            <a:r>
              <a:rPr dirty="0" sz="3100" spc="-25">
                <a:latin typeface="Arial MT"/>
                <a:cs typeface="Arial MT"/>
              </a:rPr>
              <a:t>its </a:t>
            </a:r>
            <a:r>
              <a:rPr dirty="0" sz="2950">
                <a:latin typeface="Arial MT"/>
                <a:cs typeface="Arial MT"/>
              </a:rPr>
              <a:t>mere</a:t>
            </a:r>
            <a:r>
              <a:rPr dirty="0" sz="2950" spc="9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presence,</a:t>
            </a:r>
            <a:r>
              <a:rPr dirty="0" sz="2950" spc="25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that</a:t>
            </a:r>
            <a:r>
              <a:rPr dirty="0" sz="2950" spc="15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induces</a:t>
            </a:r>
            <a:r>
              <a:rPr dirty="0" sz="2950" spc="165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a</a:t>
            </a:r>
            <a:r>
              <a:rPr dirty="0" sz="2950" spc="80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current.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210074" y="8406694"/>
            <a:ext cx="1504315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>
                <a:latin typeface="Arial MT"/>
                <a:cs typeface="Arial MT"/>
              </a:rPr>
              <a:t>Low</a:t>
            </a:r>
            <a:r>
              <a:rPr dirty="0" sz="3050" spc="-190">
                <a:latin typeface="Arial MT"/>
                <a:cs typeface="Arial MT"/>
              </a:rPr>
              <a:t> </a:t>
            </a:r>
            <a:r>
              <a:rPr dirty="0" sz="3050" spc="-90">
                <a:latin typeface="Arial MT"/>
                <a:cs typeface="Arial MT"/>
              </a:rPr>
              <a:t>Flux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808622" y="8406694"/>
            <a:ext cx="1583055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20">
                <a:latin typeface="Arial MT"/>
                <a:cs typeface="Arial MT"/>
              </a:rPr>
              <a:t>High</a:t>
            </a:r>
            <a:r>
              <a:rPr dirty="0" sz="3050" spc="-175">
                <a:latin typeface="Arial MT"/>
                <a:cs typeface="Arial MT"/>
              </a:rPr>
              <a:t> </a:t>
            </a:r>
            <a:r>
              <a:rPr dirty="0" sz="3050" spc="-90">
                <a:latin typeface="Arial MT"/>
                <a:cs typeface="Arial MT"/>
              </a:rPr>
              <a:t>Flux</a:t>
            </a:r>
            <a:endParaRPr sz="3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5000" y="5600700"/>
            <a:ext cx="800100" cy="114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94900" y="5727700"/>
            <a:ext cx="1206500" cy="12065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42300" y="5448300"/>
            <a:ext cx="787400" cy="101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85000" y="5308600"/>
            <a:ext cx="800100" cy="1143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21800" y="3505200"/>
            <a:ext cx="3441700" cy="173990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7251700" y="7643283"/>
            <a:ext cx="601345" cy="0"/>
          </a:xfrm>
          <a:custGeom>
            <a:avLst/>
            <a:gdLst/>
            <a:ahLst/>
            <a:cxnLst/>
            <a:rect l="l" t="t" r="r" b="b"/>
            <a:pathLst>
              <a:path w="601345" h="0">
                <a:moveTo>
                  <a:pt x="0" y="0"/>
                </a:moveTo>
                <a:lnTo>
                  <a:pt x="6011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271000" y="5484283"/>
            <a:ext cx="2633345" cy="0"/>
          </a:xfrm>
          <a:custGeom>
            <a:avLst/>
            <a:gdLst/>
            <a:ahLst/>
            <a:cxnLst/>
            <a:rect l="l" t="t" r="r" b="b"/>
            <a:pathLst>
              <a:path w="2633345" h="0">
                <a:moveTo>
                  <a:pt x="0" y="0"/>
                </a:moveTo>
                <a:lnTo>
                  <a:pt x="2633133" y="0"/>
                </a:lnTo>
              </a:path>
            </a:pathLst>
          </a:custGeom>
          <a:ln w="296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43909" y="802922"/>
            <a:ext cx="6792595" cy="6394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73150" algn="l"/>
              </a:tabLst>
            </a:pPr>
            <a:r>
              <a:rPr dirty="0" sz="4000" spc="-25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dirty="0" sz="400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dirty="0" sz="4000" spc="195">
                <a:solidFill>
                  <a:srgbClr val="000000"/>
                </a:solidFill>
                <a:latin typeface="Times New Roman"/>
                <a:cs typeface="Times New Roman"/>
              </a:rPr>
              <a:t>Blueprint</a:t>
            </a:r>
            <a:r>
              <a:rPr dirty="0" sz="4000" spc="4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4000" spc="185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dirty="0" sz="4000" spc="27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4000" spc="225">
                <a:solidFill>
                  <a:srgbClr val="000000"/>
                </a:solidFill>
                <a:latin typeface="Times New Roman"/>
                <a:cs typeface="Times New Roman"/>
              </a:rPr>
              <a:t>an</a:t>
            </a:r>
            <a:r>
              <a:rPr dirty="0" sz="4000" spc="3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4000" spc="185">
                <a:solidFill>
                  <a:srgbClr val="000000"/>
                </a:solidFill>
                <a:latin typeface="Times New Roman"/>
                <a:cs typeface="Times New Roman"/>
              </a:rPr>
              <a:t>Equation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110407" y="9458226"/>
            <a:ext cx="122364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  <a:tabLst>
                <a:tab pos="261620" algn="l"/>
              </a:tabLst>
            </a:pPr>
            <a:r>
              <a:rPr dirty="0" sz="1300" spc="-50">
                <a:latin typeface="Times New Roman"/>
                <a:cs typeface="Times New Roman"/>
              </a:rPr>
              <a:t>G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NotebookLM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1285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Elegantly</a:t>
            </a:r>
            <a:r>
              <a:rPr dirty="0" spc="185"/>
              <a:t> </a:t>
            </a:r>
            <a:r>
              <a:rPr dirty="0"/>
              <a:t>expressed</a:t>
            </a:r>
            <a:r>
              <a:rPr dirty="0" spc="30"/>
              <a:t> </a:t>
            </a:r>
            <a:r>
              <a:rPr dirty="0"/>
              <a:t>in</a:t>
            </a:r>
            <a:r>
              <a:rPr dirty="0" spc="-95"/>
              <a:t> </a:t>
            </a:r>
            <a:r>
              <a:rPr dirty="0"/>
              <a:t>mathematics,</a:t>
            </a:r>
            <a:r>
              <a:rPr dirty="0" spc="250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/>
              <a:t>law</a:t>
            </a:r>
            <a:r>
              <a:rPr dirty="0" spc="55"/>
              <a:t> </a:t>
            </a:r>
            <a:r>
              <a:rPr dirty="0"/>
              <a:t>quantifies</a:t>
            </a:r>
            <a:r>
              <a:rPr dirty="0" spc="130"/>
              <a:t> </a:t>
            </a:r>
            <a:r>
              <a:rPr dirty="0"/>
              <a:t>the</a:t>
            </a:r>
            <a:r>
              <a:rPr dirty="0" spc="-95"/>
              <a:t> </a:t>
            </a:r>
            <a:r>
              <a:rPr dirty="0"/>
              <a:t>relationship:</a:t>
            </a:r>
            <a:r>
              <a:rPr dirty="0" spc="50"/>
              <a:t> </a:t>
            </a:r>
            <a:r>
              <a:rPr dirty="0"/>
              <a:t>the</a:t>
            </a:r>
            <a:r>
              <a:rPr dirty="0" spc="-95"/>
              <a:t> </a:t>
            </a:r>
            <a:r>
              <a:rPr dirty="0"/>
              <a:t>induced</a:t>
            </a:r>
            <a:r>
              <a:rPr dirty="0" spc="105"/>
              <a:t> </a:t>
            </a:r>
            <a:r>
              <a:rPr dirty="0" spc="-10"/>
              <a:t>voltage</a:t>
            </a:r>
          </a:p>
          <a:p>
            <a:pPr marL="2188210">
              <a:lnSpc>
                <a:spcPct val="100000"/>
              </a:lnSpc>
              <a:spcBef>
                <a:spcPts val="120"/>
              </a:spcBef>
            </a:pPr>
            <a:r>
              <a:rPr dirty="0" sz="2500" spc="-35" i="1">
                <a:latin typeface="Arial"/>
                <a:cs typeface="Arial"/>
              </a:rPr>
              <a:t>(e)</a:t>
            </a:r>
            <a:r>
              <a:rPr dirty="0" sz="2500" spc="-70" i="1">
                <a:latin typeface="Arial"/>
                <a:cs typeface="Arial"/>
              </a:rPr>
              <a:t> </a:t>
            </a:r>
            <a:r>
              <a:rPr dirty="0" sz="2500"/>
              <a:t>is</a:t>
            </a:r>
            <a:r>
              <a:rPr dirty="0" sz="2500" spc="-130"/>
              <a:t> </a:t>
            </a:r>
            <a:r>
              <a:rPr dirty="0" sz="2500"/>
              <a:t>directly</a:t>
            </a:r>
            <a:r>
              <a:rPr dirty="0" sz="2500" spc="35"/>
              <a:t> </a:t>
            </a:r>
            <a:r>
              <a:rPr dirty="0" sz="2500" spc="-20"/>
              <a:t>proportional</a:t>
            </a:r>
            <a:r>
              <a:rPr dirty="0" sz="2500" spc="-5"/>
              <a:t> </a:t>
            </a:r>
            <a:r>
              <a:rPr dirty="0" sz="2500"/>
              <a:t>to</a:t>
            </a:r>
            <a:r>
              <a:rPr dirty="0" sz="2500" spc="-175"/>
              <a:t> </a:t>
            </a:r>
            <a:r>
              <a:rPr dirty="0" sz="2500"/>
              <a:t>the</a:t>
            </a:r>
            <a:r>
              <a:rPr dirty="0" sz="2500" spc="-95"/>
              <a:t> </a:t>
            </a:r>
            <a:r>
              <a:rPr dirty="0" sz="2500" spc="-10"/>
              <a:t>rate</a:t>
            </a:r>
            <a:r>
              <a:rPr dirty="0" sz="2500" spc="-105"/>
              <a:t> </a:t>
            </a:r>
            <a:r>
              <a:rPr dirty="0" sz="2500"/>
              <a:t>of</a:t>
            </a:r>
            <a:r>
              <a:rPr dirty="0" sz="2500" spc="5"/>
              <a:t> </a:t>
            </a:r>
            <a:r>
              <a:rPr dirty="0" sz="2500" spc="-55"/>
              <a:t>change</a:t>
            </a:r>
            <a:r>
              <a:rPr dirty="0" sz="2500" spc="-10"/>
              <a:t> </a:t>
            </a:r>
            <a:r>
              <a:rPr dirty="0" sz="2500"/>
              <a:t>of</a:t>
            </a:r>
            <a:r>
              <a:rPr dirty="0" sz="2500" spc="-125"/>
              <a:t> </a:t>
            </a:r>
            <a:r>
              <a:rPr dirty="0" sz="2500"/>
              <a:t>the</a:t>
            </a:r>
            <a:r>
              <a:rPr dirty="0" sz="2500" spc="-95"/>
              <a:t> </a:t>
            </a:r>
            <a:r>
              <a:rPr dirty="0" sz="2500" spc="-40"/>
              <a:t>magnetic</a:t>
            </a:r>
            <a:r>
              <a:rPr dirty="0" sz="2500" spc="155"/>
              <a:t> </a:t>
            </a:r>
            <a:r>
              <a:rPr dirty="0" sz="2500"/>
              <a:t>flux</a:t>
            </a:r>
            <a:r>
              <a:rPr dirty="0" sz="2500" spc="-20"/>
              <a:t> </a:t>
            </a:r>
            <a:r>
              <a:rPr dirty="0" sz="2500" spc="-10"/>
              <a:t>(d‹t›</a:t>
            </a:r>
            <a:r>
              <a:rPr dirty="0" baseline="-20202" sz="2475" spc="-15"/>
              <a:t>B</a:t>
            </a:r>
            <a:r>
              <a:rPr dirty="0" sz="2500" spc="-10"/>
              <a:t>/dt).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500"/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500"/>
          </a:p>
          <a:p>
            <a:pPr marL="11636375">
              <a:lnSpc>
                <a:spcPts val="2765"/>
              </a:lnSpc>
            </a:pPr>
            <a:r>
              <a:rPr dirty="0" spc="-45"/>
              <a:t>Change</a:t>
            </a:r>
            <a:r>
              <a:rPr dirty="0" spc="-75"/>
              <a:t> </a:t>
            </a:r>
            <a:r>
              <a:rPr dirty="0" spc="-25"/>
              <a:t>in</a:t>
            </a:r>
          </a:p>
          <a:p>
            <a:pPr marL="11627485">
              <a:lnSpc>
                <a:spcPts val="2940"/>
              </a:lnSpc>
            </a:pPr>
            <a:r>
              <a:rPr dirty="0" sz="2550" spc="-60"/>
              <a:t>Magnetic</a:t>
            </a:r>
            <a:r>
              <a:rPr dirty="0" sz="2550" spc="-70"/>
              <a:t> </a:t>
            </a:r>
            <a:r>
              <a:rPr dirty="0" sz="2550" spc="-20"/>
              <a:t>Flux</a:t>
            </a:r>
            <a:endParaRPr sz="2550"/>
          </a:p>
          <a:p>
            <a:pPr algn="r" marR="10702290">
              <a:lnSpc>
                <a:spcPts val="2955"/>
              </a:lnSpc>
            </a:pPr>
            <a:r>
              <a:rPr dirty="0" sz="2600" spc="-90"/>
              <a:t>Induced</a:t>
            </a:r>
            <a:r>
              <a:rPr dirty="0" sz="2600" spc="-75"/>
              <a:t> </a:t>
            </a:r>
            <a:r>
              <a:rPr dirty="0" sz="2600" spc="-110"/>
              <a:t>Electromotive</a:t>
            </a:r>
            <a:endParaRPr sz="2600"/>
          </a:p>
          <a:p>
            <a:pPr algn="r" marR="10697210">
              <a:lnSpc>
                <a:spcPts val="2960"/>
              </a:lnSpc>
            </a:pPr>
            <a:r>
              <a:rPr dirty="0" sz="2600" spc="-145"/>
              <a:t>Force</a:t>
            </a:r>
            <a:r>
              <a:rPr dirty="0" sz="2600" spc="-30"/>
              <a:t> </a:t>
            </a:r>
            <a:r>
              <a:rPr dirty="0" sz="2600" spc="-45"/>
              <a:t>(Voltage)</a:t>
            </a:r>
            <a:endParaRPr sz="2600"/>
          </a:p>
        </p:txBody>
      </p:sp>
      <p:sp>
        <p:nvSpPr>
          <p:cNvPr id="11" name="object 11" descr=""/>
          <p:cNvSpPr txBox="1"/>
          <p:nvPr/>
        </p:nvSpPr>
        <p:spPr>
          <a:xfrm>
            <a:off x="2978763" y="7066491"/>
            <a:ext cx="4063365" cy="1133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59460">
              <a:lnSpc>
                <a:spcPts val="3070"/>
              </a:lnSpc>
              <a:spcBef>
                <a:spcPts val="105"/>
              </a:spcBef>
            </a:pPr>
            <a:r>
              <a:rPr dirty="0" sz="2700" spc="-210">
                <a:latin typeface="Arial MT"/>
                <a:cs typeface="Arial MT"/>
              </a:rPr>
              <a:t>(Lenz's</a:t>
            </a:r>
            <a:r>
              <a:rPr dirty="0" sz="2700" spc="20">
                <a:latin typeface="Arial MT"/>
                <a:cs typeface="Arial MT"/>
              </a:rPr>
              <a:t> </a:t>
            </a:r>
            <a:r>
              <a:rPr dirty="0" sz="2700" spc="-270">
                <a:latin typeface="Arial MT"/>
                <a:cs typeface="Arial MT"/>
              </a:rPr>
              <a:t>Law)</a:t>
            </a:r>
            <a:r>
              <a:rPr dirty="0" sz="2700" spc="140">
                <a:latin typeface="Arial MT"/>
                <a:cs typeface="Arial MT"/>
              </a:rPr>
              <a:t> </a:t>
            </a:r>
            <a:r>
              <a:rPr dirty="0" sz="2700" spc="-140">
                <a:latin typeface="Arial MT"/>
                <a:cs typeface="Arial MT"/>
              </a:rPr>
              <a:t>Direction</a:t>
            </a:r>
            <a:r>
              <a:rPr dirty="0" sz="2700" spc="120">
                <a:latin typeface="Arial MT"/>
                <a:cs typeface="Arial MT"/>
              </a:rPr>
              <a:t> </a:t>
            </a:r>
            <a:r>
              <a:rPr dirty="0" sz="2700" spc="-70">
                <a:latin typeface="Arial MT"/>
                <a:cs typeface="Arial MT"/>
              </a:rPr>
              <a:t>of</a:t>
            </a:r>
            <a:endParaRPr sz="2700">
              <a:latin typeface="Arial MT"/>
              <a:cs typeface="Arial MT"/>
            </a:endParaRPr>
          </a:p>
          <a:p>
            <a:pPr marL="329565" marR="125095" indent="-317500">
              <a:lnSpc>
                <a:spcPts val="2750"/>
              </a:lnSpc>
              <a:spcBef>
                <a:spcPts val="180"/>
              </a:spcBef>
            </a:pPr>
            <a:r>
              <a:rPr dirty="0" sz="2550" spc="-20">
                <a:latin typeface="Arial MT"/>
                <a:cs typeface="Arial MT"/>
              </a:rPr>
              <a:t>the</a:t>
            </a:r>
            <a:r>
              <a:rPr dirty="0" sz="2550" spc="-160">
                <a:latin typeface="Arial MT"/>
                <a:cs typeface="Arial MT"/>
              </a:rPr>
              <a:t> </a:t>
            </a:r>
            <a:r>
              <a:rPr dirty="0" sz="2550" spc="-35">
                <a:latin typeface="Arial MT"/>
                <a:cs typeface="Arial MT"/>
              </a:rPr>
              <a:t>induced</a:t>
            </a:r>
            <a:r>
              <a:rPr dirty="0" sz="2550" spc="-145">
                <a:latin typeface="Arial MT"/>
                <a:cs typeface="Arial MT"/>
              </a:rPr>
              <a:t> </a:t>
            </a:r>
            <a:r>
              <a:rPr dirty="0" sz="2550" spc="-45">
                <a:latin typeface="Arial MT"/>
                <a:cs typeface="Arial MT"/>
              </a:rPr>
              <a:t>current</a:t>
            </a:r>
            <a:r>
              <a:rPr dirty="0" sz="2550" spc="-75">
                <a:latin typeface="Arial MT"/>
                <a:cs typeface="Arial MT"/>
              </a:rPr>
              <a:t> </a:t>
            </a:r>
            <a:r>
              <a:rPr dirty="0" sz="2550" spc="-50">
                <a:latin typeface="Arial MT"/>
                <a:cs typeface="Arial MT"/>
              </a:rPr>
              <a:t>opposes </a:t>
            </a:r>
            <a:r>
              <a:rPr dirty="0" sz="2550">
                <a:latin typeface="Arial MT"/>
                <a:cs typeface="Arial MT"/>
              </a:rPr>
              <a:t>the</a:t>
            </a:r>
            <a:r>
              <a:rPr dirty="0" sz="2550" spc="-170">
                <a:latin typeface="Arial MT"/>
                <a:cs typeface="Arial MT"/>
              </a:rPr>
              <a:t> </a:t>
            </a:r>
            <a:r>
              <a:rPr dirty="0" sz="2550" spc="-75">
                <a:latin typeface="Arial MT"/>
                <a:cs typeface="Arial MT"/>
              </a:rPr>
              <a:t>change</a:t>
            </a:r>
            <a:r>
              <a:rPr dirty="0" sz="2550" spc="-65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that</a:t>
            </a:r>
            <a:r>
              <a:rPr dirty="0" sz="2550" spc="-85">
                <a:latin typeface="Arial MT"/>
                <a:cs typeface="Arial MT"/>
              </a:rPr>
              <a:t> </a:t>
            </a:r>
            <a:r>
              <a:rPr dirty="0" sz="2550" spc="-75">
                <a:latin typeface="Arial MT"/>
                <a:cs typeface="Arial MT"/>
              </a:rPr>
              <a:t>created</a:t>
            </a:r>
            <a:r>
              <a:rPr dirty="0" sz="2550" spc="-105">
                <a:latin typeface="Arial MT"/>
                <a:cs typeface="Arial MT"/>
              </a:rPr>
              <a:t> </a:t>
            </a:r>
            <a:r>
              <a:rPr dirty="0" sz="2550" spc="-25">
                <a:latin typeface="Arial MT"/>
                <a:cs typeface="Arial MT"/>
              </a:rPr>
              <a:t>it.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944761" y="7066491"/>
            <a:ext cx="10985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300">
                <a:solidFill>
                  <a:srgbClr val="7E7E7E"/>
                </a:solidFill>
                <a:latin typeface="Arial MT"/>
                <a:cs typeface="Arial MT"/>
              </a:rPr>
              <a:t>’’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417300" y="6106230"/>
            <a:ext cx="3716654" cy="7797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ts val="2780"/>
              </a:lnSpc>
              <a:spcBef>
                <a:spcPts val="120"/>
              </a:spcBef>
              <a:tabLst>
                <a:tab pos="1410335" algn="l"/>
              </a:tabLst>
            </a:pPr>
            <a:r>
              <a:rPr dirty="0" u="sng" sz="2550">
                <a:uFill>
                  <a:solidFill>
                    <a:srgbClr val="777C7C"/>
                  </a:solidFill>
                </a:uFill>
                <a:latin typeface="Arial MT"/>
                <a:cs typeface="Arial MT"/>
              </a:rPr>
              <a:t>	</a:t>
            </a:r>
            <a:r>
              <a:rPr dirty="0" sz="2550" spc="-30">
                <a:latin typeface="Arial MT"/>
                <a:cs typeface="Arial MT"/>
              </a:rPr>
              <a:t> </a:t>
            </a:r>
            <a:r>
              <a:rPr dirty="0" sz="2550" spc="-125">
                <a:latin typeface="Arial MT"/>
                <a:cs typeface="Arial MT"/>
              </a:rPr>
              <a:t>Over</a:t>
            </a:r>
            <a:r>
              <a:rPr dirty="0" sz="2550" spc="75">
                <a:latin typeface="Arial MT"/>
                <a:cs typeface="Arial MT"/>
              </a:rPr>
              <a:t> </a:t>
            </a:r>
            <a:r>
              <a:rPr dirty="0" sz="2550" spc="-285">
                <a:latin typeface="Arial MT"/>
                <a:cs typeface="Arial MT"/>
              </a:rPr>
              <a:t>a</a:t>
            </a:r>
            <a:r>
              <a:rPr dirty="0" sz="2550" spc="-60">
                <a:latin typeface="Arial MT"/>
                <a:cs typeface="Arial MT"/>
              </a:rPr>
              <a:t> </a:t>
            </a:r>
            <a:r>
              <a:rPr dirty="0" sz="2550" spc="-80">
                <a:latin typeface="Arial MT"/>
                <a:cs typeface="Arial MT"/>
              </a:rPr>
              <a:t>Period </a:t>
            </a:r>
            <a:r>
              <a:rPr dirty="0" sz="2550">
                <a:latin typeface="Arial MT"/>
                <a:cs typeface="Arial MT"/>
              </a:rPr>
              <a:t>of</a:t>
            </a:r>
            <a:endParaRPr sz="2550">
              <a:latin typeface="Arial MT"/>
              <a:cs typeface="Arial MT"/>
            </a:endParaRPr>
          </a:p>
          <a:p>
            <a:pPr algn="ctr" marR="1270">
              <a:lnSpc>
                <a:spcPts val="3140"/>
              </a:lnSpc>
            </a:pPr>
            <a:r>
              <a:rPr dirty="0" sz="2850" spc="-345">
                <a:latin typeface="Arial MT"/>
                <a:cs typeface="Arial MT"/>
              </a:rPr>
              <a:t>Time</a:t>
            </a:r>
            <a:endParaRPr sz="2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4700" y="2070100"/>
            <a:ext cx="12890500" cy="6591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0796" y="2433108"/>
            <a:ext cx="6758940" cy="7556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77335" algn="l"/>
              </a:tabLst>
            </a:pPr>
            <a:r>
              <a:rPr dirty="0" sz="4800" spc="175">
                <a:solidFill>
                  <a:srgbClr val="282828"/>
                </a:solidFill>
                <a:latin typeface="Times New Roman"/>
                <a:cs typeface="Times New Roman"/>
              </a:rPr>
              <a:t>From</a:t>
            </a:r>
            <a:r>
              <a:rPr dirty="0" sz="4800" spc="409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480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dirty="0" sz="4800" spc="23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4800">
                <a:solidFill>
                  <a:srgbClr val="2A2A2A"/>
                </a:solidFill>
                <a:latin typeface="Times New Roman"/>
                <a:cs typeface="Times New Roman"/>
              </a:rPr>
              <a:t>Law</a:t>
            </a:r>
            <a:r>
              <a:rPr dirty="0" sz="4800" spc="26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4800" spc="-25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dirty="0" sz="4800">
                <a:solidFill>
                  <a:srgbClr val="282828"/>
                </a:solidFill>
                <a:latin typeface="Times New Roman"/>
                <a:cs typeface="Times New Roman"/>
              </a:rPr>
              <a:t>	</a:t>
            </a:r>
            <a:r>
              <a:rPr dirty="0" sz="4800" spc="125">
                <a:solidFill>
                  <a:srgbClr val="2B2B2B"/>
                </a:solidFill>
                <a:latin typeface="Times New Roman"/>
                <a:cs typeface="Times New Roman"/>
              </a:rPr>
              <a:t>a</a:t>
            </a:r>
            <a:r>
              <a:rPr dirty="0" sz="4800" spc="22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dirty="0" sz="4800" spc="-10">
                <a:solidFill>
                  <a:srgbClr val="262626"/>
                </a:solidFill>
                <a:latin typeface="Times New Roman"/>
                <a:cs typeface="Times New Roman"/>
              </a:rPr>
              <a:t>Lifestyle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110407" y="9458226"/>
            <a:ext cx="122364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  <a:tabLst>
                <a:tab pos="261620" algn="l"/>
              </a:tabLst>
            </a:pPr>
            <a:r>
              <a:rPr dirty="0" sz="1300" spc="-50">
                <a:latin typeface="Times New Roman"/>
                <a:cs typeface="Times New Roman"/>
              </a:rPr>
              <a:t>G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NotebookLM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3274" y="3507316"/>
            <a:ext cx="5953760" cy="37007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30"/>
              </a:spcBef>
            </a:pPr>
            <a:r>
              <a:rPr dirty="0" sz="3300" spc="-185">
                <a:latin typeface="Arial MT"/>
                <a:cs typeface="Arial MT"/>
              </a:rPr>
              <a:t>Faraday's</a:t>
            </a:r>
            <a:r>
              <a:rPr dirty="0" sz="3300" spc="-45">
                <a:latin typeface="Arial MT"/>
                <a:cs typeface="Arial MT"/>
              </a:rPr>
              <a:t> </a:t>
            </a:r>
            <a:r>
              <a:rPr dirty="0" sz="3300" spc="-114">
                <a:latin typeface="Arial MT"/>
                <a:cs typeface="Arial MT"/>
              </a:rPr>
              <a:t>discovery</a:t>
            </a:r>
            <a:r>
              <a:rPr dirty="0" sz="3300" spc="-10">
                <a:latin typeface="Arial MT"/>
                <a:cs typeface="Arial MT"/>
              </a:rPr>
              <a:t> </a:t>
            </a:r>
            <a:r>
              <a:rPr dirty="0" sz="3300" spc="-125">
                <a:latin typeface="Arial MT"/>
                <a:cs typeface="Arial MT"/>
              </a:rPr>
              <a:t>is </a:t>
            </a:r>
            <a:r>
              <a:rPr dirty="0" sz="3300" spc="-50">
                <a:latin typeface="Arial MT"/>
                <a:cs typeface="Arial MT"/>
              </a:rPr>
              <a:t>the</a:t>
            </a:r>
            <a:r>
              <a:rPr dirty="0" sz="3300" spc="-175">
                <a:latin typeface="Arial MT"/>
                <a:cs typeface="Arial MT"/>
              </a:rPr>
              <a:t> </a:t>
            </a:r>
            <a:r>
              <a:rPr dirty="0" sz="3300" spc="-70">
                <a:latin typeface="Arial MT"/>
                <a:cs typeface="Arial MT"/>
              </a:rPr>
              <a:t>invisible</a:t>
            </a:r>
            <a:endParaRPr sz="3300">
              <a:latin typeface="Arial MT"/>
              <a:cs typeface="Arial MT"/>
            </a:endParaRPr>
          </a:p>
          <a:p>
            <a:pPr marL="24765">
              <a:lnSpc>
                <a:spcPct val="100000"/>
              </a:lnSpc>
              <a:spcBef>
                <a:spcPts val="190"/>
              </a:spcBef>
            </a:pPr>
            <a:r>
              <a:rPr dirty="0" sz="3250" spc="-125">
                <a:latin typeface="Arial MT"/>
                <a:cs typeface="Arial MT"/>
              </a:rPr>
              <a:t>engine</a:t>
            </a:r>
            <a:r>
              <a:rPr dirty="0" sz="3250" spc="-100">
                <a:latin typeface="Arial MT"/>
                <a:cs typeface="Arial MT"/>
              </a:rPr>
              <a:t> </a:t>
            </a:r>
            <a:r>
              <a:rPr dirty="0" sz="3250" spc="-65">
                <a:latin typeface="Arial MT"/>
                <a:cs typeface="Arial MT"/>
              </a:rPr>
              <a:t>behind</a:t>
            </a:r>
            <a:r>
              <a:rPr dirty="0" sz="3250" spc="-160">
                <a:latin typeface="Arial MT"/>
                <a:cs typeface="Arial MT"/>
              </a:rPr>
              <a:t> </a:t>
            </a:r>
            <a:r>
              <a:rPr dirty="0" sz="3250" spc="-110">
                <a:latin typeface="Arial MT"/>
                <a:cs typeface="Arial MT"/>
              </a:rPr>
              <a:t>our</a:t>
            </a:r>
            <a:r>
              <a:rPr dirty="0" sz="3250" spc="-114">
                <a:latin typeface="Arial MT"/>
                <a:cs typeface="Arial MT"/>
              </a:rPr>
              <a:t> </a:t>
            </a:r>
            <a:r>
              <a:rPr dirty="0" sz="3250" spc="-35">
                <a:latin typeface="Arial MT"/>
                <a:cs typeface="Arial MT"/>
              </a:rPr>
              <a:t>most</a:t>
            </a:r>
            <a:r>
              <a:rPr dirty="0" sz="3250" spc="-65">
                <a:latin typeface="Arial MT"/>
                <a:cs typeface="Arial MT"/>
              </a:rPr>
              <a:t> </a:t>
            </a:r>
            <a:r>
              <a:rPr dirty="0" sz="3250" spc="-70">
                <a:latin typeface="Arial MT"/>
                <a:cs typeface="Arial MT"/>
              </a:rPr>
              <a:t>seamless</a:t>
            </a:r>
            <a:endParaRPr sz="3250">
              <a:latin typeface="Arial MT"/>
              <a:cs typeface="Arial MT"/>
            </a:endParaRPr>
          </a:p>
          <a:p>
            <a:pPr marL="19685" marR="692150" indent="-7620">
              <a:lnSpc>
                <a:spcPct val="107100"/>
              </a:lnSpc>
              <a:spcBef>
                <a:spcPts val="25"/>
              </a:spcBef>
            </a:pPr>
            <a:r>
              <a:rPr dirty="0" sz="3250" spc="-100">
                <a:latin typeface="Arial MT"/>
                <a:cs typeface="Arial MT"/>
              </a:rPr>
              <a:t>modern</a:t>
            </a:r>
            <a:r>
              <a:rPr dirty="0" sz="3250" spc="-125">
                <a:latin typeface="Arial MT"/>
                <a:cs typeface="Arial MT"/>
              </a:rPr>
              <a:t> </a:t>
            </a:r>
            <a:r>
              <a:rPr dirty="0" sz="3250" spc="-105">
                <a:latin typeface="Arial MT"/>
                <a:cs typeface="Arial MT"/>
              </a:rPr>
              <a:t>conveniences.</a:t>
            </a:r>
            <a:r>
              <a:rPr dirty="0" sz="3250" spc="35">
                <a:latin typeface="Arial MT"/>
                <a:cs typeface="Arial MT"/>
              </a:rPr>
              <a:t> </a:t>
            </a:r>
            <a:r>
              <a:rPr dirty="0" sz="3250" spc="-235">
                <a:latin typeface="Arial MT"/>
                <a:cs typeface="Arial MT"/>
              </a:rPr>
              <a:t>As</a:t>
            </a:r>
            <a:r>
              <a:rPr dirty="0" sz="3250" spc="-120">
                <a:latin typeface="Arial MT"/>
                <a:cs typeface="Arial MT"/>
              </a:rPr>
              <a:t> </a:t>
            </a:r>
            <a:r>
              <a:rPr dirty="0" sz="3250" spc="-25">
                <a:latin typeface="Arial MT"/>
                <a:cs typeface="Arial MT"/>
              </a:rPr>
              <a:t>the </a:t>
            </a:r>
            <a:r>
              <a:rPr dirty="0" sz="3250" spc="-110">
                <a:latin typeface="Arial MT"/>
                <a:cs typeface="Arial MT"/>
              </a:rPr>
              <a:t>source</a:t>
            </a:r>
            <a:r>
              <a:rPr dirty="0" sz="3250" spc="-55">
                <a:latin typeface="Arial MT"/>
                <a:cs typeface="Arial MT"/>
              </a:rPr>
              <a:t> </a:t>
            </a:r>
            <a:r>
              <a:rPr dirty="0" sz="3250" spc="-95">
                <a:latin typeface="Arial MT"/>
                <a:cs typeface="Arial MT"/>
              </a:rPr>
              <a:t>material</a:t>
            </a:r>
            <a:r>
              <a:rPr dirty="0" sz="3250" spc="-5">
                <a:latin typeface="Arial MT"/>
                <a:cs typeface="Arial MT"/>
              </a:rPr>
              <a:t> </a:t>
            </a:r>
            <a:r>
              <a:rPr dirty="0" sz="3250" spc="-60">
                <a:latin typeface="Arial MT"/>
                <a:cs typeface="Arial MT"/>
              </a:rPr>
              <a:t>highlights,</a:t>
            </a:r>
            <a:r>
              <a:rPr dirty="0" sz="3250" spc="-105">
                <a:latin typeface="Arial MT"/>
                <a:cs typeface="Arial MT"/>
              </a:rPr>
              <a:t> </a:t>
            </a:r>
            <a:r>
              <a:rPr dirty="0" sz="3250">
                <a:latin typeface="Arial MT"/>
                <a:cs typeface="Arial MT"/>
              </a:rPr>
              <a:t>it</a:t>
            </a:r>
            <a:r>
              <a:rPr dirty="0" sz="3250" spc="-204">
                <a:latin typeface="Arial MT"/>
                <a:cs typeface="Arial MT"/>
              </a:rPr>
              <a:t> </a:t>
            </a:r>
            <a:r>
              <a:rPr dirty="0" sz="3250" spc="-25">
                <a:latin typeface="Arial MT"/>
                <a:cs typeface="Arial MT"/>
              </a:rPr>
              <a:t>is </a:t>
            </a:r>
            <a:r>
              <a:rPr dirty="0" sz="3200">
                <a:latin typeface="Arial MT"/>
                <a:cs typeface="Arial MT"/>
              </a:rPr>
              <a:t>"the</a:t>
            </a:r>
            <a:r>
              <a:rPr dirty="0" sz="3200" spc="-225">
                <a:latin typeface="Arial MT"/>
                <a:cs typeface="Arial MT"/>
              </a:rPr>
              <a:t> </a:t>
            </a:r>
            <a:r>
              <a:rPr dirty="0" sz="3200" spc="-45">
                <a:latin typeface="Arial MT"/>
                <a:cs typeface="Arial MT"/>
              </a:rPr>
              <a:t>principle</a:t>
            </a:r>
            <a:r>
              <a:rPr dirty="0" sz="3200" spc="-165">
                <a:latin typeface="Arial MT"/>
                <a:cs typeface="Arial MT"/>
              </a:rPr>
              <a:t> </a:t>
            </a:r>
            <a:r>
              <a:rPr dirty="0" sz="3200" spc="-30">
                <a:latin typeface="Arial MT"/>
                <a:cs typeface="Arial MT"/>
              </a:rPr>
              <a:t>behind</a:t>
            </a:r>
            <a:r>
              <a:rPr dirty="0" sz="3200" spc="-7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modern </a:t>
            </a:r>
            <a:r>
              <a:rPr dirty="0" sz="3250" spc="-80">
                <a:latin typeface="Arial MT"/>
                <a:cs typeface="Arial MT"/>
              </a:rPr>
              <a:t>technologies</a:t>
            </a:r>
            <a:r>
              <a:rPr dirty="0" sz="3250" spc="-20">
                <a:latin typeface="Arial MT"/>
                <a:cs typeface="Arial MT"/>
              </a:rPr>
              <a:t> </a:t>
            </a:r>
            <a:r>
              <a:rPr dirty="0" sz="3250" spc="-65">
                <a:latin typeface="Arial MT"/>
                <a:cs typeface="Arial MT"/>
              </a:rPr>
              <a:t>like</a:t>
            </a:r>
            <a:r>
              <a:rPr dirty="0" sz="3250" spc="-160">
                <a:latin typeface="Arial MT"/>
                <a:cs typeface="Arial MT"/>
              </a:rPr>
              <a:t> </a:t>
            </a:r>
            <a:r>
              <a:rPr dirty="0" sz="3250" spc="-10">
                <a:latin typeface="Arial MT"/>
                <a:cs typeface="Arial MT"/>
              </a:rPr>
              <a:t>wireless </a:t>
            </a:r>
            <a:r>
              <a:rPr dirty="0" sz="3250" spc="-100">
                <a:latin typeface="Arial MT"/>
                <a:cs typeface="Arial MT"/>
              </a:rPr>
              <a:t>charging</a:t>
            </a:r>
            <a:r>
              <a:rPr dirty="0" sz="3250" spc="-50">
                <a:latin typeface="Arial MT"/>
                <a:cs typeface="Arial MT"/>
              </a:rPr>
              <a:t> </a:t>
            </a:r>
            <a:r>
              <a:rPr dirty="0" sz="3250">
                <a:latin typeface="Arial MT"/>
                <a:cs typeface="Arial MT"/>
              </a:rPr>
              <a:t>for</a:t>
            </a:r>
            <a:r>
              <a:rPr dirty="0" sz="3250" spc="-105">
                <a:latin typeface="Arial MT"/>
                <a:cs typeface="Arial MT"/>
              </a:rPr>
              <a:t> </a:t>
            </a:r>
            <a:r>
              <a:rPr dirty="0" sz="3250" spc="-10">
                <a:latin typeface="Arial MT"/>
                <a:cs typeface="Arial MT"/>
              </a:rPr>
              <a:t>devices.</a:t>
            </a:r>
            <a:endParaRPr sz="3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1500" y="2959100"/>
            <a:ext cx="7353300" cy="5384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7011" y="689680"/>
            <a:ext cx="7807959" cy="60769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800">
                <a:solidFill>
                  <a:srgbClr val="343434"/>
                </a:solidFill>
                <a:latin typeface="Times New Roman"/>
                <a:cs typeface="Times New Roman"/>
              </a:rPr>
              <a:t>The</a:t>
            </a:r>
            <a:r>
              <a:rPr dirty="0" sz="3800" spc="35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3800" spc="70">
                <a:solidFill>
                  <a:srgbClr val="232323"/>
                </a:solidFill>
                <a:latin typeface="Times New Roman"/>
                <a:cs typeface="Times New Roman"/>
              </a:rPr>
              <a:t>Architecture</a:t>
            </a:r>
            <a:r>
              <a:rPr dirty="0" sz="3800" spc="26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3800" spc="90">
                <a:solidFill>
                  <a:srgbClr val="2D2D2D"/>
                </a:solidFill>
                <a:latin typeface="Times New Roman"/>
                <a:cs typeface="Times New Roman"/>
              </a:rPr>
              <a:t>of</a:t>
            </a:r>
            <a:r>
              <a:rPr dirty="0" sz="3800" spc="-10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282828"/>
                </a:solidFill>
                <a:latin typeface="Times New Roman"/>
                <a:cs typeface="Times New Roman"/>
              </a:rPr>
              <a:t>Unwired</a:t>
            </a:r>
            <a:r>
              <a:rPr dirty="0" sz="3800" spc="14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3800" spc="-10">
                <a:solidFill>
                  <a:srgbClr val="262626"/>
                </a:solidFill>
                <a:latin typeface="Times New Roman"/>
                <a:cs typeface="Times New Roman"/>
              </a:rPr>
              <a:t>Charging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8859" y="1402291"/>
            <a:ext cx="15679419" cy="80645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 marR="5080" indent="14604">
              <a:lnSpc>
                <a:spcPts val="2900"/>
              </a:lnSpc>
              <a:spcBef>
                <a:spcPts val="484"/>
              </a:spcBef>
            </a:pPr>
            <a:r>
              <a:rPr dirty="0" sz="2700" spc="-210">
                <a:latin typeface="Arial MT"/>
                <a:cs typeface="Arial MT"/>
              </a:rPr>
              <a:t>The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 spc="-170">
                <a:latin typeface="Arial MT"/>
                <a:cs typeface="Arial MT"/>
              </a:rPr>
              <a:t>source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 spc="-145">
                <a:latin typeface="Arial MT"/>
                <a:cs typeface="Arial MT"/>
              </a:rPr>
              <a:t>explains:</a:t>
            </a:r>
            <a:r>
              <a:rPr dirty="0" sz="2700" spc="-45">
                <a:latin typeface="Arial MT"/>
                <a:cs typeface="Arial MT"/>
              </a:rPr>
              <a:t> </a:t>
            </a:r>
            <a:r>
              <a:rPr dirty="0" sz="2700" spc="-95">
                <a:latin typeface="Arial MT"/>
                <a:cs typeface="Arial MT"/>
              </a:rPr>
              <a:t>"In</a:t>
            </a:r>
            <a:r>
              <a:rPr dirty="0" sz="2700" spc="-90">
                <a:latin typeface="Arial MT"/>
                <a:cs typeface="Arial MT"/>
              </a:rPr>
              <a:t> </a:t>
            </a:r>
            <a:r>
              <a:rPr dirty="0" sz="2700" spc="-140">
                <a:latin typeface="Arial MT"/>
                <a:cs typeface="Arial MT"/>
              </a:rPr>
              <a:t>wireless</a:t>
            </a:r>
            <a:r>
              <a:rPr dirty="0" sz="2700" spc="-55">
                <a:latin typeface="Arial MT"/>
                <a:cs typeface="Arial MT"/>
              </a:rPr>
              <a:t> </a:t>
            </a:r>
            <a:r>
              <a:rPr dirty="0" sz="2700" spc="-125">
                <a:latin typeface="Arial MT"/>
                <a:cs typeface="Arial MT"/>
              </a:rPr>
              <a:t>charging,</a:t>
            </a:r>
            <a:r>
              <a:rPr dirty="0" sz="2700" spc="-65">
                <a:latin typeface="Arial MT"/>
                <a:cs typeface="Arial MT"/>
              </a:rPr>
              <a:t> </a:t>
            </a:r>
            <a:r>
              <a:rPr dirty="0" sz="2700" spc="-90">
                <a:latin typeface="Arial MT"/>
                <a:cs typeface="Arial MT"/>
              </a:rPr>
              <a:t>the</a:t>
            </a:r>
            <a:r>
              <a:rPr dirty="0" sz="2700" spc="-95">
                <a:latin typeface="Arial MT"/>
                <a:cs typeface="Arial MT"/>
              </a:rPr>
              <a:t> </a:t>
            </a:r>
            <a:r>
              <a:rPr dirty="0" sz="2700" spc="-130">
                <a:latin typeface="Arial MT"/>
                <a:cs typeface="Arial MT"/>
              </a:rPr>
              <a:t>pad's</a:t>
            </a:r>
            <a:r>
              <a:rPr dirty="0" sz="2700" spc="-75">
                <a:latin typeface="Arial MT"/>
                <a:cs typeface="Arial MT"/>
              </a:rPr>
              <a:t> </a:t>
            </a:r>
            <a:r>
              <a:rPr dirty="0" sz="2700" spc="-80">
                <a:latin typeface="Arial MT"/>
                <a:cs typeface="Arial MT"/>
              </a:rPr>
              <a:t>transmitting</a:t>
            </a:r>
            <a:r>
              <a:rPr dirty="0" sz="2700" spc="20">
                <a:latin typeface="Arial MT"/>
                <a:cs typeface="Arial MT"/>
              </a:rPr>
              <a:t> </a:t>
            </a:r>
            <a:r>
              <a:rPr dirty="0" sz="2700" spc="-70">
                <a:latin typeface="Arial MT"/>
                <a:cs typeface="Arial MT"/>
              </a:rPr>
              <a:t>coil</a:t>
            </a:r>
            <a:r>
              <a:rPr dirty="0" sz="2700" spc="-170">
                <a:latin typeface="Arial MT"/>
                <a:cs typeface="Arial MT"/>
              </a:rPr>
              <a:t> </a:t>
            </a:r>
            <a:r>
              <a:rPr dirty="0" sz="2700" spc="-110">
                <a:latin typeface="Arial MT"/>
                <a:cs typeface="Arial MT"/>
              </a:rPr>
              <a:t>creates</a:t>
            </a:r>
            <a:r>
              <a:rPr dirty="0" sz="2700" spc="-60">
                <a:latin typeface="Arial MT"/>
                <a:cs typeface="Arial MT"/>
              </a:rPr>
              <a:t> </a:t>
            </a:r>
            <a:r>
              <a:rPr dirty="0" sz="2700" spc="-254">
                <a:latin typeface="Arial MT"/>
                <a:cs typeface="Arial MT"/>
              </a:rPr>
              <a:t>a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 spc="-65">
                <a:latin typeface="Arial MT"/>
                <a:cs typeface="Arial MT"/>
              </a:rPr>
              <a:t>fluctuating</a:t>
            </a:r>
            <a:r>
              <a:rPr dirty="0" sz="2700" spc="-45">
                <a:latin typeface="Arial MT"/>
                <a:cs typeface="Arial MT"/>
              </a:rPr>
              <a:t> </a:t>
            </a:r>
            <a:r>
              <a:rPr dirty="0" sz="2700" spc="-120">
                <a:latin typeface="Arial MT"/>
                <a:cs typeface="Arial MT"/>
              </a:rPr>
              <a:t>magnetic</a:t>
            </a:r>
            <a:r>
              <a:rPr dirty="0" sz="2700" spc="65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field, </a:t>
            </a:r>
            <a:r>
              <a:rPr dirty="0" sz="2700" spc="-95">
                <a:latin typeface="Arial MT"/>
                <a:cs typeface="Arial MT"/>
              </a:rPr>
              <a:t>inducing </a:t>
            </a:r>
            <a:r>
              <a:rPr dirty="0" sz="2700" spc="-100">
                <a:latin typeface="Arial MT"/>
                <a:cs typeface="Arial MT"/>
              </a:rPr>
              <a:t>current</a:t>
            </a:r>
            <a:r>
              <a:rPr dirty="0" sz="2700" spc="-85">
                <a:latin typeface="Arial MT"/>
                <a:cs typeface="Arial MT"/>
              </a:rPr>
              <a:t> </a:t>
            </a:r>
            <a:r>
              <a:rPr dirty="0" sz="2700" spc="-50">
                <a:latin typeface="Arial MT"/>
                <a:cs typeface="Arial MT"/>
              </a:rPr>
              <a:t>in</a:t>
            </a:r>
            <a:r>
              <a:rPr dirty="0" sz="2700" spc="-145">
                <a:latin typeface="Arial MT"/>
                <a:cs typeface="Arial MT"/>
              </a:rPr>
              <a:t> </a:t>
            </a:r>
            <a:r>
              <a:rPr dirty="0" sz="2700" spc="-45">
                <a:latin typeface="Arial MT"/>
                <a:cs typeface="Arial MT"/>
              </a:rPr>
              <a:t>the</a:t>
            </a:r>
            <a:r>
              <a:rPr dirty="0" sz="2700" spc="-145">
                <a:latin typeface="Arial MT"/>
                <a:cs typeface="Arial MT"/>
              </a:rPr>
              <a:t> </a:t>
            </a:r>
            <a:r>
              <a:rPr dirty="0" sz="2700" spc="-110">
                <a:latin typeface="Arial MT"/>
                <a:cs typeface="Arial MT"/>
              </a:rPr>
              <a:t>device's</a:t>
            </a:r>
            <a:r>
              <a:rPr dirty="0" sz="2700" spc="-75">
                <a:latin typeface="Arial MT"/>
                <a:cs typeface="Arial MT"/>
              </a:rPr>
              <a:t> </a:t>
            </a:r>
            <a:r>
              <a:rPr dirty="0" sz="2700" spc="-105">
                <a:latin typeface="Arial MT"/>
                <a:cs typeface="Arial MT"/>
              </a:rPr>
              <a:t>receiving</a:t>
            </a:r>
            <a:r>
              <a:rPr dirty="0" sz="2700" spc="-35">
                <a:latin typeface="Arial MT"/>
                <a:cs typeface="Arial MT"/>
              </a:rPr>
              <a:t> </a:t>
            </a:r>
            <a:r>
              <a:rPr dirty="0" sz="2700" spc="-85">
                <a:latin typeface="Arial MT"/>
                <a:cs typeface="Arial MT"/>
              </a:rPr>
              <a:t>coil."</a:t>
            </a:r>
            <a:r>
              <a:rPr dirty="0" sz="2700" spc="-45">
                <a:latin typeface="Arial MT"/>
                <a:cs typeface="Arial MT"/>
              </a:rPr>
              <a:t> </a:t>
            </a:r>
            <a:r>
              <a:rPr dirty="0" sz="2700" spc="-170">
                <a:latin typeface="Arial MT"/>
                <a:cs typeface="Arial MT"/>
              </a:rPr>
              <a:t>This</a:t>
            </a:r>
            <a:r>
              <a:rPr dirty="0" sz="2700" spc="-45">
                <a:latin typeface="Arial MT"/>
                <a:cs typeface="Arial MT"/>
              </a:rPr>
              <a:t> </a:t>
            </a:r>
            <a:r>
              <a:rPr dirty="0" sz="2700" spc="-150">
                <a:latin typeface="Arial MT"/>
                <a:cs typeface="Arial MT"/>
              </a:rPr>
              <a:t>changing</a:t>
            </a:r>
            <a:r>
              <a:rPr dirty="0" sz="2700" spc="-65">
                <a:latin typeface="Arial MT"/>
                <a:cs typeface="Arial MT"/>
              </a:rPr>
              <a:t> </a:t>
            </a:r>
            <a:r>
              <a:rPr dirty="0" sz="2700" spc="-80">
                <a:latin typeface="Arial MT"/>
                <a:cs typeface="Arial MT"/>
              </a:rPr>
              <a:t>flux</a:t>
            </a:r>
            <a:r>
              <a:rPr dirty="0" sz="2700" spc="-110">
                <a:latin typeface="Arial MT"/>
                <a:cs typeface="Arial MT"/>
              </a:rPr>
              <a:t> </a:t>
            </a:r>
            <a:r>
              <a:rPr dirty="0" sz="2700" spc="-135">
                <a:latin typeface="Arial MT"/>
                <a:cs typeface="Arial MT"/>
              </a:rPr>
              <a:t>powers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 spc="-100">
                <a:latin typeface="Arial MT"/>
                <a:cs typeface="Arial MT"/>
              </a:rPr>
              <a:t>the</a:t>
            </a:r>
            <a:r>
              <a:rPr dirty="0" sz="2700" spc="-85">
                <a:latin typeface="Arial MT"/>
                <a:cs typeface="Arial MT"/>
              </a:rPr>
              <a:t> </a:t>
            </a:r>
            <a:r>
              <a:rPr dirty="0" sz="2700" spc="-110">
                <a:latin typeface="Arial MT"/>
                <a:cs typeface="Arial MT"/>
              </a:rPr>
              <a:t>device</a:t>
            </a:r>
            <a:r>
              <a:rPr dirty="0" sz="2700" spc="35">
                <a:latin typeface="Arial MT"/>
                <a:cs typeface="Arial MT"/>
              </a:rPr>
              <a:t> </a:t>
            </a:r>
            <a:r>
              <a:rPr dirty="0" sz="2700" spc="-95">
                <a:latin typeface="Arial MT"/>
                <a:cs typeface="Arial MT"/>
              </a:rPr>
              <a:t>without</a:t>
            </a:r>
            <a:r>
              <a:rPr dirty="0" sz="2700" spc="-50">
                <a:latin typeface="Arial MT"/>
                <a:cs typeface="Arial MT"/>
              </a:rPr>
              <a:t> </a:t>
            </a:r>
            <a:r>
              <a:rPr dirty="0" sz="2700" spc="-120">
                <a:latin typeface="Arial MT"/>
                <a:cs typeface="Arial MT"/>
              </a:rPr>
              <a:t>physical</a:t>
            </a:r>
            <a:r>
              <a:rPr dirty="0" sz="2700" spc="60">
                <a:latin typeface="Arial MT"/>
                <a:cs typeface="Arial MT"/>
              </a:rPr>
              <a:t> </a:t>
            </a:r>
            <a:r>
              <a:rPr dirty="0" sz="2700" spc="-65">
                <a:latin typeface="Arial MT"/>
                <a:cs typeface="Arial MT"/>
              </a:rPr>
              <a:t>connection.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051188" y="3353505"/>
            <a:ext cx="152908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65">
                <a:latin typeface="Arial MT"/>
                <a:cs typeface="Arial MT"/>
              </a:rPr>
              <a:t>Receiving</a:t>
            </a:r>
            <a:r>
              <a:rPr dirty="0" sz="1950" spc="-70">
                <a:latin typeface="Arial MT"/>
                <a:cs typeface="Arial MT"/>
              </a:rPr>
              <a:t> </a:t>
            </a:r>
            <a:r>
              <a:rPr dirty="0" sz="1950" spc="-20">
                <a:latin typeface="Arial MT"/>
                <a:cs typeface="Arial MT"/>
              </a:rPr>
              <a:t>Coil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703612" y="7011105"/>
            <a:ext cx="183261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35">
                <a:latin typeface="Arial MT"/>
                <a:cs typeface="Arial MT"/>
              </a:rPr>
              <a:t>Transmitting </a:t>
            </a:r>
            <a:r>
              <a:rPr dirty="0" sz="1950" spc="-20">
                <a:latin typeface="Arial MT"/>
                <a:cs typeface="Arial MT"/>
              </a:rPr>
              <a:t>Coil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000" y="4165600"/>
            <a:ext cx="1587500" cy="1866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32200" y="4089400"/>
            <a:ext cx="1803400" cy="17907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27800" y="4216400"/>
            <a:ext cx="1739900" cy="15240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01200" y="4356100"/>
            <a:ext cx="1231900" cy="12319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065000" y="4533900"/>
            <a:ext cx="977900" cy="90170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3144500" y="4936070"/>
            <a:ext cx="753745" cy="55244"/>
          </a:xfrm>
          <a:custGeom>
            <a:avLst/>
            <a:gdLst/>
            <a:ahLst/>
            <a:cxnLst/>
            <a:rect l="l" t="t" r="r" b="b"/>
            <a:pathLst>
              <a:path w="753744" h="55245">
                <a:moveTo>
                  <a:pt x="753529" y="0"/>
                </a:moveTo>
                <a:lnTo>
                  <a:pt x="0" y="0"/>
                </a:lnTo>
                <a:lnTo>
                  <a:pt x="0" y="25400"/>
                </a:lnTo>
                <a:lnTo>
                  <a:pt x="0" y="29641"/>
                </a:lnTo>
                <a:lnTo>
                  <a:pt x="0" y="55041"/>
                </a:lnTo>
                <a:lnTo>
                  <a:pt x="753529" y="55041"/>
                </a:lnTo>
                <a:lnTo>
                  <a:pt x="753529" y="29641"/>
                </a:lnTo>
                <a:lnTo>
                  <a:pt x="753529" y="25400"/>
                </a:lnTo>
                <a:lnTo>
                  <a:pt x="753529" y="0"/>
                </a:lnTo>
                <a:close/>
              </a:path>
            </a:pathLst>
          </a:custGeom>
          <a:solidFill>
            <a:srgbClr val="6774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85348" y="707319"/>
            <a:ext cx="5655310" cy="5867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444750" algn="l"/>
              </a:tabLst>
            </a:pPr>
            <a:r>
              <a:rPr dirty="0" sz="3650" spc="155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dirty="0" sz="3650" spc="6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3650" spc="-10">
                <a:solidFill>
                  <a:srgbClr val="232323"/>
                </a:solidFill>
                <a:latin typeface="Times New Roman"/>
                <a:cs typeface="Times New Roman"/>
              </a:rPr>
              <a:t>Seamless</a:t>
            </a:r>
            <a:r>
              <a:rPr dirty="0" sz="3650">
                <a:solidFill>
                  <a:srgbClr val="232323"/>
                </a:solidFill>
                <a:latin typeface="Times New Roman"/>
                <a:cs typeface="Times New Roman"/>
              </a:rPr>
              <a:t>	</a:t>
            </a:r>
            <a:r>
              <a:rPr dirty="0" sz="3650" spc="50">
                <a:solidFill>
                  <a:srgbClr val="1F1F1F"/>
                </a:solidFill>
                <a:latin typeface="Times New Roman"/>
                <a:cs typeface="Times New Roman"/>
              </a:rPr>
              <a:t>Energy</a:t>
            </a:r>
            <a:r>
              <a:rPr dirty="0" sz="3650" spc="114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3650" spc="80">
                <a:solidFill>
                  <a:srgbClr val="1F1F1F"/>
                </a:solidFill>
                <a:latin typeface="Times New Roman"/>
                <a:cs typeface="Times New Roman"/>
              </a:rPr>
              <a:t>Transfer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83143" y="1411111"/>
            <a:ext cx="14138275" cy="79629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9685" marR="5080" indent="-7620">
              <a:lnSpc>
                <a:spcPts val="2900"/>
              </a:lnSpc>
              <a:spcBef>
                <a:spcPts val="415"/>
              </a:spcBef>
            </a:pP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-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1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perfect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transfer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12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energy, </a:t>
            </a:r>
            <a:r>
              <a:rPr dirty="0" sz="2600">
                <a:latin typeface="Arial MT"/>
                <a:cs typeface="Arial MT"/>
              </a:rPr>
              <a:t>orchestrated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by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30">
                <a:latin typeface="Arial MT"/>
                <a:cs typeface="Arial MT"/>
              </a:rPr>
              <a:t>one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fundamental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principle,</a:t>
            </a:r>
            <a:r>
              <a:rPr dirty="0" sz="2600" spc="-25">
                <a:latin typeface="Arial MT"/>
                <a:cs typeface="Arial MT"/>
              </a:rPr>
              <a:t> enabling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</a:t>
            </a:r>
            <a:r>
              <a:rPr dirty="0" sz="2600" spc="-1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1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"power devices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without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physical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connections,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simplifying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lives.”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03766" y="6242050"/>
            <a:ext cx="1345565" cy="7366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4290" marR="5080" indent="-22225">
              <a:lnSpc>
                <a:spcPts val="2600"/>
              </a:lnSpc>
              <a:spcBef>
                <a:spcPts val="520"/>
              </a:spcBef>
            </a:pPr>
            <a:r>
              <a:rPr dirty="0" sz="2500" spc="-180">
                <a:latin typeface="Arial MT"/>
                <a:cs typeface="Arial MT"/>
              </a:rPr>
              <a:t>AC</a:t>
            </a:r>
            <a:r>
              <a:rPr dirty="0" sz="2500" spc="-15">
                <a:latin typeface="Arial MT"/>
                <a:cs typeface="Arial MT"/>
              </a:rPr>
              <a:t> </a:t>
            </a:r>
            <a:r>
              <a:rPr dirty="0" sz="2500" spc="-110">
                <a:latin typeface="Arial MT"/>
                <a:cs typeface="Arial MT"/>
              </a:rPr>
              <a:t>Power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90">
                <a:latin typeface="Arial MT"/>
                <a:cs typeface="Arial MT"/>
              </a:rPr>
              <a:t>Wall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663064" y="6250869"/>
            <a:ext cx="1706245" cy="72644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601345" marR="5080" indent="-589280">
              <a:lnSpc>
                <a:spcPts val="2600"/>
              </a:lnSpc>
              <a:spcBef>
                <a:spcPts val="450"/>
              </a:spcBef>
            </a:pPr>
            <a:r>
              <a:rPr dirty="0" sz="2400" spc="-10">
                <a:latin typeface="Arial MT"/>
                <a:cs typeface="Arial MT"/>
              </a:rPr>
              <a:t>Transmitting </a:t>
            </a:r>
            <a:r>
              <a:rPr dirty="0" sz="2400" spc="-20">
                <a:latin typeface="Arial MT"/>
                <a:cs typeface="Arial MT"/>
              </a:rPr>
              <a:t>Coil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77235" y="6242050"/>
            <a:ext cx="2021839" cy="7366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 marR="5080" indent="238760">
              <a:lnSpc>
                <a:spcPts val="2600"/>
              </a:lnSpc>
              <a:spcBef>
                <a:spcPts val="520"/>
              </a:spcBef>
            </a:pPr>
            <a:r>
              <a:rPr dirty="0" sz="2500" spc="-10">
                <a:latin typeface="Arial MT"/>
                <a:cs typeface="Arial MT"/>
              </a:rPr>
              <a:t>Fluctuating Magnetic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85">
                <a:latin typeface="Arial MT"/>
                <a:cs typeface="Arial MT"/>
              </a:rPr>
              <a:t>Field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488035" y="6250869"/>
            <a:ext cx="1339850" cy="72644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414655" marR="5080" indent="-402590">
              <a:lnSpc>
                <a:spcPts val="2600"/>
              </a:lnSpc>
              <a:spcBef>
                <a:spcPts val="450"/>
              </a:spcBef>
            </a:pPr>
            <a:r>
              <a:rPr dirty="0" sz="2400" spc="-35">
                <a:latin typeface="Arial MT"/>
                <a:cs typeface="Arial MT"/>
              </a:rPr>
              <a:t>Receiving </a:t>
            </a:r>
            <a:r>
              <a:rPr dirty="0" sz="2400" spc="-20">
                <a:latin typeface="Arial MT"/>
                <a:cs typeface="Arial MT"/>
              </a:rPr>
              <a:t>Coil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203755" y="6224411"/>
            <a:ext cx="1532255" cy="75819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88900" marR="5080" indent="-76835">
              <a:lnSpc>
                <a:spcPts val="2600"/>
              </a:lnSpc>
              <a:spcBef>
                <a:spcPts val="655"/>
              </a:spcBef>
            </a:pPr>
            <a:r>
              <a:rPr dirty="0" sz="2600" spc="-60">
                <a:latin typeface="Arial MT"/>
                <a:cs typeface="Arial MT"/>
              </a:rPr>
              <a:t>Rectifier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 spc="-35">
                <a:latin typeface="Arial MT"/>
                <a:cs typeface="Arial MT"/>
              </a:rPr>
              <a:t>to </a:t>
            </a:r>
            <a:r>
              <a:rPr dirty="0" sz="2600" spc="-285">
                <a:latin typeface="Arial MT"/>
                <a:cs typeface="Arial MT"/>
              </a:rPr>
              <a:t>DC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Power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280893" y="6250869"/>
            <a:ext cx="1013460" cy="72644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 marR="5080" indent="36830">
              <a:lnSpc>
                <a:spcPts val="2600"/>
              </a:lnSpc>
              <a:spcBef>
                <a:spcPts val="450"/>
              </a:spcBef>
            </a:pPr>
            <a:r>
              <a:rPr dirty="0" sz="2400" spc="-10">
                <a:latin typeface="Arial MT"/>
                <a:cs typeface="Arial MT"/>
              </a:rPr>
              <a:t>Device Battery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9400" y="7721600"/>
            <a:ext cx="1206500" cy="787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5700" y="5727700"/>
            <a:ext cx="1282700" cy="13843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50900" y="6223000"/>
            <a:ext cx="1790700" cy="8128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74900" y="2806700"/>
            <a:ext cx="1371600" cy="1549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906500" y="2794000"/>
            <a:ext cx="1092200" cy="15621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50100" y="4572000"/>
            <a:ext cx="825500" cy="2540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99600" y="4572000"/>
            <a:ext cx="838200" cy="2540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119227" y="535163"/>
            <a:ext cx="7211695" cy="861694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450" spc="-25">
                <a:solidFill>
                  <a:srgbClr val="262626"/>
                </a:solidFill>
                <a:latin typeface="Times New Roman"/>
                <a:cs typeface="Times New Roman"/>
              </a:rPr>
              <a:t>Beyond</a:t>
            </a:r>
            <a:r>
              <a:rPr dirty="0" sz="5450" spc="10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5450" spc="85">
                <a:solidFill>
                  <a:srgbClr val="262626"/>
                </a:solidFill>
                <a:latin typeface="Times New Roman"/>
                <a:cs typeface="Times New Roman"/>
              </a:rPr>
              <a:t>the</a:t>
            </a:r>
            <a:r>
              <a:rPr dirty="0" sz="5450" spc="-3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5450">
                <a:solidFill>
                  <a:srgbClr val="232323"/>
                </a:solidFill>
                <a:latin typeface="Times New Roman"/>
                <a:cs typeface="Times New Roman"/>
              </a:rPr>
              <a:t>Charging</a:t>
            </a:r>
            <a:r>
              <a:rPr dirty="0" sz="5450" spc="14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5450" spc="-25">
                <a:solidFill>
                  <a:srgbClr val="282828"/>
                </a:solidFill>
                <a:latin typeface="Times New Roman"/>
                <a:cs typeface="Times New Roman"/>
              </a:rPr>
              <a:t>Pad</a:t>
            </a:r>
            <a:endParaRPr sz="54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110407" y="9458226"/>
            <a:ext cx="122364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300" spc="130">
                <a:latin typeface="Times New Roman"/>
                <a:cs typeface="Times New Roman"/>
              </a:rPr>
              <a:t>G</a:t>
            </a:r>
            <a:r>
              <a:rPr dirty="0" sz="1300" spc="114">
                <a:latin typeface="Times New Roman"/>
                <a:cs typeface="Times New Roman"/>
              </a:rPr>
              <a:t>  </a:t>
            </a:r>
            <a:r>
              <a:rPr dirty="0" sz="1300" spc="-10">
                <a:latin typeface="Times New Roman"/>
                <a:cs typeface="Times New Roman"/>
              </a:rPr>
              <a:t>NotebookLM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80771" y="1586088"/>
            <a:ext cx="9511665" cy="10712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12700" marR="5080">
              <a:lnSpc>
                <a:spcPts val="2700"/>
              </a:lnSpc>
              <a:spcBef>
                <a:spcPts val="300"/>
              </a:spcBef>
            </a:pPr>
            <a:r>
              <a:rPr dirty="0" sz="2350">
                <a:latin typeface="Arial MT"/>
                <a:cs typeface="Arial MT"/>
              </a:rPr>
              <a:t>The</a:t>
            </a:r>
            <a:r>
              <a:rPr dirty="0" sz="2350" spc="-6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principle</a:t>
            </a:r>
            <a:r>
              <a:rPr dirty="0" sz="2350" spc="1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of</a:t>
            </a:r>
            <a:r>
              <a:rPr dirty="0" sz="2350" spc="10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induction</a:t>
            </a:r>
            <a:r>
              <a:rPr dirty="0" sz="2350" spc="8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is</a:t>
            </a:r>
            <a:r>
              <a:rPr dirty="0" sz="2350" spc="4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fundamental</a:t>
            </a:r>
            <a:r>
              <a:rPr dirty="0" sz="2350" spc="120">
                <a:latin typeface="Arial MT"/>
                <a:cs typeface="Arial MT"/>
              </a:rPr>
              <a:t> </a:t>
            </a:r>
            <a:r>
              <a:rPr dirty="0" sz="2350" spc="65">
                <a:latin typeface="Arial MT"/>
                <a:cs typeface="Arial MT"/>
              </a:rPr>
              <a:t>to</a:t>
            </a:r>
            <a:r>
              <a:rPr dirty="0" sz="2350" spc="-1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our</a:t>
            </a:r>
            <a:r>
              <a:rPr dirty="0" sz="2350" spc="9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technological</a:t>
            </a:r>
            <a:r>
              <a:rPr dirty="0" sz="2350" spc="28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world.</a:t>
            </a:r>
            <a:r>
              <a:rPr dirty="0" sz="2350" spc="25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As </a:t>
            </a:r>
            <a:r>
              <a:rPr dirty="0" sz="2350">
                <a:latin typeface="Arial MT"/>
                <a:cs typeface="Arial MT"/>
              </a:rPr>
              <a:t>the</a:t>
            </a:r>
            <a:r>
              <a:rPr dirty="0" sz="2350" spc="-8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source</a:t>
            </a:r>
            <a:r>
              <a:rPr dirty="0" sz="2350" spc="-1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notes,</a:t>
            </a:r>
            <a:r>
              <a:rPr dirty="0" sz="2350" spc="-6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”From</a:t>
            </a:r>
            <a:r>
              <a:rPr dirty="0" sz="2350" spc="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power</a:t>
            </a:r>
            <a:r>
              <a:rPr dirty="0" sz="2350" spc="-1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generation</a:t>
            </a:r>
            <a:r>
              <a:rPr dirty="0" sz="2350" spc="5">
                <a:latin typeface="Arial MT"/>
                <a:cs typeface="Arial MT"/>
              </a:rPr>
              <a:t> </a:t>
            </a:r>
            <a:r>
              <a:rPr dirty="0" sz="2350" spc="65">
                <a:latin typeface="Arial MT"/>
                <a:cs typeface="Arial MT"/>
              </a:rPr>
              <a:t>to</a:t>
            </a:r>
            <a:r>
              <a:rPr dirty="0" sz="2350" spc="-11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gadgets,</a:t>
            </a:r>
            <a:r>
              <a:rPr dirty="0" sz="2350" spc="30">
                <a:latin typeface="Arial MT"/>
                <a:cs typeface="Arial MT"/>
              </a:rPr>
              <a:t> </a:t>
            </a:r>
            <a:r>
              <a:rPr dirty="0" sz="2350" spc="-30">
                <a:latin typeface="Arial MT"/>
                <a:cs typeface="Arial MT"/>
              </a:rPr>
              <a:t>Faraday's</a:t>
            </a:r>
            <a:r>
              <a:rPr dirty="0" sz="2350" spc="40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Law </a:t>
            </a:r>
            <a:r>
              <a:rPr dirty="0" sz="2350" spc="-10">
                <a:latin typeface="Arial MT"/>
                <a:cs typeface="Arial MT"/>
              </a:rPr>
              <a:t>shapes</a:t>
            </a:r>
            <a:r>
              <a:rPr dirty="0" sz="2350" spc="4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our</a:t>
            </a:r>
            <a:r>
              <a:rPr dirty="0" sz="2350" spc="3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technologically</a:t>
            </a:r>
            <a:r>
              <a:rPr dirty="0" sz="2350" spc="-6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advanced</a:t>
            </a:r>
            <a:r>
              <a:rPr dirty="0" sz="2350" spc="10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world.”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46086" y="4476750"/>
            <a:ext cx="26168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Times New Roman"/>
                <a:cs typeface="Times New Roman"/>
              </a:rPr>
              <a:t>Electric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 spc="60">
                <a:latin typeface="Times New Roman"/>
                <a:cs typeface="Times New Roman"/>
              </a:rPr>
              <a:t>Generators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025848" y="7237589"/>
            <a:ext cx="206692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50">
                <a:latin typeface="Times New Roman"/>
                <a:cs typeface="Times New Roman"/>
              </a:rPr>
              <a:t>Electric</a:t>
            </a:r>
            <a:r>
              <a:rPr dirty="0" sz="2350" spc="350">
                <a:latin typeface="Times New Roman"/>
                <a:cs typeface="Times New Roman"/>
              </a:rPr>
              <a:t> </a:t>
            </a:r>
            <a:r>
              <a:rPr dirty="0" sz="2350" spc="75">
                <a:latin typeface="Times New Roman"/>
                <a:cs typeface="Times New Roman"/>
              </a:rPr>
              <a:t>Motors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936063" y="8748889"/>
            <a:ext cx="358584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81580" algn="l"/>
              </a:tabLst>
            </a:pPr>
            <a:r>
              <a:rPr dirty="0" sz="2350" spc="160">
                <a:latin typeface="Times New Roman"/>
                <a:cs typeface="Times New Roman"/>
              </a:rPr>
              <a:t>Contactless</a:t>
            </a:r>
            <a:r>
              <a:rPr dirty="0" sz="2350" spc="204">
                <a:latin typeface="Times New Roman"/>
                <a:cs typeface="Times New Roman"/>
              </a:rPr>
              <a:t> </a:t>
            </a:r>
            <a:r>
              <a:rPr dirty="0" sz="2350" spc="55">
                <a:latin typeface="Times New Roman"/>
                <a:cs typeface="Times New Roman"/>
              </a:rPr>
              <a:t>Card</a:t>
            </a:r>
            <a:r>
              <a:rPr dirty="0" sz="2350">
                <a:latin typeface="Times New Roman"/>
                <a:cs typeface="Times New Roman"/>
              </a:rPr>
              <a:t>	</a:t>
            </a:r>
            <a:r>
              <a:rPr dirty="0" sz="2350" spc="125">
                <a:latin typeface="Times New Roman"/>
                <a:cs typeface="Times New Roman"/>
              </a:rPr>
              <a:t>Readers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726301" y="4476750"/>
            <a:ext cx="341058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70">
                <a:latin typeface="Arial MT"/>
                <a:cs typeface="Arial MT"/>
              </a:rPr>
              <a:t>Power </a:t>
            </a:r>
            <a:r>
              <a:rPr dirty="0" sz="2500" spc="-50">
                <a:latin typeface="Arial MT"/>
                <a:cs typeface="Arial MT"/>
              </a:rPr>
              <a:t>Grid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 spc="-60">
                <a:latin typeface="Arial MT"/>
                <a:cs typeface="Arial MT"/>
              </a:rPr>
              <a:t>Transformers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111632" y="7237589"/>
            <a:ext cx="266700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60">
                <a:latin typeface="Times New Roman"/>
                <a:cs typeface="Times New Roman"/>
              </a:rPr>
              <a:t>Induction</a:t>
            </a:r>
            <a:r>
              <a:rPr dirty="0" sz="2350" spc="390">
                <a:latin typeface="Times New Roman"/>
                <a:cs typeface="Times New Roman"/>
              </a:rPr>
              <a:t> </a:t>
            </a:r>
            <a:r>
              <a:rPr dirty="0" sz="2350" spc="130">
                <a:latin typeface="Times New Roman"/>
                <a:cs typeface="Times New Roman"/>
              </a:rPr>
              <a:t>Cooktops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16110407" y="9458226"/>
            <a:ext cx="122364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300" spc="130">
                <a:latin typeface="Times New Roman"/>
                <a:cs typeface="Times New Roman"/>
              </a:rPr>
              <a:t>G</a:t>
            </a:r>
            <a:r>
              <a:rPr dirty="0" sz="1300" spc="114">
                <a:latin typeface="Times New Roman"/>
                <a:cs typeface="Times New Roman"/>
              </a:rPr>
              <a:t>  </a:t>
            </a:r>
            <a:r>
              <a:rPr dirty="0" sz="1300" spc="-10">
                <a:latin typeface="Times New Roman"/>
                <a:cs typeface="Times New Roman"/>
              </a:rPr>
              <a:t>NotebookLM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3511104" y="6582480"/>
            <a:ext cx="10400030" cy="798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050" spc="125">
                <a:solidFill>
                  <a:srgbClr val="2D2D2D"/>
                </a:solidFill>
                <a:latin typeface="Times New Roman"/>
                <a:cs typeface="Times New Roman"/>
              </a:rPr>
              <a:t>The</a:t>
            </a:r>
            <a:r>
              <a:rPr dirty="0" sz="5050" spc="33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dirty="0" sz="5050" spc="210">
                <a:solidFill>
                  <a:srgbClr val="282828"/>
                </a:solidFill>
                <a:latin typeface="Times New Roman"/>
                <a:cs typeface="Times New Roman"/>
              </a:rPr>
              <a:t>Enduring</a:t>
            </a:r>
            <a:r>
              <a:rPr dirty="0" sz="5050" spc="49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5050" spc="325">
                <a:solidFill>
                  <a:srgbClr val="282828"/>
                </a:solidFill>
                <a:latin typeface="Times New Roman"/>
                <a:cs typeface="Times New Roman"/>
              </a:rPr>
              <a:t>Current</a:t>
            </a:r>
            <a:r>
              <a:rPr dirty="0" sz="5050" spc="38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5050" spc="21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dirty="0" sz="5050" spc="35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dirty="0" sz="5050" spc="204">
                <a:solidFill>
                  <a:srgbClr val="232323"/>
                </a:solidFill>
                <a:latin typeface="Times New Roman"/>
                <a:cs typeface="Times New Roman"/>
              </a:rPr>
              <a:t>Innovation</a:t>
            </a:r>
            <a:endParaRPr sz="5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16378" y="7558969"/>
            <a:ext cx="10915015" cy="115824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algn="ctr" marL="12700" marR="5080">
              <a:lnSpc>
                <a:spcPct val="104200"/>
              </a:lnSpc>
              <a:spcBef>
                <a:spcPts val="10"/>
              </a:spcBef>
            </a:pP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simple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observation</a:t>
            </a:r>
            <a:r>
              <a:rPr dirty="0" sz="2400" spc="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magnet</a:t>
            </a:r>
            <a:r>
              <a:rPr dirty="0" sz="2400" spc="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coil</a:t>
            </a:r>
            <a:r>
              <a:rPr dirty="0" sz="2400" spc="-1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comes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fundamental</a:t>
            </a:r>
            <a:r>
              <a:rPr dirty="0" sz="2400" spc="1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law</a:t>
            </a:r>
            <a:r>
              <a:rPr dirty="0" sz="2400" spc="3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 </a:t>
            </a:r>
            <a:r>
              <a:rPr dirty="0" sz="2400">
                <a:latin typeface="Arial MT"/>
                <a:cs typeface="Arial MT"/>
              </a:rPr>
              <a:t>continues</a:t>
            </a:r>
            <a:r>
              <a:rPr dirty="0" sz="2400" spc="40">
                <a:latin typeface="Arial MT"/>
                <a:cs typeface="Arial MT"/>
              </a:rPr>
              <a:t> </a:t>
            </a:r>
            <a:r>
              <a:rPr dirty="0" sz="2400" spc="95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enable</a:t>
            </a:r>
            <a:r>
              <a:rPr dirty="0" sz="2400" spc="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innovation.</a:t>
            </a:r>
            <a:r>
              <a:rPr dirty="0" sz="2400" spc="1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Faraday's</a:t>
            </a:r>
            <a:r>
              <a:rPr dirty="0" sz="2400" spc="1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Law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1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just</a:t>
            </a:r>
            <a:r>
              <a:rPr dirty="0" sz="2400" spc="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physics</a:t>
            </a:r>
            <a:r>
              <a:rPr dirty="0" sz="2400" spc="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history;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  <a:p>
            <a:pPr algn="ctr" marR="271145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silent,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invisible</a:t>
            </a:r>
            <a:r>
              <a:rPr dirty="0" sz="2400" spc="1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architecture</a:t>
            </a:r>
            <a:r>
              <a:rPr dirty="0" sz="2400" spc="2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1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our</a:t>
            </a:r>
            <a:r>
              <a:rPr dirty="0" sz="2400" spc="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technological</a:t>
            </a:r>
            <a:r>
              <a:rPr dirty="0" sz="2400" spc="1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future.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2025-12-19T10:03:10Z</dcterms:created>
  <dcterms:modified xsi:type="dcterms:W3CDTF">2025-12-19T10:03:10Z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LastSaved">
    <vt:filetime>2025-12-19T00:00:00Z</vt:filetime>
  </property>
</Properties>
</file>